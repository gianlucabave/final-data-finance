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8" r:id="rId19"/>
    <p:sldId id="267" r:id="rId13"/>
  </p:sldIdLst>
  <p:notesMasterIdLst>
    <p:notesMasterId r:id="rId14"/>
  </p:notesMasterIdLst>
  <p:sldSz cx="18288000" cy="10287000"/>
  <p:notesSz cx="10287000" cy="18288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3.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One-line pitch: we built a model to decide whether a personal loan should be approved, using messy data that was deliberately sabotaged. We tied for #1 on the public leaderboard without the planted leak and without the protected attributes that would have inflated the score.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mirrors a real underwriting workflow. The model's job is to get both calls right. Two of the four outcomes cost the bank money: approving a loan that defaults, and rejecting a customer who would have repaid.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have four years of past decisions to learn from, but the test set is a single future month we have never seen. That is why we validate by predicting held-back months, not with random splits. The target is nearly balanced, so a coin flip scores about 52%.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wins the project. One column looked almost perfect in our own tests, but a simple check showed it tracks real signal in training and is pure noise in the test set: it had been scrambled on purpose. Anyone who trusted it would see 99% in cross-validation and then collapse to about 55% on the real leaderboard.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shared script cleans the training and test data in exactly the same way, so the whole thing is reproducible and there is no leakage. We end with 20 features we trust, after dropping the four traps.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insights did most of the work. First, the risk indicators looked useless on a straight-line correlation, but plotting them showed approval peaks in the middle and drops at both extremes. Second, the free-text analyst note is really 60 fixed sentences in three clear sentiment tiers, so we let the model learn each one's approval rate instead of doing fancy text analysis.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could have added race and religion for about +0.7 points and probably first place. We measured it and refused, because those columns have zero link to real credit risk yet shift approval rates by group. The gain is not better risk prediction; it is automated discrimination, and it is illegal under EU and US credit law.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selection: gradient-boosted trees won a 5-fold bake-off, from Naive Bayes 0.760 up to LightGBM 0.836. Adversarial validation shows a train-vs-test classifier scores AUC 1.000 on all features, but only because of the date (the test set is all May 2026); drop the date features and it falls to 0.497, proving train and test are identically distributed apart from time. Final labels use a smooth threshold, the average of the top 1% of candidate cutoffs, which is more robust than a single argmax cutoff.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tied for first on the public leaderboard at 0.8565, cleanly, with no leak and no protected attributes. Final submissions are v6 (public-best) and v10 (clean prep, pseudo-labeling, smooth threshold; OOF 0.8590, ROC AUC 0.9377, public 0.8535, approval 0.509). v10's OOF is slightly lower than v6 and v7 by design: the smooth threshold is deliberately conservative and the z-scoring is now leak-free, not because the model is worse. Adversarial validation confirms the CV-to-leaderboard gap is distribution shift over time, not overfitting.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we understood the problem, not just ran a library. The hardest part was the forensics, the validation against the real task, and quantifying the ethics rather than hand-waving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Separate what we did from what we'd do next. For a finance audience the strongest next step is deciding by cost rather than accuracy, plus calibrated probabilities: that reframes this from a Kaggle score to real lending economics.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two questions most likely to come up: why we dropped race and religion (lead with the +0.7pt number), and how we knew the column was a leak (it tracked real signal in training but was random in test). Both make us look rigorous.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2.png"/><Relationship Id="rId4"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7A57"/>
        </a:solidFill>
      </p:bgPr>
    </p:bg>
    <p:spTree>
      <p:nvGrpSpPr>
        <p:cNvPr id="1" name=""/>
        <p:cNvGrpSpPr/>
        <p:nvPr/>
      </p:nvGrpSpPr>
      <p:grpSpPr>
        <a:xfrm>
          <a:off x="0" y="0"/>
          <a:ext cx="0" cy="0"/>
          <a:chOff x="0" y="0"/>
          <a:chExt cx="0" cy="0"/>
        </a:xfrm>
      </p:grpSpPr>
      <p:sp>
        <p:nvSpPr>
          <p:cNvPr id="2" name="Text 0"/>
          <p:cNvSpPr/>
          <p:nvPr/>
        </p:nvSpPr>
        <p:spPr>
          <a:xfrm>
            <a:off x="990600" y="876300"/>
            <a:ext cx="17937480" cy="295275"/>
          </a:xfrm>
          <a:prstGeom prst="rect">
            <a:avLst/>
          </a:prstGeom>
          <a:noFill/>
          <a:ln/>
        </p:spPr>
        <p:txBody>
          <a:bodyPr wrap="square" lIns="25400" tIns="25400" rIns="25400" bIns="25400" rtlCol="0" anchor="t">
            <a:normAutofit/>
          </a:bodyPr>
          <a:lstStyle/>
          <a:p>
            <a:pPr algn="l" indent="0" marL="0">
              <a:buNone/>
            </a:pPr>
            <a:r>
              <a:rPr lang="en-US" sz="1800" spc="225" kern="0" dirty="0">
                <a:solidFill>
                  <a:srgbClr val="B2E0D4"/>
                </a:solidFill>
                <a:latin typeface="Courier New" pitchFamily="34" charset="0"/>
                <a:ea typeface="Courier New" pitchFamily="34" charset="-122"/>
                <a:cs typeface="Courier New" pitchFamily="34" charset="-120"/>
              </a:rPr>
              <a:t>ESADE — DATA SCIENCE FOR FINANCE · 2026</a:t>
            </a:r>
            <a:endParaRPr lang="en-US" sz="1800" dirty="0"/>
          </a:p>
        </p:txBody>
      </p:sp>
      <p:sp>
        <p:nvSpPr>
          <p:cNvPr id="3" name="Text 1"/>
          <p:cNvSpPr/>
          <p:nvPr/>
        </p:nvSpPr>
        <p:spPr>
          <a:xfrm>
            <a:off x="990600" y="2812777"/>
            <a:ext cx="16796004" cy="1943100"/>
          </a:xfrm>
          <a:prstGeom prst="rect">
            <a:avLst/>
          </a:prstGeom>
          <a:noFill/>
          <a:ln/>
        </p:spPr>
        <p:txBody>
          <a:bodyPr wrap="square" lIns="25400" tIns="25400" rIns="25400" bIns="25400" rtlCol="0" anchor="t">
            <a:normAutofit/>
          </a:bodyPr>
          <a:lstStyle/>
          <a:p>
            <a:pPr algn="l" indent="0" marL="0">
              <a:lnSpc>
                <a:spcPct val="100000"/>
              </a:lnSpc>
              <a:buNone/>
            </a:pPr>
            <a:r>
              <a:rPr lang="en-US" sz="7500" b="1" spc="-75" kern="0" dirty="0">
                <a:solidFill>
                  <a:srgbClr val="FFFFFF"/>
                </a:solidFill>
                <a:latin typeface="Georgia" pitchFamily="34" charset="0"/>
                <a:ea typeface="Georgia" pitchFamily="34" charset="-122"/>
                <a:cs typeface="Georgia" pitchFamily="34" charset="-120"/>
              </a:rPr>
              <a:t>Predicting loan approvals</a:t>
            </a:r>
            <a:endParaRPr lang="en-US" sz="7500" dirty="0"/>
          </a:p>
        </p:txBody>
      </p:sp>
      <p:sp>
        <p:nvSpPr>
          <p:cNvPr id="4" name="Text 2"/>
          <p:cNvSpPr/>
          <p:nvPr/>
        </p:nvSpPr>
        <p:spPr>
          <a:xfrm>
            <a:off x="990600" y="5003527"/>
            <a:ext cx="9810750" cy="781050"/>
          </a:xfrm>
          <a:prstGeom prst="rect">
            <a:avLst/>
          </a:prstGeom>
          <a:noFill/>
          <a:ln/>
        </p:spPr>
        <p:txBody>
          <a:bodyPr wrap="square" lIns="25400" tIns="25400" rIns="25400" bIns="25400" rtlCol="0" anchor="t">
            <a:normAutofit/>
          </a:bodyPr>
          <a:lstStyle/>
          <a:p>
            <a:pPr algn="l" indent="0" marL="0">
              <a:buNone/>
            </a:pPr>
            <a:r>
              <a:rPr lang="en-US" sz="2550" dirty="0">
                <a:solidFill>
                  <a:srgbClr val="B2E0D4"/>
                </a:solidFill>
                <a:latin typeface="Arial" pitchFamily="34" charset="0"/>
                <a:ea typeface="Arial" pitchFamily="34" charset="-122"/>
                <a:cs typeface="Arial" pitchFamily="34" charset="-120"/>
              </a:rPr>
              <a:t>Teaching a model to make the same call a bank’s credit analyst would — using data that was deliberately messy.</a:t>
            </a:r>
            <a:endParaRPr lang="en-US" sz="2550" dirty="0"/>
          </a:p>
        </p:txBody>
      </p:sp>
      <p:sp>
        <p:nvSpPr>
          <p:cNvPr id="6" name="Text 4"/>
          <p:cNvSpPr/>
          <p:nvPr/>
        </p:nvSpPr>
        <p:spPr>
          <a:xfrm>
            <a:off x="2015654" y="6594202"/>
            <a:ext cx="6082665" cy="784771"/>
          </a:xfrm>
          <a:prstGeom prst="rect">
            <a:avLst/>
          </a:prstGeom>
          <a:noFill/>
          <a:ln/>
        </p:spPr>
        <p:txBody>
          <a:bodyPr wrap="square" lIns="25400" tIns="25400" rIns="25400" bIns="25400" rtlCol="0" anchor="t">
            <a:normAutofit/>
          </a:bodyPr>
          <a:lstStyle/>
          <a:p>
            <a:pPr algn="l" indent="0" marL="0">
              <a:lnSpc>
                <a:spcPct val="140000"/>
              </a:lnSpc>
              <a:buNone/>
            </a:pPr>
            <a:r>
              <a:rPr lang="en-US" sz="2100" dirty="0">
                <a:solidFill>
                  <a:srgbClr val="B2E0D4"/>
                </a:solidFill>
                <a:latin typeface="Arial" pitchFamily="34" charset="0"/>
                <a:ea typeface="Arial" pitchFamily="34" charset="-122"/>
                <a:cs typeface="Arial" pitchFamily="34" charset="-120"/>
              </a:rPr>
              <a:t>Built clean — we caught the planted data trap and used no race or religion data.</a:t>
            </a:r>
            <a:endParaRPr lang="en-US" sz="2100" dirty="0"/>
          </a:p>
        </p:txBody>
      </p:sp>
      <p:sp>
        <p:nvSpPr>
          <p:cNvPr id="7" name="Shape 5"/>
          <p:cNvSpPr/>
          <p:nvPr/>
        </p:nvSpPr>
        <p:spPr>
          <a:xfrm>
            <a:off x="990600" y="9020175"/>
            <a:ext cx="16306800" cy="9525"/>
          </a:xfrm>
          <a:prstGeom prst="rect">
            <a:avLst/>
          </a:prstGeom>
          <a:solidFill>
            <a:srgbClr val="E0F7F1">
              <a:alpha val="25000"/>
            </a:srgbClr>
          </a:solidFill>
          <a:ln/>
        </p:spPr>
      </p:sp>
      <p:sp>
        <p:nvSpPr>
          <p:cNvPr id="8" name="Text 6"/>
          <p:cNvSpPr/>
          <p:nvPr/>
        </p:nvSpPr>
        <p:spPr>
          <a:xfrm>
            <a:off x="990600" y="9277350"/>
            <a:ext cx="4676730" cy="361950"/>
          </a:xfrm>
          <a:prstGeom prst="rect">
            <a:avLst/>
          </a:prstGeom>
          <a:noFill/>
          <a:ln/>
        </p:spPr>
        <p:txBody>
          <a:bodyPr wrap="square" lIns="25400" tIns="25400" rIns="25400" bIns="25400" rtlCol="0" anchor="t">
            <a:normAutofit/>
          </a:bodyPr>
          <a:lstStyle/>
          <a:p>
            <a:pPr algn="l" indent="0" marL="0">
              <a:buNone/>
            </a:pPr>
            <a:r>
              <a:rPr lang="en-US" sz="2100" dirty="0">
                <a:solidFill>
                  <a:srgbClr val="FFFFFF"/>
                </a:solidFill>
                <a:latin typeface="Arial" pitchFamily="34" charset="0"/>
                <a:ea typeface="Arial" pitchFamily="34" charset="-122"/>
                <a:cs typeface="Arial" pitchFamily="34" charset="-120"/>
              </a:rPr>
              <a:t>Gianluca Bavelloni · Riwad Irshied</a:t>
            </a:r>
            <a:endParaRPr lang="en-US" sz="2100" dirty="0"/>
          </a:p>
        </p:txBody>
      </p:sp>
      <p:sp>
        <p:nvSpPr>
          <p:cNvPr id="9" name="Text 7"/>
          <p:cNvSpPr/>
          <p:nvPr/>
        </p:nvSpPr>
        <p:spPr>
          <a:xfrm>
            <a:off x="12770383" y="9344025"/>
            <a:ext cx="4527017" cy="295275"/>
          </a:xfrm>
          <a:prstGeom prst="rect">
            <a:avLst/>
          </a:prstGeom>
          <a:noFill/>
          <a:ln/>
        </p:spPr>
        <p:txBody>
          <a:bodyPr wrap="square" lIns="25400" tIns="25400" rIns="25400" bIns="25400" rtlCol="0" anchor="t">
            <a:normAutofit/>
          </a:bodyPr>
          <a:lstStyle/>
          <a:p>
            <a:pPr algn="r" indent="0" marL="0">
              <a:buNone/>
            </a:pPr>
            <a:r>
              <a:rPr lang="en-US" sz="1800" dirty="0">
                <a:solidFill>
                  <a:srgbClr val="B2E0D4"/>
                </a:solidFill>
                <a:latin typeface="Courier New" pitchFamily="34" charset="0"/>
                <a:ea typeface="Courier New" pitchFamily="34" charset="-122"/>
                <a:cs typeface="Courier New" pitchFamily="34" charset="-120"/>
              </a:rPr>
              <a:t>Kaggle ESADE DSF26 · June 2026</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sp>
      <p:sp>
        <p:nvSpPr>
          <p:cNvPr id="3" name="Text 1"/>
          <p:cNvSpPr/>
          <p:nvPr/>
        </p:nvSpPr>
        <p:spPr>
          <a:xfrm>
            <a:off x="952500" y="742950"/>
            <a:ext cx="18021300" cy="295275"/>
          </a:xfrm>
          <a:prstGeom prst="rect">
            <a:avLst/>
          </a:prstGeom>
          <a:noFill/>
          <a:ln/>
        </p:spPr>
        <p:txBody>
          <a:bodyPr wrap="square" lIns="25400" tIns="25400" rIns="25400" bIns="25400" rtlCol="0" anchor="t">
            <a:normAutofit/>
          </a:bodyPr>
          <a:lstStyle/>
          <a:p>
            <a:pPr algn="l" indent="0" marL="0">
              <a:buNone/>
            </a:pPr>
            <a:r>
              <a:rPr lang="en-US" sz="1800" spc="225" kern="0" dirty="0">
                <a:solidFill>
                  <a:srgbClr val="007A33"/>
                </a:solidFill>
                <a:latin typeface="Courier New" pitchFamily="34" charset="0"/>
                <a:ea typeface="Courier New" pitchFamily="34" charset="-122"/>
                <a:cs typeface="Courier New" pitchFamily="34" charset="-120"/>
              </a:rPr>
              <a:t>02 · THE BUSINESS PROBLEM</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a:bodyPr>
          <a:lstStyle/>
          <a:p>
            <a:pPr algn="l" indent="0" marL="0">
              <a:lnSpc>
                <a:spcPct val="112000"/>
              </a:lnSpc>
              <a:buNone/>
            </a:pPr>
            <a:r>
              <a:rPr lang="en-US" sz="3600" b="1" spc="-37" kern="0" dirty="0">
                <a:solidFill>
                  <a:srgbClr val="063D22"/>
                </a:solidFill>
                <a:latin typeface="Arial" pitchFamily="34" charset="0"/>
                <a:ea typeface="Arial" pitchFamily="34" charset="-122"/>
                <a:cs typeface="Arial" pitchFamily="34" charset="-120"/>
              </a:rPr>
              <a:t>A wrong loan decision costs the bank money in two different ways</a:t>
            </a:r>
            <a:endParaRPr lang="en-US" sz="3600" dirty="0"/>
          </a:p>
        </p:txBody>
      </p:sp>
      <p:sp>
        <p:nvSpPr>
          <p:cNvPr id="5" name="Text 3"/>
          <p:cNvSpPr/>
          <p:nvPr/>
        </p:nvSpPr>
        <p:spPr>
          <a:xfrm>
            <a:off x="2800443" y="4346972"/>
            <a:ext cx="4188954" cy="295275"/>
          </a:xfrm>
          <a:prstGeom prst="rect">
            <a:avLst/>
          </a:prstGeom>
          <a:noFill/>
          <a:ln/>
        </p:spPr>
        <p:txBody>
          <a:bodyPr wrap="square" lIns="25400" tIns="25400" rIns="25400" bIns="25400" rtlCol="0" anchor="t">
            <a:normAutofit/>
          </a:bodyPr>
          <a:lstStyle/>
          <a:p>
            <a:pPr algn="ctr" indent="0" marL="0">
              <a:buNone/>
            </a:pPr>
            <a:r>
              <a:rPr lang="en-US" sz="1800" dirty="0">
                <a:solidFill>
                  <a:srgbClr val="5C7268"/>
                </a:solidFill>
                <a:latin typeface="Courier New" pitchFamily="34" charset="0"/>
                <a:ea typeface="Courier New" pitchFamily="34" charset="-122"/>
                <a:cs typeface="Courier New" pitchFamily="34" charset="-120"/>
              </a:rPr>
              <a:t>Loan would be repaid</a:t>
            </a:r>
            <a:endParaRPr lang="en-US" sz="1800" dirty="0"/>
          </a:p>
        </p:txBody>
      </p:sp>
      <p:sp>
        <p:nvSpPr>
          <p:cNvPr id="6" name="Text 4"/>
          <p:cNvSpPr/>
          <p:nvPr/>
        </p:nvSpPr>
        <p:spPr>
          <a:xfrm>
            <a:off x="6741929" y="4346972"/>
            <a:ext cx="4189035" cy="295275"/>
          </a:xfrm>
          <a:prstGeom prst="rect">
            <a:avLst/>
          </a:prstGeom>
          <a:noFill/>
          <a:ln/>
        </p:spPr>
        <p:txBody>
          <a:bodyPr wrap="square" lIns="25400" tIns="25400" rIns="25400" bIns="25400" rtlCol="0" anchor="t">
            <a:normAutofit/>
          </a:bodyPr>
          <a:lstStyle/>
          <a:p>
            <a:pPr algn="ctr" indent="0" marL="0">
              <a:buNone/>
            </a:pPr>
            <a:r>
              <a:rPr lang="en-US" sz="1800" dirty="0">
                <a:solidFill>
                  <a:srgbClr val="5C7268"/>
                </a:solidFill>
                <a:latin typeface="Courier New" pitchFamily="34" charset="0"/>
                <a:ea typeface="Courier New" pitchFamily="34" charset="-122"/>
                <a:cs typeface="Courier New" pitchFamily="34" charset="-120"/>
              </a:rPr>
              <a:t>Loan would default</a:t>
            </a:r>
            <a:endParaRPr lang="en-US" sz="1800" dirty="0"/>
          </a:p>
        </p:txBody>
      </p:sp>
      <p:sp>
        <p:nvSpPr>
          <p:cNvPr id="7" name="Text 5"/>
          <p:cNvSpPr/>
          <p:nvPr/>
        </p:nvSpPr>
        <p:spPr>
          <a:xfrm>
            <a:off x="876300" y="4794647"/>
            <a:ext cx="1905000" cy="1195388"/>
          </a:xfrm>
          <a:prstGeom prst="rect">
            <a:avLst/>
          </a:prstGeom>
          <a:noFill/>
          <a:ln/>
        </p:spPr>
        <p:txBody>
          <a:bodyPr wrap="square" lIns="25400" tIns="25400" rIns="25400" bIns="25400" rtlCol="0" anchor="ctr">
            <a:normAutofit/>
          </a:bodyPr>
          <a:lstStyle/>
          <a:p>
            <a:pPr algn="r" indent="0" marL="0">
              <a:buNone/>
            </a:pPr>
            <a:r>
              <a:rPr lang="en-US" sz="1950" b="1" dirty="0">
                <a:solidFill>
                  <a:srgbClr val="063D22"/>
                </a:solidFill>
                <a:latin typeface="Arial" pitchFamily="34" charset="0"/>
                <a:ea typeface="Arial" pitchFamily="34" charset="-122"/>
                <a:cs typeface="Arial" pitchFamily="34" charset="-120"/>
              </a:rPr>
              <a:t>We approve</a:t>
            </a:r>
            <a:endParaRPr lang="en-US" sz="1950" dirty="0"/>
          </a:p>
        </p:txBody>
      </p:sp>
      <p:sp>
        <p:nvSpPr>
          <p:cNvPr id="8" name="Shape 6"/>
          <p:cNvSpPr/>
          <p:nvPr/>
        </p:nvSpPr>
        <p:spPr>
          <a:xfrm>
            <a:off x="2990850" y="4794647"/>
            <a:ext cx="3808140" cy="1157288"/>
          </a:xfrm>
          <a:prstGeom prst="roundRect">
            <a:avLst>
              <a:gd name="adj" fmla="val 6584"/>
            </a:avLst>
          </a:prstGeom>
          <a:solidFill>
            <a:srgbClr val="E6F5EF"/>
          </a:solidFill>
          <a:ln w="9525">
            <a:solidFill>
              <a:srgbClr val="B2E0D4"/>
            </a:solidFill>
            <a:prstDash val="solid"/>
          </a:ln>
        </p:spPr>
      </p:sp>
      <p:sp>
        <p:nvSpPr>
          <p:cNvPr id="9" name="Text 7"/>
          <p:cNvSpPr/>
          <p:nvPr/>
        </p:nvSpPr>
        <p:spPr>
          <a:xfrm>
            <a:off x="3248025" y="5051822"/>
            <a:ext cx="3623169" cy="361950"/>
          </a:xfrm>
          <a:prstGeom prst="rect">
            <a:avLst/>
          </a:prstGeom>
          <a:noFill/>
          <a:ln/>
        </p:spPr>
        <p:txBody>
          <a:bodyPr wrap="square" lIns="25400" tIns="25400" rIns="25400" bIns="25400" rtlCol="0" anchor="t">
            <a:normAutofit/>
          </a:bodyPr>
          <a:lstStyle/>
          <a:p>
            <a:pPr algn="l" indent="0" marL="0">
              <a:buNone/>
            </a:pPr>
            <a:r>
              <a:rPr lang="en-US" sz="2100" b="1" dirty="0">
                <a:solidFill>
                  <a:srgbClr val="1A7A57"/>
                </a:solidFill>
                <a:latin typeface="Arial" pitchFamily="34" charset="0"/>
                <a:ea typeface="Arial" pitchFamily="34" charset="-122"/>
                <a:cs typeface="Arial" pitchFamily="34" charset="-120"/>
              </a:rPr>
              <a:t>Right call</a:t>
            </a:r>
            <a:endParaRPr lang="en-US" sz="2100" dirty="0"/>
          </a:p>
        </p:txBody>
      </p:sp>
      <p:sp>
        <p:nvSpPr>
          <p:cNvPr id="10" name="Text 8"/>
          <p:cNvSpPr/>
          <p:nvPr/>
        </p:nvSpPr>
        <p:spPr>
          <a:xfrm>
            <a:off x="3248025" y="5432822"/>
            <a:ext cx="3623169" cy="300038"/>
          </a:xfrm>
          <a:prstGeom prst="rect">
            <a:avLst/>
          </a:prstGeom>
          <a:noFill/>
          <a:ln/>
        </p:spPr>
        <p:txBody>
          <a:bodyPr wrap="square" lIns="25400" tIns="25400" rIns="25400" bIns="25400" rtlCol="0" anchor="t">
            <a:normAutofit/>
          </a:bodyPr>
          <a:lstStyle/>
          <a:p>
            <a:pPr algn="l" indent="0" marL="0">
              <a:buNone/>
            </a:pPr>
            <a:r>
              <a:rPr lang="en-US" sz="1800" dirty="0">
                <a:solidFill>
                  <a:srgbClr val="5C7268"/>
                </a:solidFill>
                <a:latin typeface="Arial" pitchFamily="34" charset="0"/>
                <a:ea typeface="Arial" pitchFamily="34" charset="-122"/>
                <a:cs typeface="Arial" pitchFamily="34" charset="-120"/>
              </a:rPr>
              <a:t>Good loan, earns interest</a:t>
            </a:r>
            <a:endParaRPr lang="en-US" sz="1800" dirty="0"/>
          </a:p>
        </p:txBody>
      </p:sp>
      <p:sp>
        <p:nvSpPr>
          <p:cNvPr id="11" name="Shape 9"/>
          <p:cNvSpPr/>
          <p:nvPr/>
        </p:nvSpPr>
        <p:spPr>
          <a:xfrm>
            <a:off x="6932340" y="4794647"/>
            <a:ext cx="3808214" cy="1157288"/>
          </a:xfrm>
          <a:prstGeom prst="roundRect">
            <a:avLst>
              <a:gd name="adj" fmla="val 6584"/>
            </a:avLst>
          </a:prstGeom>
          <a:solidFill>
            <a:srgbClr val="F7ECE8"/>
          </a:solidFill>
          <a:ln w="9525">
            <a:solidFill>
              <a:srgbClr val="E3B9AC"/>
            </a:solidFill>
            <a:prstDash val="solid"/>
          </a:ln>
        </p:spPr>
      </p:sp>
      <p:sp>
        <p:nvSpPr>
          <p:cNvPr id="12" name="Text 10"/>
          <p:cNvSpPr/>
          <p:nvPr/>
        </p:nvSpPr>
        <p:spPr>
          <a:xfrm>
            <a:off x="7189515" y="5051822"/>
            <a:ext cx="3623250" cy="361950"/>
          </a:xfrm>
          <a:prstGeom prst="rect">
            <a:avLst/>
          </a:prstGeom>
          <a:noFill/>
          <a:ln/>
        </p:spPr>
        <p:txBody>
          <a:bodyPr wrap="square" lIns="25400" tIns="25400" rIns="25400" bIns="25400" rtlCol="0" anchor="t">
            <a:normAutofit/>
          </a:bodyPr>
          <a:lstStyle/>
          <a:p>
            <a:pPr algn="l" indent="0" marL="0">
              <a:buNone/>
            </a:pPr>
            <a:r>
              <a:rPr lang="en-US" sz="2100" b="1" dirty="0">
                <a:solidFill>
                  <a:srgbClr val="B3573F"/>
                </a:solidFill>
                <a:latin typeface="Arial" pitchFamily="34" charset="0"/>
                <a:ea typeface="Arial" pitchFamily="34" charset="-122"/>
                <a:cs typeface="Arial" pitchFamily="34" charset="-120"/>
              </a:rPr>
              <a:t>Costly mistake</a:t>
            </a:r>
            <a:endParaRPr lang="en-US" sz="2100" dirty="0"/>
          </a:p>
        </p:txBody>
      </p:sp>
      <p:sp>
        <p:nvSpPr>
          <p:cNvPr id="13" name="Text 11"/>
          <p:cNvSpPr/>
          <p:nvPr/>
        </p:nvSpPr>
        <p:spPr>
          <a:xfrm>
            <a:off x="7189515" y="5432822"/>
            <a:ext cx="3623250" cy="300038"/>
          </a:xfrm>
          <a:prstGeom prst="rect">
            <a:avLst/>
          </a:prstGeom>
          <a:noFill/>
          <a:ln/>
        </p:spPr>
        <p:txBody>
          <a:bodyPr wrap="square" lIns="25400" tIns="25400" rIns="25400" bIns="25400" rtlCol="0" anchor="t">
            <a:normAutofit/>
          </a:bodyPr>
          <a:lstStyle/>
          <a:p>
            <a:pPr algn="l" indent="0" marL="0">
              <a:buNone/>
            </a:pPr>
            <a:r>
              <a:rPr lang="en-US" sz="1800" dirty="0">
                <a:solidFill>
                  <a:srgbClr val="8A5246"/>
                </a:solidFill>
                <a:latin typeface="Arial" pitchFamily="34" charset="0"/>
                <a:ea typeface="Arial" pitchFamily="34" charset="-122"/>
                <a:cs typeface="Arial" pitchFamily="34" charset="-120"/>
              </a:rPr>
              <a:t>Default &amp; write-off</a:t>
            </a:r>
            <a:endParaRPr lang="en-US" sz="1800" dirty="0"/>
          </a:p>
        </p:txBody>
      </p:sp>
      <p:sp>
        <p:nvSpPr>
          <p:cNvPr id="14" name="Text 12"/>
          <p:cNvSpPr/>
          <p:nvPr/>
        </p:nvSpPr>
        <p:spPr>
          <a:xfrm>
            <a:off x="876300" y="6085284"/>
            <a:ext cx="1905000" cy="1195388"/>
          </a:xfrm>
          <a:prstGeom prst="rect">
            <a:avLst/>
          </a:prstGeom>
          <a:noFill/>
          <a:ln/>
        </p:spPr>
        <p:txBody>
          <a:bodyPr wrap="square" lIns="25400" tIns="25400" rIns="25400" bIns="25400" rtlCol="0" anchor="ctr">
            <a:normAutofit/>
          </a:bodyPr>
          <a:lstStyle/>
          <a:p>
            <a:pPr algn="r" indent="0" marL="0">
              <a:buNone/>
            </a:pPr>
            <a:r>
              <a:rPr lang="en-US" sz="1950" b="1" dirty="0">
                <a:solidFill>
                  <a:srgbClr val="063D22"/>
                </a:solidFill>
                <a:latin typeface="Arial" pitchFamily="34" charset="0"/>
                <a:ea typeface="Arial" pitchFamily="34" charset="-122"/>
                <a:cs typeface="Arial" pitchFamily="34" charset="-120"/>
              </a:rPr>
              <a:t>We reject</a:t>
            </a:r>
            <a:endParaRPr lang="en-US" sz="1950" dirty="0"/>
          </a:p>
        </p:txBody>
      </p:sp>
      <p:sp>
        <p:nvSpPr>
          <p:cNvPr id="15" name="Shape 13"/>
          <p:cNvSpPr/>
          <p:nvPr/>
        </p:nvSpPr>
        <p:spPr>
          <a:xfrm>
            <a:off x="2990850" y="6085284"/>
            <a:ext cx="3808140" cy="1157288"/>
          </a:xfrm>
          <a:prstGeom prst="roundRect">
            <a:avLst>
              <a:gd name="adj" fmla="val 6584"/>
            </a:avLst>
          </a:prstGeom>
          <a:solidFill>
            <a:srgbClr val="F7ECE8"/>
          </a:solidFill>
          <a:ln w="9525">
            <a:solidFill>
              <a:srgbClr val="E3B9AC"/>
            </a:solidFill>
            <a:prstDash val="solid"/>
          </a:ln>
        </p:spPr>
      </p:sp>
      <p:sp>
        <p:nvSpPr>
          <p:cNvPr id="16" name="Text 14"/>
          <p:cNvSpPr/>
          <p:nvPr/>
        </p:nvSpPr>
        <p:spPr>
          <a:xfrm>
            <a:off x="3248025" y="6342459"/>
            <a:ext cx="3623169" cy="361950"/>
          </a:xfrm>
          <a:prstGeom prst="rect">
            <a:avLst/>
          </a:prstGeom>
          <a:noFill/>
          <a:ln/>
        </p:spPr>
        <p:txBody>
          <a:bodyPr wrap="square" lIns="25400" tIns="25400" rIns="25400" bIns="25400" rtlCol="0" anchor="t">
            <a:normAutofit/>
          </a:bodyPr>
          <a:lstStyle/>
          <a:p>
            <a:pPr algn="l" indent="0" marL="0">
              <a:buNone/>
            </a:pPr>
            <a:r>
              <a:rPr lang="en-US" sz="2100" b="1" dirty="0">
                <a:solidFill>
                  <a:srgbClr val="B3573F"/>
                </a:solidFill>
                <a:latin typeface="Arial" pitchFamily="34" charset="0"/>
                <a:ea typeface="Arial" pitchFamily="34" charset="-122"/>
                <a:cs typeface="Arial" pitchFamily="34" charset="-120"/>
              </a:rPr>
              <a:t>Costly mistake</a:t>
            </a:r>
            <a:endParaRPr lang="en-US" sz="2100" dirty="0"/>
          </a:p>
        </p:txBody>
      </p:sp>
      <p:sp>
        <p:nvSpPr>
          <p:cNvPr id="17" name="Text 15"/>
          <p:cNvSpPr/>
          <p:nvPr/>
        </p:nvSpPr>
        <p:spPr>
          <a:xfrm>
            <a:off x="3248025" y="6723459"/>
            <a:ext cx="3623169" cy="300038"/>
          </a:xfrm>
          <a:prstGeom prst="rect">
            <a:avLst/>
          </a:prstGeom>
          <a:noFill/>
          <a:ln/>
        </p:spPr>
        <p:txBody>
          <a:bodyPr wrap="square" lIns="25400" tIns="25400" rIns="25400" bIns="25400" rtlCol="0" anchor="t">
            <a:normAutofit/>
          </a:bodyPr>
          <a:lstStyle/>
          <a:p>
            <a:pPr algn="l" indent="0" marL="0">
              <a:buNone/>
            </a:pPr>
            <a:r>
              <a:rPr lang="en-US" sz="1800" dirty="0">
                <a:solidFill>
                  <a:srgbClr val="8A5246"/>
                </a:solidFill>
                <a:latin typeface="Arial" pitchFamily="34" charset="0"/>
                <a:ea typeface="Arial" pitchFamily="34" charset="-122"/>
                <a:cs typeface="Arial" pitchFamily="34" charset="-120"/>
              </a:rPr>
              <a:t>Lost revenue &amp; the customer</a:t>
            </a:r>
            <a:endParaRPr lang="en-US" sz="1800" dirty="0"/>
          </a:p>
        </p:txBody>
      </p:sp>
      <p:sp>
        <p:nvSpPr>
          <p:cNvPr id="18" name="Shape 16"/>
          <p:cNvSpPr/>
          <p:nvPr/>
        </p:nvSpPr>
        <p:spPr>
          <a:xfrm>
            <a:off x="6932340" y="6085284"/>
            <a:ext cx="3808214" cy="1157288"/>
          </a:xfrm>
          <a:prstGeom prst="roundRect">
            <a:avLst>
              <a:gd name="adj" fmla="val 6584"/>
            </a:avLst>
          </a:prstGeom>
          <a:solidFill>
            <a:srgbClr val="E6F5EF"/>
          </a:solidFill>
          <a:ln w="9525">
            <a:solidFill>
              <a:srgbClr val="B2E0D4"/>
            </a:solidFill>
            <a:prstDash val="solid"/>
          </a:ln>
        </p:spPr>
      </p:sp>
      <p:sp>
        <p:nvSpPr>
          <p:cNvPr id="19" name="Text 17"/>
          <p:cNvSpPr/>
          <p:nvPr/>
        </p:nvSpPr>
        <p:spPr>
          <a:xfrm>
            <a:off x="7189515" y="6342459"/>
            <a:ext cx="3623250" cy="361950"/>
          </a:xfrm>
          <a:prstGeom prst="rect">
            <a:avLst/>
          </a:prstGeom>
          <a:noFill/>
          <a:ln/>
        </p:spPr>
        <p:txBody>
          <a:bodyPr wrap="square" lIns="25400" tIns="25400" rIns="25400" bIns="25400" rtlCol="0" anchor="t">
            <a:normAutofit/>
          </a:bodyPr>
          <a:lstStyle/>
          <a:p>
            <a:pPr algn="l" indent="0" marL="0">
              <a:buNone/>
            </a:pPr>
            <a:r>
              <a:rPr lang="en-US" sz="2100" b="1" dirty="0">
                <a:solidFill>
                  <a:srgbClr val="1A7A57"/>
                </a:solidFill>
                <a:latin typeface="Arial" pitchFamily="34" charset="0"/>
                <a:ea typeface="Arial" pitchFamily="34" charset="-122"/>
                <a:cs typeface="Arial" pitchFamily="34" charset="-120"/>
              </a:rPr>
              <a:t>Right call</a:t>
            </a:r>
            <a:endParaRPr lang="en-US" sz="2100" dirty="0"/>
          </a:p>
        </p:txBody>
      </p:sp>
      <p:sp>
        <p:nvSpPr>
          <p:cNvPr id="20" name="Text 18"/>
          <p:cNvSpPr/>
          <p:nvPr/>
        </p:nvSpPr>
        <p:spPr>
          <a:xfrm>
            <a:off x="7189515" y="6723459"/>
            <a:ext cx="3623250" cy="300038"/>
          </a:xfrm>
          <a:prstGeom prst="rect">
            <a:avLst/>
          </a:prstGeom>
          <a:noFill/>
          <a:ln/>
        </p:spPr>
        <p:txBody>
          <a:bodyPr wrap="square" lIns="25400" tIns="25400" rIns="25400" bIns="25400" rtlCol="0" anchor="t">
            <a:normAutofit/>
          </a:bodyPr>
          <a:lstStyle/>
          <a:p>
            <a:pPr algn="l" indent="0" marL="0">
              <a:buNone/>
            </a:pPr>
            <a:r>
              <a:rPr lang="en-US" sz="1800" dirty="0">
                <a:solidFill>
                  <a:srgbClr val="5C7268"/>
                </a:solidFill>
                <a:latin typeface="Arial" pitchFamily="34" charset="0"/>
                <a:ea typeface="Arial" pitchFamily="34" charset="-122"/>
                <a:cs typeface="Arial" pitchFamily="34" charset="-120"/>
              </a:rPr>
              <a:t>Bad loan avoided</a:t>
            </a:r>
            <a:endParaRPr lang="en-US" sz="1800" dirty="0"/>
          </a:p>
        </p:txBody>
      </p:sp>
      <p:sp>
        <p:nvSpPr>
          <p:cNvPr id="21" name="Text 19"/>
          <p:cNvSpPr/>
          <p:nvPr/>
        </p:nvSpPr>
        <p:spPr>
          <a:xfrm>
            <a:off x="11312054" y="4692774"/>
            <a:ext cx="6204150" cy="1295400"/>
          </a:xfrm>
          <a:prstGeom prst="rect">
            <a:avLst/>
          </a:prstGeom>
          <a:noFill/>
          <a:ln/>
        </p:spPr>
        <p:txBody>
          <a:bodyPr wrap="square" lIns="25400" tIns="25400" rIns="25400" bIns="25400" rtlCol="0" anchor="t">
            <a:normAutofit/>
          </a:bodyPr>
          <a:lstStyle/>
          <a:p>
            <a:pPr algn="l" indent="0" marL="0">
              <a:lnSpc>
                <a:spcPct val="145000"/>
              </a:lnSpc>
              <a:buNone/>
            </a:pPr>
            <a:r>
              <a:rPr lang="en-US" sz="2250" dirty="0">
                <a:solidFill>
                  <a:srgbClr val="244236"/>
                </a:solidFill>
                <a:latin typeface="Arial" pitchFamily="34" charset="0"/>
                <a:ea typeface="Arial" pitchFamily="34" charset="-122"/>
                <a:cs typeface="Arial" pitchFamily="34" charset="-120"/>
              </a:rPr>
              <a:t>Our model has one job: </a:t>
            </a:r>
            <a:pPr algn="l" indent="0" marL="0">
              <a:lnSpc>
                <a:spcPct val="145000"/>
              </a:lnSpc>
              <a:buNone/>
            </a:pPr>
            <a:r>
              <a:rPr lang="en-US" sz="2250" b="1" dirty="0">
                <a:solidFill>
                  <a:srgbClr val="063D22"/>
                </a:solidFill>
                <a:latin typeface="Arial" pitchFamily="34" charset="0"/>
                <a:ea typeface="Arial" pitchFamily="34" charset="-122"/>
                <a:cs typeface="Arial" pitchFamily="34" charset="-120"/>
              </a:rPr>
              <a:t>make the same approve-or-reject call a human analyst would </a:t>
            </a:r>
            <a:pPr algn="l" indent="0" marL="0">
              <a:lnSpc>
                <a:spcPct val="145000"/>
              </a:lnSpc>
              <a:buNone/>
            </a:pPr>
            <a:r>
              <a:rPr lang="en-US" sz="2250" dirty="0">
                <a:solidFill>
                  <a:srgbClr val="244236"/>
                </a:solidFill>
                <a:latin typeface="Arial" pitchFamily="34" charset="0"/>
                <a:ea typeface="Arial" pitchFamily="34" charset="-122"/>
                <a:cs typeface="Arial" pitchFamily="34" charset="-120"/>
              </a:rPr>
              <a:t>, for 5,000 new applications.</a:t>
            </a:r>
            <a:endParaRPr lang="en-US" sz="2250" dirty="0"/>
          </a:p>
        </p:txBody>
      </p:sp>
      <p:sp>
        <p:nvSpPr>
          <p:cNvPr id="22" name="Text 20"/>
          <p:cNvSpPr/>
          <p:nvPr/>
        </p:nvSpPr>
        <p:spPr>
          <a:xfrm>
            <a:off x="11312054" y="6178674"/>
            <a:ext cx="6204150" cy="756196"/>
          </a:xfrm>
          <a:prstGeom prst="rect">
            <a:avLst/>
          </a:prstGeom>
          <a:noFill/>
          <a:ln/>
        </p:spPr>
        <p:txBody>
          <a:bodyPr wrap="square" lIns="25400" tIns="25400" rIns="25400" bIns="25400" rtlCol="0" anchor="t">
            <a:normAutofit/>
          </a:bodyPr>
          <a:lstStyle/>
          <a:p>
            <a:pPr algn="l" indent="0" marL="0">
              <a:lnSpc>
                <a:spcPct val="145000"/>
              </a:lnSpc>
              <a:buNone/>
            </a:pPr>
            <a:r>
              <a:rPr lang="en-US" sz="1950" dirty="0">
                <a:solidFill>
                  <a:srgbClr val="5C7268"/>
                </a:solidFill>
                <a:latin typeface="Arial" pitchFamily="34" charset="0"/>
                <a:ea typeface="Arial" pitchFamily="34" charset="-122"/>
                <a:cs typeface="Arial" pitchFamily="34" charset="-120"/>
              </a:rPr>
              <a:t>It learns the bank’s existing policy — so it must also avoid copying the analysts’ bias (see slide 7).</a:t>
            </a:r>
            <a:endParaRPr lang="en-US" sz="1950" dirty="0"/>
          </a:p>
        </p:txBody>
      </p:sp>
      <p:sp>
        <p:nvSpPr>
          <p:cNvPr id="23" name="Shape 21"/>
          <p:cNvSpPr/>
          <p:nvPr/>
        </p:nvSpPr>
        <p:spPr>
          <a:xfrm>
            <a:off x="952500" y="9239250"/>
            <a:ext cx="16383000" cy="9525"/>
          </a:xfrm>
          <a:prstGeom prst="rect">
            <a:avLst/>
          </a:prstGeom>
          <a:solidFill>
            <a:srgbClr val="D2E6DD"/>
          </a:solidFill>
          <a:ln/>
        </p:spPr>
      </p:sp>
      <p:sp>
        <p:nvSpPr>
          <p:cNvPr id="24" name="Text 22"/>
          <p:cNvSpPr/>
          <p:nvPr/>
        </p:nvSpPr>
        <p:spPr>
          <a:xfrm>
            <a:off x="952500" y="9458325"/>
            <a:ext cx="16874490" cy="295275"/>
          </a:xfrm>
          <a:prstGeom prst="rect">
            <a:avLst/>
          </a:prstGeom>
          <a:noFill/>
          <a:ln/>
        </p:spPr>
        <p:txBody>
          <a:bodyPr wrap="square" lIns="25400" tIns="25400" rIns="25400" bIns="25400" rtlCol="0" anchor="t">
            <a:normAutofit/>
          </a:bodyPr>
          <a:lstStyle/>
          <a:p>
            <a:pPr algn="l" indent="0" marL="0">
              <a:buNone/>
            </a:pPr>
            <a:r>
              <a:rPr lang="en-US" sz="1800" dirty="0">
                <a:solidFill>
                  <a:srgbClr val="5C7268"/>
                </a:solidFill>
                <a:latin typeface="Courier New" pitchFamily="34" charset="0"/>
                <a:ea typeface="Courier New" pitchFamily="34" charset="-122"/>
                <a:cs typeface="Courier New" pitchFamily="34" charset="-120"/>
              </a:rPr>
              <a:t>Source: competition brief · binary classification, scored on accuracy</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sp>
      <p:sp>
        <p:nvSpPr>
          <p:cNvPr id="3" name="Text 1"/>
          <p:cNvSpPr/>
          <p:nvPr/>
        </p:nvSpPr>
        <p:spPr>
          <a:xfrm>
            <a:off x="952500" y="742950"/>
            <a:ext cx="18021300" cy="295275"/>
          </a:xfrm>
          <a:prstGeom prst="rect">
            <a:avLst/>
          </a:prstGeom>
          <a:noFill/>
          <a:ln/>
        </p:spPr>
        <p:txBody>
          <a:bodyPr wrap="square" lIns="25400" tIns="25400" rIns="25400" bIns="25400" rtlCol="0" anchor="t">
            <a:normAutofit/>
          </a:bodyPr>
          <a:lstStyle/>
          <a:p>
            <a:pPr algn="l" indent="0" marL="0">
              <a:buNone/>
            </a:pPr>
            <a:r>
              <a:rPr lang="en-US" sz="1800" spc="225" kern="0" dirty="0">
                <a:solidFill>
                  <a:srgbClr val="007A33"/>
                </a:solidFill>
                <a:latin typeface="Courier New" pitchFamily="34" charset="0"/>
                <a:ea typeface="Courier New" pitchFamily="34" charset="-122"/>
                <a:cs typeface="Courier New" pitchFamily="34" charset="-120"/>
              </a:rPr>
              <a:t>03 · THE DATA</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a:bodyPr>
          <a:lstStyle/>
          <a:p>
            <a:pPr algn="l" indent="0" marL="0">
              <a:lnSpc>
                <a:spcPct val="112000"/>
              </a:lnSpc>
              <a:buNone/>
            </a:pPr>
            <a:r>
              <a:rPr lang="en-US" sz="3600" b="1" spc="-37" kern="0" dirty="0">
                <a:solidFill>
                  <a:srgbClr val="063D22"/>
                </a:solidFill>
                <a:latin typeface="Arial" pitchFamily="34" charset="0"/>
                <a:ea typeface="Arial" pitchFamily="34" charset="-122"/>
                <a:cs typeface="Arial" pitchFamily="34" charset="-120"/>
              </a:rPr>
              <a:t>We learn from 25,000 past decisions to predict one month we’ve never seen</a:t>
            </a:r>
            <a:endParaRPr lang="en-US" sz="3600" dirty="0"/>
          </a:p>
        </p:txBody>
      </p:sp>
      <p:sp>
        <p:nvSpPr>
          <p:cNvPr id="5" name="Shape 3"/>
          <p:cNvSpPr/>
          <p:nvPr/>
        </p:nvSpPr>
        <p:spPr>
          <a:xfrm>
            <a:off x="952500" y="4099322"/>
            <a:ext cx="13082067" cy="1428750"/>
          </a:xfrm>
          <a:prstGeom prst="roundRect">
            <a:avLst>
              <a:gd name="adj" fmla="val 5333"/>
            </a:avLst>
          </a:prstGeom>
          <a:solidFill>
            <a:srgbClr val="1A7A57"/>
          </a:solidFill>
          <a:ln/>
        </p:spPr>
      </p:sp>
      <p:sp>
        <p:nvSpPr>
          <p:cNvPr id="6" name="Text 4"/>
          <p:cNvSpPr/>
          <p:nvPr/>
        </p:nvSpPr>
        <p:spPr>
          <a:xfrm>
            <a:off x="1333500" y="4454128"/>
            <a:ext cx="13552073" cy="433388"/>
          </a:xfrm>
          <a:prstGeom prst="rect">
            <a:avLst/>
          </a:prstGeom>
          <a:noFill/>
          <a:ln/>
        </p:spPr>
        <p:txBody>
          <a:bodyPr wrap="square" lIns="25400" tIns="25400" rIns="25400" bIns="25400" rtlCol="0" anchor="t">
            <a:normAutofit/>
          </a:bodyPr>
          <a:lstStyle/>
          <a:p>
            <a:pPr algn="l" indent="0" marL="0">
              <a:buNone/>
            </a:pPr>
            <a:r>
              <a:rPr lang="en-US" sz="2550" b="1" dirty="0">
                <a:solidFill>
                  <a:srgbClr val="FFFFFF"/>
                </a:solidFill>
                <a:latin typeface="Arial" pitchFamily="34" charset="0"/>
                <a:ea typeface="Arial" pitchFamily="34" charset="-122"/>
                <a:cs typeface="Arial" pitchFamily="34" charset="-120"/>
              </a:rPr>
              <a:t>25,000 past decisions</a:t>
            </a:r>
            <a:endParaRPr lang="en-US" sz="2550" dirty="0"/>
          </a:p>
        </p:txBody>
      </p:sp>
      <p:sp>
        <p:nvSpPr>
          <p:cNvPr id="7" name="Text 5"/>
          <p:cNvSpPr/>
          <p:nvPr/>
        </p:nvSpPr>
        <p:spPr>
          <a:xfrm>
            <a:off x="1333500" y="4887516"/>
            <a:ext cx="13552073" cy="323850"/>
          </a:xfrm>
          <a:prstGeom prst="rect">
            <a:avLst/>
          </a:prstGeom>
          <a:noFill/>
          <a:ln/>
        </p:spPr>
        <p:txBody>
          <a:bodyPr wrap="square" lIns="25400" tIns="25400" rIns="25400" bIns="25400" rtlCol="0" anchor="t">
            <a:normAutofit/>
          </a:bodyPr>
          <a:lstStyle/>
          <a:p>
            <a:pPr algn="l" indent="0" marL="0">
              <a:buNone/>
            </a:pPr>
            <a:r>
              <a:rPr lang="en-US" sz="1950" dirty="0">
                <a:solidFill>
                  <a:srgbClr val="B2E0D4"/>
                </a:solidFill>
                <a:latin typeface="Arial" pitchFamily="34" charset="0"/>
                <a:ea typeface="Arial" pitchFamily="34" charset="-122"/>
                <a:cs typeface="Arial" pitchFamily="34" charset="-120"/>
              </a:rPr>
              <a:t>Training data · Jan 2022 → Apr 2026 · we know the answers</a:t>
            </a:r>
            <a:endParaRPr lang="en-US" sz="1950" dirty="0"/>
          </a:p>
        </p:txBody>
      </p:sp>
      <p:sp>
        <p:nvSpPr>
          <p:cNvPr id="8" name="Shape 6"/>
          <p:cNvSpPr/>
          <p:nvPr/>
        </p:nvSpPr>
        <p:spPr>
          <a:xfrm>
            <a:off x="14129817" y="4099322"/>
            <a:ext cx="3205683" cy="1428750"/>
          </a:xfrm>
          <a:prstGeom prst="roundRect">
            <a:avLst>
              <a:gd name="adj" fmla="val 5333"/>
            </a:avLst>
          </a:prstGeom>
          <a:solidFill>
            <a:srgbClr val="F7ECE8"/>
          </a:solidFill>
          <a:ln w="19050">
            <a:solidFill>
              <a:srgbClr val="E3B9AC"/>
            </a:solidFill>
            <a:prstDash val="solid"/>
          </a:ln>
        </p:spPr>
      </p:sp>
      <p:sp>
        <p:nvSpPr>
          <p:cNvPr id="9" name="Text 7"/>
          <p:cNvSpPr/>
          <p:nvPr/>
        </p:nvSpPr>
        <p:spPr>
          <a:xfrm>
            <a:off x="14377467" y="4489847"/>
            <a:ext cx="2981422" cy="385763"/>
          </a:xfrm>
          <a:prstGeom prst="rect">
            <a:avLst/>
          </a:prstGeom>
          <a:noFill/>
          <a:ln/>
        </p:spPr>
        <p:txBody>
          <a:bodyPr wrap="square" lIns="25400" tIns="25400" rIns="25400" bIns="25400" rtlCol="0" anchor="t">
            <a:normAutofit/>
          </a:bodyPr>
          <a:lstStyle/>
          <a:p>
            <a:pPr algn="l" indent="0" marL="0">
              <a:buNone/>
            </a:pPr>
            <a:r>
              <a:rPr lang="en-US" sz="2250" b="1" dirty="0">
                <a:solidFill>
                  <a:srgbClr val="B3573F"/>
                </a:solidFill>
                <a:latin typeface="Arial" pitchFamily="34" charset="0"/>
                <a:ea typeface="Arial" pitchFamily="34" charset="-122"/>
                <a:cs typeface="Arial" pitchFamily="34" charset="-120"/>
              </a:rPr>
              <a:t>5,000 new</a:t>
            </a:r>
            <a:endParaRPr lang="en-US" sz="2250" dirty="0"/>
          </a:p>
        </p:txBody>
      </p:sp>
      <p:sp>
        <p:nvSpPr>
          <p:cNvPr id="10" name="Text 8"/>
          <p:cNvSpPr/>
          <p:nvPr/>
        </p:nvSpPr>
        <p:spPr>
          <a:xfrm>
            <a:off x="14377467" y="4875609"/>
            <a:ext cx="2981422" cy="300038"/>
          </a:xfrm>
          <a:prstGeom prst="rect">
            <a:avLst/>
          </a:prstGeom>
          <a:noFill/>
          <a:ln/>
        </p:spPr>
        <p:txBody>
          <a:bodyPr wrap="square" lIns="25400" tIns="25400" rIns="25400" bIns="25400" rtlCol="0" anchor="t">
            <a:normAutofit/>
          </a:bodyPr>
          <a:lstStyle/>
          <a:p>
            <a:pPr algn="l" indent="0" marL="0">
              <a:buNone/>
            </a:pPr>
            <a:r>
              <a:rPr lang="en-US" sz="1800" dirty="0">
                <a:solidFill>
                  <a:srgbClr val="8A5246"/>
                </a:solidFill>
                <a:latin typeface="Arial" pitchFamily="34" charset="0"/>
                <a:ea typeface="Arial" pitchFamily="34" charset="-122"/>
                <a:cs typeface="Arial" pitchFamily="34" charset="-120"/>
              </a:rPr>
              <a:t>May 2026 · predict these</a:t>
            </a:r>
            <a:endParaRPr lang="en-US" sz="1800" dirty="0"/>
          </a:p>
        </p:txBody>
      </p:sp>
      <p:sp>
        <p:nvSpPr>
          <p:cNvPr id="11" name="Text 9"/>
          <p:cNvSpPr/>
          <p:nvPr/>
        </p:nvSpPr>
        <p:spPr>
          <a:xfrm>
            <a:off x="952500" y="5661422"/>
            <a:ext cx="624929" cy="295275"/>
          </a:xfrm>
          <a:prstGeom prst="rect">
            <a:avLst/>
          </a:prstGeom>
          <a:noFill/>
          <a:ln/>
        </p:spPr>
        <p:txBody>
          <a:bodyPr wrap="square" lIns="25400" tIns="25400" rIns="25400" bIns="25400" rtlCol="0" anchor="t">
            <a:normAutofit/>
          </a:bodyPr>
          <a:lstStyle/>
          <a:p>
            <a:pPr algn="l" indent="0" marL="0">
              <a:buNone/>
            </a:pPr>
            <a:r>
              <a:rPr lang="en-US" sz="1800" dirty="0">
                <a:solidFill>
                  <a:srgbClr val="5C7268"/>
                </a:solidFill>
                <a:latin typeface="Courier New" pitchFamily="34" charset="0"/>
                <a:ea typeface="Courier New" pitchFamily="34" charset="-122"/>
                <a:cs typeface="Courier New" pitchFamily="34" charset="-120"/>
              </a:rPr>
              <a:t>2022</a:t>
            </a:r>
            <a:endParaRPr lang="en-US" sz="1800" dirty="0"/>
          </a:p>
        </p:txBody>
      </p:sp>
      <p:sp>
        <p:nvSpPr>
          <p:cNvPr id="12" name="Text 10"/>
          <p:cNvSpPr/>
          <p:nvPr/>
        </p:nvSpPr>
        <p:spPr>
          <a:xfrm>
            <a:off x="6400354" y="5661422"/>
            <a:ext cx="6036022" cy="295275"/>
          </a:xfrm>
          <a:prstGeom prst="rect">
            <a:avLst/>
          </a:prstGeom>
          <a:noFill/>
          <a:ln/>
        </p:spPr>
        <p:txBody>
          <a:bodyPr wrap="square" lIns="25400" tIns="25400" rIns="25400" bIns="25400" rtlCol="0" anchor="t">
            <a:normAutofit/>
          </a:bodyPr>
          <a:lstStyle/>
          <a:p>
            <a:pPr algn="l" indent="0" marL="0">
              <a:buNone/>
            </a:pPr>
            <a:r>
              <a:rPr lang="en-US" sz="1800" dirty="0">
                <a:solidFill>
                  <a:srgbClr val="5C7268"/>
                </a:solidFill>
                <a:latin typeface="Courier New" pitchFamily="34" charset="0"/>
                <a:ea typeface="Courier New" pitchFamily="34" charset="-122"/>
                <a:cs typeface="Courier New" pitchFamily="34" charset="-120"/>
              </a:rPr>
              <a:t>the real task: forecast the next month →</a:t>
            </a:r>
            <a:endParaRPr lang="en-US" sz="1800" dirty="0"/>
          </a:p>
        </p:txBody>
      </p:sp>
      <p:sp>
        <p:nvSpPr>
          <p:cNvPr id="13" name="Text 11"/>
          <p:cNvSpPr/>
          <p:nvPr/>
        </p:nvSpPr>
        <p:spPr>
          <a:xfrm>
            <a:off x="16786771" y="5661422"/>
            <a:ext cx="624929" cy="295275"/>
          </a:xfrm>
          <a:prstGeom prst="rect">
            <a:avLst/>
          </a:prstGeom>
          <a:noFill/>
          <a:ln/>
        </p:spPr>
        <p:txBody>
          <a:bodyPr wrap="square" lIns="25400" tIns="25400" rIns="25400" bIns="25400" rtlCol="0" anchor="t">
            <a:normAutofit/>
          </a:bodyPr>
          <a:lstStyle/>
          <a:p>
            <a:pPr algn="l" indent="0" marL="0">
              <a:buNone/>
            </a:pPr>
            <a:r>
              <a:rPr lang="en-US" sz="1800" dirty="0">
                <a:solidFill>
                  <a:srgbClr val="5C7268"/>
                </a:solidFill>
                <a:latin typeface="Courier New" pitchFamily="34" charset="0"/>
                <a:ea typeface="Courier New" pitchFamily="34" charset="-122"/>
                <a:cs typeface="Courier New" pitchFamily="34" charset="-120"/>
              </a:rPr>
              <a:t>2026</a:t>
            </a:r>
            <a:endParaRPr lang="en-US" sz="1800" dirty="0"/>
          </a:p>
        </p:txBody>
      </p:sp>
      <p:sp>
        <p:nvSpPr>
          <p:cNvPr id="14" name="Text 12"/>
          <p:cNvSpPr/>
          <p:nvPr/>
        </p:nvSpPr>
        <p:spPr>
          <a:xfrm>
            <a:off x="952500" y="6528197"/>
            <a:ext cx="8717280" cy="295275"/>
          </a:xfrm>
          <a:prstGeom prst="rect">
            <a:avLst/>
          </a:prstGeom>
          <a:noFill/>
          <a:ln/>
        </p:spPr>
        <p:txBody>
          <a:bodyPr wrap="square" lIns="25400" tIns="25400" rIns="25400" bIns="25400" rtlCol="0" anchor="t">
            <a:normAutofit/>
          </a:bodyPr>
          <a:lstStyle/>
          <a:p>
            <a:pPr algn="l" indent="0" marL="0">
              <a:buNone/>
            </a:pPr>
            <a:r>
              <a:rPr lang="en-US" sz="1800" dirty="0">
                <a:solidFill>
                  <a:srgbClr val="5C7268"/>
                </a:solidFill>
                <a:latin typeface="Courier New" pitchFamily="34" charset="0"/>
                <a:ea typeface="Courier New" pitchFamily="34" charset="-122"/>
                <a:cs typeface="Courier New" pitchFamily="34" charset="-120"/>
              </a:rPr>
              <a:t>The answer is almost a coin flip</a:t>
            </a:r>
            <a:endParaRPr lang="en-US" sz="1800" dirty="0"/>
          </a:p>
        </p:txBody>
      </p:sp>
      <p:sp>
        <p:nvSpPr>
          <p:cNvPr id="15" name="Shape 13"/>
          <p:cNvSpPr/>
          <p:nvPr/>
        </p:nvSpPr>
        <p:spPr>
          <a:xfrm>
            <a:off x="952500" y="6918722"/>
            <a:ext cx="4120828" cy="609600"/>
          </a:xfrm>
          <a:prstGeom prst="rect">
            <a:avLst/>
          </a:prstGeom>
          <a:solidFill>
            <a:srgbClr val="1A7A57"/>
          </a:solidFill>
          <a:ln/>
        </p:spPr>
      </p:sp>
      <p:sp>
        <p:nvSpPr>
          <p:cNvPr id="16" name="Text 14"/>
          <p:cNvSpPr/>
          <p:nvPr/>
        </p:nvSpPr>
        <p:spPr>
          <a:xfrm>
            <a:off x="1181100" y="6918722"/>
            <a:ext cx="4015852" cy="647700"/>
          </a:xfrm>
          <a:prstGeom prst="rect">
            <a:avLst/>
          </a:prstGeom>
          <a:noFill/>
          <a:ln/>
        </p:spPr>
        <p:txBody>
          <a:bodyPr wrap="square" lIns="25400" tIns="25400" rIns="25400" bIns="25400" rtlCol="0" anchor="ctr">
            <a:normAutofit/>
          </a:bodyPr>
          <a:lstStyle/>
          <a:p>
            <a:pPr algn="l" indent="0" marL="0">
              <a:buNone/>
            </a:pPr>
            <a:r>
              <a:rPr lang="en-US" sz="1950" b="1" dirty="0">
                <a:solidFill>
                  <a:srgbClr val="FFFFFF"/>
                </a:solidFill>
                <a:latin typeface="Arial" pitchFamily="34" charset="0"/>
                <a:ea typeface="Arial" pitchFamily="34" charset="-122"/>
                <a:cs typeface="Arial" pitchFamily="34" charset="-120"/>
              </a:rPr>
              <a:t>52% approved</a:t>
            </a:r>
            <a:endParaRPr lang="en-US" sz="1950" dirty="0"/>
          </a:p>
        </p:txBody>
      </p:sp>
      <p:sp>
        <p:nvSpPr>
          <p:cNvPr id="17" name="Shape 15"/>
          <p:cNvSpPr/>
          <p:nvPr/>
        </p:nvSpPr>
        <p:spPr>
          <a:xfrm>
            <a:off x="5073328" y="6918722"/>
            <a:ext cx="3803898" cy="609600"/>
          </a:xfrm>
          <a:prstGeom prst="rect">
            <a:avLst/>
          </a:prstGeom>
          <a:solidFill>
            <a:srgbClr val="66B3A1"/>
          </a:solidFill>
          <a:ln/>
        </p:spPr>
      </p:sp>
      <p:sp>
        <p:nvSpPr>
          <p:cNvPr id="18" name="Text 16"/>
          <p:cNvSpPr/>
          <p:nvPr/>
        </p:nvSpPr>
        <p:spPr>
          <a:xfrm>
            <a:off x="5301928" y="6918722"/>
            <a:ext cx="3689415" cy="647700"/>
          </a:xfrm>
          <a:prstGeom prst="rect">
            <a:avLst/>
          </a:prstGeom>
          <a:noFill/>
          <a:ln/>
        </p:spPr>
        <p:txBody>
          <a:bodyPr wrap="square" lIns="25400" tIns="25400" rIns="25400" bIns="25400" rtlCol="0" anchor="ctr">
            <a:normAutofit/>
          </a:bodyPr>
          <a:lstStyle/>
          <a:p>
            <a:pPr algn="l" indent="0" marL="0">
              <a:buNone/>
            </a:pPr>
            <a:r>
              <a:rPr lang="en-US" sz="1950" b="1" dirty="0">
                <a:solidFill>
                  <a:srgbClr val="FFFFFF"/>
                </a:solidFill>
                <a:latin typeface="Arial" pitchFamily="34" charset="0"/>
                <a:ea typeface="Arial" pitchFamily="34" charset="-122"/>
                <a:cs typeface="Arial" pitchFamily="34" charset="-120"/>
              </a:rPr>
              <a:t>48% rejected</a:t>
            </a:r>
            <a:endParaRPr lang="en-US" sz="1950" dirty="0"/>
          </a:p>
        </p:txBody>
      </p:sp>
      <p:sp>
        <p:nvSpPr>
          <p:cNvPr id="19" name="Text 17"/>
          <p:cNvSpPr/>
          <p:nvPr/>
        </p:nvSpPr>
        <p:spPr>
          <a:xfrm>
            <a:off x="9410700" y="6655371"/>
            <a:ext cx="8162544" cy="783878"/>
          </a:xfrm>
          <a:prstGeom prst="rect">
            <a:avLst/>
          </a:prstGeom>
          <a:noFill/>
          <a:ln/>
        </p:spPr>
        <p:txBody>
          <a:bodyPr wrap="square" lIns="25400" tIns="25400" rIns="25400" bIns="25400" rtlCol="0" anchor="t">
            <a:normAutofit/>
          </a:bodyPr>
          <a:lstStyle/>
          <a:p>
            <a:pPr algn="l" indent="0" marL="0">
              <a:lnSpc>
                <a:spcPct val="145000"/>
              </a:lnSpc>
              <a:buNone/>
            </a:pPr>
            <a:r>
              <a:rPr lang="en-US" sz="2025" dirty="0">
                <a:solidFill>
                  <a:srgbClr val="244236"/>
                </a:solidFill>
                <a:latin typeface="Arial" pitchFamily="34" charset="0"/>
                <a:ea typeface="Arial" pitchFamily="34" charset="-122"/>
                <a:cs typeface="Arial" pitchFamily="34" charset="-120"/>
              </a:rPr>
              <a:t>Because approvals and rejections are nearly even, </a:t>
            </a:r>
            <a:pPr algn="l" indent="0" marL="0">
              <a:lnSpc>
                <a:spcPct val="145000"/>
              </a:lnSpc>
              <a:buNone/>
            </a:pPr>
            <a:r>
              <a:rPr lang="en-US" sz="2025" b="1" dirty="0">
                <a:solidFill>
                  <a:srgbClr val="063D22"/>
                </a:solidFill>
                <a:latin typeface="Arial" pitchFamily="34" charset="0"/>
                <a:ea typeface="Arial" pitchFamily="34" charset="-122"/>
                <a:cs typeface="Arial" pitchFamily="34" charset="-120"/>
              </a:rPr>
              <a:t>guessing scores only ~52% </a:t>
            </a:r>
            <a:pPr algn="l" indent="0" marL="0">
              <a:lnSpc>
                <a:spcPct val="145000"/>
              </a:lnSpc>
              <a:buNone/>
            </a:pPr>
            <a:r>
              <a:rPr lang="en-US" sz="2025" dirty="0">
                <a:solidFill>
                  <a:srgbClr val="244236"/>
                </a:solidFill>
                <a:latin typeface="Arial" pitchFamily="34" charset="0"/>
                <a:ea typeface="Arial" pitchFamily="34" charset="-122"/>
                <a:cs typeface="Arial" pitchFamily="34" charset="-120"/>
              </a:rPr>
              <a:t>. Every point of accuracy above that is genuinely earned.</a:t>
            </a:r>
            <a:endParaRPr lang="en-US" sz="2025" dirty="0"/>
          </a:p>
        </p:txBody>
      </p:sp>
      <p:sp>
        <p:nvSpPr>
          <p:cNvPr id="20" name="Shape 18"/>
          <p:cNvSpPr/>
          <p:nvPr/>
        </p:nvSpPr>
        <p:spPr>
          <a:xfrm>
            <a:off x="952500" y="9239250"/>
            <a:ext cx="16383000" cy="9525"/>
          </a:xfrm>
          <a:prstGeom prst="rect">
            <a:avLst/>
          </a:prstGeom>
          <a:solidFill>
            <a:srgbClr val="D2E6DD"/>
          </a:solidFill>
          <a:ln/>
        </p:spPr>
      </p:sp>
      <p:sp>
        <p:nvSpPr>
          <p:cNvPr id="21" name="Text 19"/>
          <p:cNvSpPr/>
          <p:nvPr/>
        </p:nvSpPr>
        <p:spPr>
          <a:xfrm>
            <a:off x="952500" y="9458325"/>
            <a:ext cx="16874490" cy="295275"/>
          </a:xfrm>
          <a:prstGeom prst="rect">
            <a:avLst/>
          </a:prstGeom>
          <a:noFill/>
          <a:ln/>
        </p:spPr>
        <p:txBody>
          <a:bodyPr wrap="square" lIns="25400" tIns="25400" rIns="25400" bIns="25400" rtlCol="0" anchor="t">
            <a:normAutofit/>
          </a:bodyPr>
          <a:lstStyle/>
          <a:p>
            <a:pPr algn="l" indent="0" marL="0">
              <a:buNone/>
            </a:pPr>
            <a:r>
              <a:rPr lang="en-US" sz="1800" dirty="0">
                <a:solidFill>
                  <a:srgbClr val="5C7268"/>
                </a:solidFill>
                <a:latin typeface="Courier New" pitchFamily="34" charset="0"/>
                <a:ea typeface="Courier New" pitchFamily="34" charset="-122"/>
                <a:cs typeface="Courier New" pitchFamily="34" charset="-120"/>
              </a:rPr>
              <a:t>Source: competition train / test files · 24 features per application</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sp>
      <p:sp>
        <p:nvSpPr>
          <p:cNvPr id="3" name="Text 1"/>
          <p:cNvSpPr/>
          <p:nvPr/>
        </p:nvSpPr>
        <p:spPr>
          <a:xfrm>
            <a:off x="952500" y="742950"/>
            <a:ext cx="18021300" cy="295275"/>
          </a:xfrm>
          <a:prstGeom prst="rect">
            <a:avLst/>
          </a:prstGeom>
          <a:noFill/>
          <a:ln/>
        </p:spPr>
        <p:txBody>
          <a:bodyPr wrap="square" lIns="25400" tIns="25400" rIns="25400" bIns="25400" rtlCol="0" anchor="t">
            <a:normAutofit/>
          </a:bodyPr>
          <a:lstStyle/>
          <a:p>
            <a:pPr algn="l" indent="0" marL="0">
              <a:buNone/>
            </a:pPr>
            <a:r>
              <a:rPr lang="en-US" sz="1800" spc="225" kern="0" dirty="0">
                <a:solidFill>
                  <a:srgbClr val="007A33"/>
                </a:solidFill>
                <a:latin typeface="Courier New" pitchFamily="34" charset="0"/>
                <a:ea typeface="Courier New" pitchFamily="34" charset="-122"/>
                <a:cs typeface="Courier New" pitchFamily="34" charset="-120"/>
              </a:rPr>
              <a:t>04 · THE TRAP</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a:bodyPr>
          <a:lstStyle/>
          <a:p>
            <a:pPr algn="l" indent="0" marL="0">
              <a:lnSpc>
                <a:spcPct val="112000"/>
              </a:lnSpc>
              <a:buNone/>
            </a:pPr>
            <a:r>
              <a:rPr lang="en-US" sz="3600" b="1" spc="-37" kern="0" dirty="0">
                <a:solidFill>
                  <a:srgbClr val="063D22"/>
                </a:solidFill>
                <a:latin typeface="Arial" pitchFamily="34" charset="0"/>
                <a:ea typeface="Arial" pitchFamily="34" charset="-122"/>
                <a:cs typeface="Arial" pitchFamily="34" charset="-120"/>
              </a:rPr>
              <a:t>The data was deliberately rigged — so we hunted for traps before modeling</a:t>
            </a:r>
            <a:endParaRPr lang="en-US" sz="3600" dirty="0"/>
          </a:p>
        </p:txBody>
      </p:sp>
      <p:sp>
        <p:nvSpPr>
          <p:cNvPr id="5" name="Text 3"/>
          <p:cNvSpPr/>
          <p:nvPr/>
        </p:nvSpPr>
        <p:spPr>
          <a:xfrm>
            <a:off x="952500" y="2350368"/>
            <a:ext cx="8675370" cy="295275"/>
          </a:xfrm>
          <a:prstGeom prst="rect">
            <a:avLst/>
          </a:prstGeom>
          <a:noFill/>
          <a:ln/>
        </p:spPr>
        <p:txBody>
          <a:bodyPr wrap="square" lIns="25400" tIns="25400" rIns="25400" bIns="25400" rtlCol="0" anchor="t">
            <a:normAutofit/>
          </a:bodyPr>
          <a:lstStyle/>
          <a:p>
            <a:pPr algn="l" indent="0" marL="0">
              <a:buNone/>
            </a:pPr>
            <a:r>
              <a:rPr lang="en-US" sz="1800" dirty="0">
                <a:solidFill>
                  <a:srgbClr val="5C7268"/>
                </a:solidFill>
                <a:latin typeface="Courier New" pitchFamily="34" charset="0"/>
                <a:ea typeface="Courier New" pitchFamily="34" charset="-122"/>
                <a:cs typeface="Courier New" pitchFamily="34" charset="-120"/>
              </a:rPr>
              <a:t>One “perfect” column, </a:t>
            </a:r>
            <a:pPr algn="l" indent="0" marL="0">
              <a:buNone/>
            </a:pPr>
            <a:r>
              <a:rPr lang="en-US" sz="1800" dirty="0">
                <a:solidFill>
                  <a:srgbClr val="B3573F"/>
                </a:solidFill>
                <a:latin typeface="Courier New" pitchFamily="34" charset="0"/>
                <a:ea typeface="Courier New" pitchFamily="34" charset="-122"/>
                <a:cs typeface="Courier New" pitchFamily="34" charset="-120"/>
              </a:rPr>
              <a:t>internal_code </a:t>
            </a:r>
            <a:pPr algn="l" indent="0" marL="0">
              <a:buNone/>
            </a:pPr>
            <a:r>
              <a:rPr lang="en-US" sz="1800" dirty="0">
                <a:solidFill>
                  <a:srgbClr val="5C7268"/>
                </a:solidFill>
                <a:latin typeface="Courier New" pitchFamily="34" charset="0"/>
                <a:ea typeface="Courier New" pitchFamily="34" charset="-122"/>
                <a:cs typeface="Courier New" pitchFamily="34" charset="-120"/>
              </a:rPr>
              <a:t>— promise vs reality</a:t>
            </a:r>
            <a:endParaRPr lang="en-US" sz="1800" dirty="0"/>
          </a:p>
        </p:txBody>
      </p:sp>
      <p:sp>
        <p:nvSpPr>
          <p:cNvPr id="6" name="Text 4"/>
          <p:cNvSpPr/>
          <p:nvPr/>
        </p:nvSpPr>
        <p:spPr>
          <a:xfrm>
            <a:off x="9448800" y="2350368"/>
            <a:ext cx="8123301" cy="1649611"/>
          </a:xfrm>
          <a:prstGeom prst="rect">
            <a:avLst/>
          </a:prstGeom>
          <a:noFill/>
          <a:ln/>
        </p:spPr>
        <p:txBody>
          <a:bodyPr wrap="square" lIns="25400" tIns="25400" rIns="25400" bIns="25400" rtlCol="0" anchor="t">
            <a:normAutofit/>
          </a:bodyPr>
          <a:lstStyle/>
          <a:p>
            <a:pPr algn="l" indent="0" marL="0">
              <a:lnSpc>
                <a:spcPct val="145000"/>
              </a:lnSpc>
              <a:buNone/>
            </a:pPr>
            <a:r>
              <a:rPr lang="en-US" sz="2175" dirty="0">
                <a:solidFill>
                  <a:srgbClr val="244236"/>
                </a:solidFill>
                <a:latin typeface="Arial" pitchFamily="34" charset="0"/>
                <a:ea typeface="Arial" pitchFamily="34" charset="-122"/>
                <a:cs typeface="Arial" pitchFamily="34" charset="-120"/>
              </a:rPr>
              <a:t>The column looked like the best predictor in the dataset. A simple integrity check gave it away: it lines up with real risk in the </a:t>
            </a:r>
            <a:pPr algn="l" indent="0" marL="0">
              <a:lnSpc>
                <a:spcPct val="145000"/>
              </a:lnSpc>
              <a:buNone/>
            </a:pPr>
            <a:r>
              <a:rPr lang="en-US" sz="2175" b="1" dirty="0">
                <a:solidFill>
                  <a:srgbClr val="063D22"/>
                </a:solidFill>
                <a:latin typeface="Arial" pitchFamily="34" charset="0"/>
                <a:ea typeface="Arial" pitchFamily="34" charset="-122"/>
                <a:cs typeface="Arial" pitchFamily="34" charset="-120"/>
              </a:rPr>
              <a:t>training data </a:t>
            </a:r>
            <a:pPr algn="l" indent="0" marL="0">
              <a:lnSpc>
                <a:spcPct val="145000"/>
              </a:lnSpc>
              <a:buNone/>
            </a:pPr>
            <a:r>
              <a:rPr lang="en-US" sz="2175" dirty="0">
                <a:solidFill>
                  <a:srgbClr val="244236"/>
                </a:solidFill>
                <a:latin typeface="Arial" pitchFamily="34" charset="0"/>
                <a:ea typeface="Arial" pitchFamily="34" charset="-122"/>
                <a:cs typeface="Arial" pitchFamily="34" charset="-120"/>
              </a:rPr>
              <a:t>but is random noise in the </a:t>
            </a:r>
            <a:pPr algn="l" indent="0" marL="0">
              <a:lnSpc>
                <a:spcPct val="145000"/>
              </a:lnSpc>
              <a:buNone/>
            </a:pPr>
            <a:r>
              <a:rPr lang="en-US" sz="2175" b="1" dirty="0">
                <a:solidFill>
                  <a:srgbClr val="063D22"/>
                </a:solidFill>
                <a:latin typeface="Arial" pitchFamily="34" charset="0"/>
                <a:ea typeface="Arial" pitchFamily="34" charset="-122"/>
                <a:cs typeface="Arial" pitchFamily="34" charset="-120"/>
              </a:rPr>
              <a:t>test data </a:t>
            </a:r>
            <a:pPr algn="l" indent="0" marL="0">
              <a:lnSpc>
                <a:spcPct val="145000"/>
              </a:lnSpc>
              <a:buNone/>
            </a:pPr>
            <a:r>
              <a:rPr lang="en-US" sz="2175" dirty="0">
                <a:solidFill>
                  <a:srgbClr val="244236"/>
                </a:solidFill>
                <a:latin typeface="Arial" pitchFamily="34" charset="0"/>
                <a:ea typeface="Arial" pitchFamily="34" charset="-122"/>
                <a:cs typeface="Arial" pitchFamily="34" charset="-120"/>
              </a:rPr>
              <a:t>— it was scrambled on purpose. </a:t>
            </a:r>
            <a:pPr algn="l" indent="0" marL="0">
              <a:lnSpc>
                <a:spcPct val="145000"/>
              </a:lnSpc>
              <a:buNone/>
            </a:pPr>
            <a:r>
              <a:rPr lang="en-US" sz="2175" b="1" dirty="0">
                <a:solidFill>
                  <a:srgbClr val="B3573F"/>
                </a:solidFill>
                <a:latin typeface="Arial" pitchFamily="34" charset="0"/>
                <a:ea typeface="Arial" pitchFamily="34" charset="-122"/>
                <a:cs typeface="Arial" pitchFamily="34" charset="-120"/>
              </a:rPr>
              <a:t>We dropped it.</a:t>
            </a:r>
            <a:endParaRPr lang="en-US" sz="2175" dirty="0"/>
          </a:p>
        </p:txBody>
      </p:sp>
      <p:sp>
        <p:nvSpPr>
          <p:cNvPr id="7" name="Text 5"/>
          <p:cNvSpPr/>
          <p:nvPr/>
        </p:nvSpPr>
        <p:spPr>
          <a:xfrm>
            <a:off x="9448800" y="4209529"/>
            <a:ext cx="8675370" cy="295275"/>
          </a:xfrm>
          <a:prstGeom prst="rect">
            <a:avLst/>
          </a:prstGeom>
          <a:noFill/>
          <a:ln/>
        </p:spPr>
        <p:txBody>
          <a:bodyPr wrap="square" lIns="25400" tIns="25400" rIns="25400" bIns="25400" rtlCol="0" anchor="t">
            <a:normAutofit/>
          </a:bodyPr>
          <a:lstStyle/>
          <a:p>
            <a:pPr algn="l" indent="0" marL="0">
              <a:buNone/>
            </a:pPr>
            <a:r>
              <a:rPr lang="en-US" sz="1800" dirty="0">
                <a:solidFill>
                  <a:srgbClr val="5C7268"/>
                </a:solidFill>
                <a:latin typeface="Courier New" pitchFamily="34" charset="0"/>
                <a:ea typeface="Courier New" pitchFamily="34" charset="-122"/>
                <a:cs typeface="Courier New" pitchFamily="34" charset="-120"/>
              </a:rPr>
              <a:t>Four traps we caught and handled</a:t>
            </a:r>
            <a:endParaRPr lang="en-US" sz="1800" dirty="0"/>
          </a:p>
        </p:txBody>
      </p:sp>
      <p:sp>
        <p:nvSpPr>
          <p:cNvPr id="8" name="Shape 6"/>
          <p:cNvSpPr/>
          <p:nvPr/>
        </p:nvSpPr>
        <p:spPr>
          <a:xfrm>
            <a:off x="9448800" y="4600054"/>
            <a:ext cx="7886700" cy="600075"/>
          </a:xfrm>
          <a:prstGeom prst="roundRect">
            <a:avLst>
              <a:gd name="adj" fmla="val 12698"/>
            </a:avLst>
          </a:prstGeom>
          <a:solidFill>
            <a:srgbClr val="F7ECE8"/>
          </a:solidFill>
          <a:ln/>
        </p:spPr>
      </p:sp>
      <p:sp>
        <p:nvSpPr>
          <p:cNvPr id="9" name="Text 7"/>
          <p:cNvSpPr/>
          <p:nvPr/>
        </p:nvSpPr>
        <p:spPr>
          <a:xfrm>
            <a:off x="9658350" y="4752454"/>
            <a:ext cx="914400" cy="333375"/>
          </a:xfrm>
          <a:prstGeom prst="rect">
            <a:avLst/>
          </a:prstGeom>
          <a:noFill/>
          <a:ln/>
        </p:spPr>
        <p:txBody>
          <a:bodyPr wrap="square" lIns="25400" tIns="25400" rIns="25400" bIns="25400" rtlCol="0" anchor="t">
            <a:normAutofit/>
          </a:bodyPr>
          <a:lstStyle/>
          <a:p>
            <a:pPr algn="l" indent="0" marL="0">
              <a:buNone/>
            </a:pPr>
            <a:r>
              <a:rPr lang="en-US" sz="1800" dirty="0">
                <a:solidFill>
                  <a:srgbClr val="B3573F"/>
                </a:solidFill>
                <a:latin typeface="Courier New" pitchFamily="34" charset="0"/>
                <a:ea typeface="Courier New" pitchFamily="34" charset="-122"/>
                <a:cs typeface="Courier New" pitchFamily="34" charset="-120"/>
              </a:rPr>
              <a:t>DROP</a:t>
            </a:r>
            <a:endParaRPr lang="en-US" sz="1800" dirty="0"/>
          </a:p>
        </p:txBody>
      </p:sp>
      <p:sp>
        <p:nvSpPr>
          <p:cNvPr id="10" name="Text 8"/>
          <p:cNvSpPr/>
          <p:nvPr/>
        </p:nvSpPr>
        <p:spPr>
          <a:xfrm>
            <a:off x="10648950" y="4757217"/>
            <a:ext cx="5102870" cy="323850"/>
          </a:xfrm>
          <a:prstGeom prst="rect">
            <a:avLst/>
          </a:prstGeom>
          <a:noFill/>
          <a:ln/>
        </p:spPr>
        <p:txBody>
          <a:bodyPr wrap="square" lIns="25400" tIns="25400" rIns="25400" bIns="25400" rtlCol="0" anchor="t">
            <a:normAutofit/>
          </a:bodyPr>
          <a:lstStyle/>
          <a:p>
            <a:pPr algn="l" indent="0" marL="0">
              <a:buNone/>
            </a:pPr>
            <a:r>
              <a:rPr lang="en-US" sz="1950" dirty="0">
                <a:solidFill>
                  <a:srgbClr val="244236"/>
                </a:solidFill>
                <a:latin typeface="Arial" pitchFamily="34" charset="0"/>
                <a:ea typeface="Arial" pitchFamily="34" charset="-122"/>
                <a:cs typeface="Arial" pitchFamily="34" charset="-120"/>
              </a:rPr>
              <a:t>Hidden leak — the “perfect” column above</a:t>
            </a:r>
            <a:endParaRPr lang="en-US" sz="1950" dirty="0"/>
          </a:p>
        </p:txBody>
      </p:sp>
      <p:sp>
        <p:nvSpPr>
          <p:cNvPr id="11" name="Shape 9"/>
          <p:cNvSpPr/>
          <p:nvPr/>
        </p:nvSpPr>
        <p:spPr>
          <a:xfrm>
            <a:off x="9448800" y="5314429"/>
            <a:ext cx="7886700" cy="600075"/>
          </a:xfrm>
          <a:prstGeom prst="roundRect">
            <a:avLst>
              <a:gd name="adj" fmla="val 12698"/>
            </a:avLst>
          </a:prstGeom>
          <a:solidFill>
            <a:srgbClr val="F7ECE8"/>
          </a:solidFill>
          <a:ln/>
        </p:spPr>
      </p:sp>
      <p:sp>
        <p:nvSpPr>
          <p:cNvPr id="12" name="Text 10"/>
          <p:cNvSpPr/>
          <p:nvPr/>
        </p:nvSpPr>
        <p:spPr>
          <a:xfrm>
            <a:off x="9658350" y="5466829"/>
            <a:ext cx="914400" cy="333375"/>
          </a:xfrm>
          <a:prstGeom prst="rect">
            <a:avLst/>
          </a:prstGeom>
          <a:noFill/>
          <a:ln/>
        </p:spPr>
        <p:txBody>
          <a:bodyPr wrap="square" lIns="25400" tIns="25400" rIns="25400" bIns="25400" rtlCol="0" anchor="t">
            <a:normAutofit/>
          </a:bodyPr>
          <a:lstStyle/>
          <a:p>
            <a:pPr algn="l" indent="0" marL="0">
              <a:buNone/>
            </a:pPr>
            <a:r>
              <a:rPr lang="en-US" sz="1800" dirty="0">
                <a:solidFill>
                  <a:srgbClr val="B3573F"/>
                </a:solidFill>
                <a:latin typeface="Courier New" pitchFamily="34" charset="0"/>
                <a:ea typeface="Courier New" pitchFamily="34" charset="-122"/>
                <a:cs typeface="Courier New" pitchFamily="34" charset="-120"/>
              </a:rPr>
              <a:t>DROP</a:t>
            </a:r>
            <a:endParaRPr lang="en-US" sz="1800" dirty="0"/>
          </a:p>
        </p:txBody>
      </p:sp>
      <p:sp>
        <p:nvSpPr>
          <p:cNvPr id="13" name="Text 11"/>
          <p:cNvSpPr/>
          <p:nvPr/>
        </p:nvSpPr>
        <p:spPr>
          <a:xfrm>
            <a:off x="10648950" y="5471592"/>
            <a:ext cx="4497385" cy="323850"/>
          </a:xfrm>
          <a:prstGeom prst="rect">
            <a:avLst/>
          </a:prstGeom>
          <a:noFill/>
          <a:ln/>
        </p:spPr>
        <p:txBody>
          <a:bodyPr wrap="square" lIns="25400" tIns="25400" rIns="25400" bIns="25400" rtlCol="0" anchor="t">
            <a:normAutofit/>
          </a:bodyPr>
          <a:lstStyle/>
          <a:p>
            <a:pPr algn="l" indent="0" marL="0">
              <a:buNone/>
            </a:pPr>
            <a:r>
              <a:rPr lang="en-US" sz="1950" dirty="0">
                <a:solidFill>
                  <a:srgbClr val="244236"/>
                </a:solidFill>
                <a:latin typeface="Arial" pitchFamily="34" charset="0"/>
                <a:ea typeface="Arial" pitchFamily="34" charset="-122"/>
                <a:cs typeface="Arial" pitchFamily="34" charset="-120"/>
              </a:rPr>
              <a:t>A column that vanishes in the test set</a:t>
            </a:r>
            <a:endParaRPr lang="en-US" sz="1950" dirty="0"/>
          </a:p>
        </p:txBody>
      </p:sp>
      <p:sp>
        <p:nvSpPr>
          <p:cNvPr id="14" name="Shape 12"/>
          <p:cNvSpPr/>
          <p:nvPr/>
        </p:nvSpPr>
        <p:spPr>
          <a:xfrm>
            <a:off x="9448800" y="6028804"/>
            <a:ext cx="7886700" cy="600075"/>
          </a:xfrm>
          <a:prstGeom prst="roundRect">
            <a:avLst>
              <a:gd name="adj" fmla="val 12698"/>
            </a:avLst>
          </a:prstGeom>
          <a:solidFill>
            <a:srgbClr val="E6F5EF"/>
          </a:solidFill>
          <a:ln/>
        </p:spPr>
      </p:sp>
      <p:sp>
        <p:nvSpPr>
          <p:cNvPr id="15" name="Text 13"/>
          <p:cNvSpPr/>
          <p:nvPr/>
        </p:nvSpPr>
        <p:spPr>
          <a:xfrm>
            <a:off x="9658350" y="6181204"/>
            <a:ext cx="914400" cy="333375"/>
          </a:xfrm>
          <a:prstGeom prst="rect">
            <a:avLst/>
          </a:prstGeom>
          <a:noFill/>
          <a:ln/>
        </p:spPr>
        <p:txBody>
          <a:bodyPr wrap="square" lIns="25400" tIns="25400" rIns="25400" bIns="25400" rtlCol="0" anchor="t">
            <a:normAutofit/>
          </a:bodyPr>
          <a:lstStyle/>
          <a:p>
            <a:pPr algn="l" indent="0" marL="0">
              <a:buNone/>
            </a:pPr>
            <a:r>
              <a:rPr lang="en-US" sz="1800" dirty="0">
                <a:solidFill>
                  <a:srgbClr val="1A7A57"/>
                </a:solidFill>
                <a:latin typeface="Courier New" pitchFamily="34" charset="0"/>
                <a:ea typeface="Courier New" pitchFamily="34" charset="-122"/>
                <a:cs typeface="Courier New" pitchFamily="34" charset="-120"/>
              </a:rPr>
              <a:t>FIX</a:t>
            </a:r>
            <a:endParaRPr lang="en-US" sz="1800" dirty="0"/>
          </a:p>
        </p:txBody>
      </p:sp>
      <p:sp>
        <p:nvSpPr>
          <p:cNvPr id="16" name="Text 14"/>
          <p:cNvSpPr/>
          <p:nvPr/>
        </p:nvSpPr>
        <p:spPr>
          <a:xfrm>
            <a:off x="10648950" y="6185967"/>
            <a:ext cx="3921614" cy="323850"/>
          </a:xfrm>
          <a:prstGeom prst="rect">
            <a:avLst/>
          </a:prstGeom>
          <a:noFill/>
          <a:ln/>
        </p:spPr>
        <p:txBody>
          <a:bodyPr wrap="square" lIns="25400" tIns="25400" rIns="25400" bIns="25400" rtlCol="0" anchor="t">
            <a:normAutofit/>
          </a:bodyPr>
          <a:lstStyle/>
          <a:p>
            <a:pPr algn="l" indent="0" marL="0">
              <a:buNone/>
            </a:pPr>
            <a:r>
              <a:rPr lang="en-US" sz="1950" dirty="0">
                <a:solidFill>
                  <a:srgbClr val="244236"/>
                </a:solidFill>
                <a:latin typeface="Arial" pitchFamily="34" charset="0"/>
                <a:ea typeface="Arial" pitchFamily="34" charset="-122"/>
                <a:cs typeface="Arial" pitchFamily="34" charset="-120"/>
              </a:rPr>
              <a:t>Incomes recorded in mixed units</a:t>
            </a:r>
            <a:endParaRPr lang="en-US" sz="1950" dirty="0"/>
          </a:p>
        </p:txBody>
      </p:sp>
      <p:sp>
        <p:nvSpPr>
          <p:cNvPr id="17" name="Shape 15"/>
          <p:cNvSpPr/>
          <p:nvPr/>
        </p:nvSpPr>
        <p:spPr>
          <a:xfrm>
            <a:off x="9448800" y="6743179"/>
            <a:ext cx="7886700" cy="600075"/>
          </a:xfrm>
          <a:prstGeom prst="roundRect">
            <a:avLst>
              <a:gd name="adj" fmla="val 12698"/>
            </a:avLst>
          </a:prstGeom>
          <a:solidFill>
            <a:srgbClr val="F7ECE8"/>
          </a:solidFill>
          <a:ln/>
        </p:spPr>
      </p:sp>
      <p:sp>
        <p:nvSpPr>
          <p:cNvPr id="18" name="Text 16"/>
          <p:cNvSpPr/>
          <p:nvPr/>
        </p:nvSpPr>
        <p:spPr>
          <a:xfrm>
            <a:off x="9658350" y="6895579"/>
            <a:ext cx="914400" cy="333375"/>
          </a:xfrm>
          <a:prstGeom prst="rect">
            <a:avLst/>
          </a:prstGeom>
          <a:noFill/>
          <a:ln/>
        </p:spPr>
        <p:txBody>
          <a:bodyPr wrap="square" lIns="25400" tIns="25400" rIns="25400" bIns="25400" rtlCol="0" anchor="t">
            <a:normAutofit/>
          </a:bodyPr>
          <a:lstStyle/>
          <a:p>
            <a:pPr algn="l" indent="0" marL="0">
              <a:buNone/>
            </a:pPr>
            <a:r>
              <a:rPr lang="en-US" sz="1800" dirty="0">
                <a:solidFill>
                  <a:srgbClr val="B3573F"/>
                </a:solidFill>
                <a:latin typeface="Courier New" pitchFamily="34" charset="0"/>
                <a:ea typeface="Courier New" pitchFamily="34" charset="-122"/>
                <a:cs typeface="Courier New" pitchFamily="34" charset="-120"/>
              </a:rPr>
              <a:t>EXCLUDE</a:t>
            </a:r>
            <a:endParaRPr lang="en-US" sz="1800" dirty="0"/>
          </a:p>
        </p:txBody>
      </p:sp>
      <p:sp>
        <p:nvSpPr>
          <p:cNvPr id="19" name="Text 17"/>
          <p:cNvSpPr/>
          <p:nvPr/>
        </p:nvSpPr>
        <p:spPr>
          <a:xfrm>
            <a:off x="10648950" y="6900342"/>
            <a:ext cx="4324752" cy="323850"/>
          </a:xfrm>
          <a:prstGeom prst="rect">
            <a:avLst/>
          </a:prstGeom>
          <a:noFill/>
          <a:ln/>
        </p:spPr>
        <p:txBody>
          <a:bodyPr wrap="square" lIns="25400" tIns="25400" rIns="25400" bIns="25400" rtlCol="0" anchor="t">
            <a:normAutofit/>
          </a:bodyPr>
          <a:lstStyle/>
          <a:p>
            <a:pPr algn="l" indent="0" marL="0">
              <a:buNone/>
            </a:pPr>
            <a:r>
              <a:rPr lang="en-US" sz="1950" dirty="0">
                <a:solidFill>
                  <a:srgbClr val="244236"/>
                </a:solidFill>
                <a:latin typeface="Arial" pitchFamily="34" charset="0"/>
                <a:ea typeface="Arial" pitchFamily="34" charset="-122"/>
                <a:cs typeface="Arial" pitchFamily="34" charset="-120"/>
              </a:rPr>
              <a:t>Race &amp; religion — off-limits (slide 7)</a:t>
            </a:r>
            <a:endParaRPr lang="en-US" sz="1950" dirty="0"/>
          </a:p>
        </p:txBody>
      </p:sp>
      <p:sp>
        <p:nvSpPr>
          <p:cNvPr id="20" name="Shape 18"/>
          <p:cNvSpPr/>
          <p:nvPr/>
        </p:nvSpPr>
        <p:spPr>
          <a:xfrm>
            <a:off x="952500" y="9239250"/>
            <a:ext cx="16383000" cy="9525"/>
          </a:xfrm>
          <a:prstGeom prst="rect">
            <a:avLst/>
          </a:prstGeom>
          <a:solidFill>
            <a:srgbClr val="D2E6DD"/>
          </a:solidFill>
          <a:ln/>
        </p:spPr>
      </p:sp>
      <p:sp>
        <p:nvSpPr>
          <p:cNvPr id="21" name="Text 19"/>
          <p:cNvSpPr/>
          <p:nvPr/>
        </p:nvSpPr>
        <p:spPr>
          <a:xfrm>
            <a:off x="952500" y="9458325"/>
            <a:ext cx="16874490" cy="295275"/>
          </a:xfrm>
          <a:prstGeom prst="rect">
            <a:avLst/>
          </a:prstGeom>
          <a:noFill/>
          <a:ln/>
        </p:spPr>
        <p:txBody>
          <a:bodyPr wrap="square" lIns="25400" tIns="25400" rIns="25400" bIns="25400" rtlCol="0" anchor="t">
            <a:normAutofit/>
          </a:bodyPr>
          <a:lstStyle/>
          <a:p>
            <a:pPr algn="l" indent="0" marL="0">
              <a:buNone/>
            </a:pPr>
            <a:r>
              <a:rPr lang="en-US" sz="1800" dirty="0">
                <a:solidFill>
                  <a:srgbClr val="5C7268"/>
                </a:solidFill>
                <a:latin typeface="Courier New" pitchFamily="34" charset="0"/>
                <a:ea typeface="Courier New" pitchFamily="34" charset="-122"/>
                <a:cs typeface="Courier New" pitchFamily="34" charset="-120"/>
              </a:rPr>
              <a:t>Source: team forensic audit · integrity check on 10 suspect columns</a:t>
            </a:r>
            <a:endParaRPr lang="en-US" sz="1800" dirty="0"/>
          </a:p>
        </p:txBody>
      </p:sp>
      <p:pic>
        <p:nvPicPr>
          <p:cNvPr id="22" name="Picture 21" descr="deck_leak.png"/>
          <p:cNvPicPr>
            <a:picLocks noChangeAspect="1"/>
          </p:cNvPicPr>
          <p:nvPr/>
        </p:nvPicPr>
        <p:blipFill>
          <a:blip r:embed="rId3"/>
          <a:stretch>
            <a:fillRect/>
          </a:stretch>
        </p:blipFill>
        <p:spPr>
          <a:xfrm>
            <a:off x="1188720" y="3200400"/>
            <a:ext cx="7589520" cy="484359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sp>
      <p:sp>
        <p:nvSpPr>
          <p:cNvPr id="3" name="Text 1"/>
          <p:cNvSpPr/>
          <p:nvPr/>
        </p:nvSpPr>
        <p:spPr>
          <a:xfrm>
            <a:off x="952500" y="742950"/>
            <a:ext cx="18021300" cy="295275"/>
          </a:xfrm>
          <a:prstGeom prst="rect">
            <a:avLst/>
          </a:prstGeom>
          <a:noFill/>
          <a:ln/>
        </p:spPr>
        <p:txBody>
          <a:bodyPr wrap="square" lIns="25400" tIns="25400" rIns="25400" bIns="25400" rtlCol="0" anchor="t">
            <a:normAutofit/>
          </a:bodyPr>
          <a:lstStyle/>
          <a:p>
            <a:pPr algn="l" indent="0" marL="0">
              <a:buNone/>
            </a:pPr>
            <a:r>
              <a:rPr lang="en-US" sz="1800" spc="225" kern="0" dirty="0">
                <a:solidFill>
                  <a:srgbClr val="007A33"/>
                </a:solidFill>
                <a:latin typeface="Courier New" pitchFamily="34" charset="0"/>
                <a:ea typeface="Courier New" pitchFamily="34" charset="-122"/>
                <a:cs typeface="Courier New" pitchFamily="34" charset="-120"/>
              </a:rPr>
              <a:t>05 · CLEANING THE DATA</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a:bodyPr>
          <a:lstStyle/>
          <a:p>
            <a:pPr algn="l" indent="0" marL="0">
              <a:lnSpc>
                <a:spcPct val="112000"/>
              </a:lnSpc>
              <a:buNone/>
            </a:pPr>
            <a:r>
              <a:rPr lang="en-US" sz="3600" b="1" spc="-37" kern="0" dirty="0">
                <a:solidFill>
                  <a:srgbClr val="063D22"/>
                </a:solidFill>
                <a:latin typeface="Arial" pitchFamily="34" charset="0"/>
                <a:ea typeface="Arial" pitchFamily="34" charset="-122"/>
                <a:cs typeface="Arial" pitchFamily="34" charset="-120"/>
              </a:rPr>
              <a:t>One pipeline turns 24 messy columns into 20 we can trust</a:t>
            </a:r>
            <a:endParaRPr lang="en-US" sz="3600" dirty="0"/>
          </a:p>
        </p:txBody>
      </p:sp>
      <p:sp>
        <p:nvSpPr>
          <p:cNvPr id="5" name="Shape 3"/>
          <p:cNvSpPr/>
          <p:nvPr/>
        </p:nvSpPr>
        <p:spPr>
          <a:xfrm>
            <a:off x="952500" y="3449092"/>
            <a:ext cx="3363888" cy="2845594"/>
          </a:xfrm>
          <a:prstGeom prst="roundRect">
            <a:avLst>
              <a:gd name="adj" fmla="val 3347"/>
            </a:avLst>
          </a:prstGeom>
          <a:solidFill>
            <a:srgbClr val="E6F5EF"/>
          </a:solidFill>
          <a:ln w="9525">
            <a:solidFill>
              <a:srgbClr val="B2E0D4"/>
            </a:solidFill>
            <a:prstDash val="solid"/>
          </a:ln>
        </p:spPr>
      </p:sp>
      <p:sp>
        <p:nvSpPr>
          <p:cNvPr id="6" name="Text 4"/>
          <p:cNvSpPr/>
          <p:nvPr/>
        </p:nvSpPr>
        <p:spPr>
          <a:xfrm>
            <a:off x="1247775" y="4187577"/>
            <a:ext cx="3050671" cy="661987"/>
          </a:xfrm>
          <a:prstGeom prst="rect">
            <a:avLst/>
          </a:prstGeom>
          <a:noFill/>
          <a:ln/>
        </p:spPr>
        <p:txBody>
          <a:bodyPr wrap="square" lIns="25400" tIns="25400" rIns="25400" bIns="25400" rtlCol="0" anchor="t">
            <a:normAutofit/>
          </a:bodyPr>
          <a:lstStyle/>
          <a:p>
            <a:pPr algn="l" indent="0" marL="0">
              <a:buNone/>
            </a:pPr>
            <a:r>
              <a:rPr lang="en-US" sz="4050" b="1" dirty="0">
                <a:solidFill>
                  <a:srgbClr val="063D22"/>
                </a:solidFill>
                <a:latin typeface="Arial" pitchFamily="34" charset="0"/>
                <a:ea typeface="Arial" pitchFamily="34" charset="-122"/>
                <a:cs typeface="Arial" pitchFamily="34" charset="-120"/>
              </a:rPr>
              <a:t>24</a:t>
            </a:r>
            <a:endParaRPr lang="en-US" sz="4050" dirty="0"/>
          </a:p>
        </p:txBody>
      </p:sp>
      <p:sp>
        <p:nvSpPr>
          <p:cNvPr id="7" name="Text 5"/>
          <p:cNvSpPr/>
          <p:nvPr/>
        </p:nvSpPr>
        <p:spPr>
          <a:xfrm>
            <a:off x="1247775" y="4887664"/>
            <a:ext cx="2856538" cy="706636"/>
          </a:xfrm>
          <a:prstGeom prst="rect">
            <a:avLst/>
          </a:prstGeom>
          <a:noFill/>
          <a:ln/>
        </p:spPr>
        <p:txBody>
          <a:bodyPr wrap="square" lIns="25400" tIns="25400" rIns="25400" bIns="25400" rtlCol="0" anchor="t">
            <a:normAutofit/>
          </a:bodyPr>
          <a:lstStyle/>
          <a:p>
            <a:pPr algn="l" indent="0" marL="0">
              <a:lnSpc>
                <a:spcPct val="135000"/>
              </a:lnSpc>
              <a:buNone/>
            </a:pPr>
            <a:r>
              <a:rPr lang="en-US" sz="1950" dirty="0">
                <a:solidFill>
                  <a:srgbClr val="5C7268"/>
                </a:solidFill>
                <a:latin typeface="Arial" pitchFamily="34" charset="0"/>
                <a:ea typeface="Arial" pitchFamily="34" charset="-122"/>
                <a:cs typeface="Arial" pitchFamily="34" charset="-120"/>
              </a:rPr>
              <a:t>raw columns from several legacy systems</a:t>
            </a:r>
            <a:endParaRPr lang="en-US" sz="1950" dirty="0"/>
          </a:p>
        </p:txBody>
      </p:sp>
      <p:sp>
        <p:nvSpPr>
          <p:cNvPr id="8" name="Text 6"/>
          <p:cNvSpPr/>
          <p:nvPr/>
        </p:nvSpPr>
        <p:spPr>
          <a:xfrm>
            <a:off x="4278288" y="3449092"/>
            <a:ext cx="781050" cy="2883694"/>
          </a:xfrm>
          <a:prstGeom prst="rect">
            <a:avLst/>
          </a:prstGeom>
          <a:noFill/>
          <a:ln/>
        </p:spPr>
        <p:txBody>
          <a:bodyPr wrap="square" lIns="25400" tIns="25400" rIns="25400" bIns="25400" rtlCol="0" anchor="ctr">
            <a:normAutofit/>
          </a:bodyPr>
          <a:lstStyle/>
          <a:p>
            <a:pPr algn="ctr" indent="0" marL="0">
              <a:buNone/>
            </a:pPr>
            <a:r>
              <a:rPr lang="en-US" sz="3000" dirty="0">
                <a:solidFill>
                  <a:srgbClr val="66B3A1"/>
                </a:solidFill>
                <a:latin typeface="Arial" pitchFamily="34" charset="0"/>
                <a:ea typeface="Arial" pitchFamily="34" charset="-122"/>
                <a:cs typeface="Arial" pitchFamily="34" charset="-120"/>
              </a:rPr>
              <a:t>→</a:t>
            </a:r>
            <a:endParaRPr lang="en-US" sz="3000" dirty="0"/>
          </a:p>
        </p:txBody>
      </p:sp>
      <p:sp>
        <p:nvSpPr>
          <p:cNvPr id="9" name="Shape 7"/>
          <p:cNvSpPr/>
          <p:nvPr/>
        </p:nvSpPr>
        <p:spPr>
          <a:xfrm>
            <a:off x="5021238" y="3449092"/>
            <a:ext cx="4057204" cy="2845594"/>
          </a:xfrm>
          <a:prstGeom prst="roundRect">
            <a:avLst>
              <a:gd name="adj" fmla="val 3347"/>
            </a:avLst>
          </a:prstGeom>
          <a:solidFill>
            <a:srgbClr val="FFFFFF"/>
          </a:solidFill>
          <a:ln w="9525">
            <a:solidFill>
              <a:srgbClr val="D2E6DD"/>
            </a:solidFill>
            <a:prstDash val="solid"/>
          </a:ln>
        </p:spPr>
      </p:sp>
      <p:sp>
        <p:nvSpPr>
          <p:cNvPr id="10" name="Text 8"/>
          <p:cNvSpPr/>
          <p:nvPr/>
        </p:nvSpPr>
        <p:spPr>
          <a:xfrm>
            <a:off x="5316513" y="3744367"/>
            <a:ext cx="3813319" cy="295275"/>
          </a:xfrm>
          <a:prstGeom prst="rect">
            <a:avLst/>
          </a:prstGeom>
          <a:noFill/>
          <a:ln/>
        </p:spPr>
        <p:txBody>
          <a:bodyPr wrap="square" lIns="25400" tIns="25400" rIns="25400" bIns="25400" rtlCol="0" anchor="t">
            <a:normAutofit/>
          </a:bodyPr>
          <a:lstStyle/>
          <a:p>
            <a:pPr algn="l" indent="0" marL="0">
              <a:buNone/>
            </a:pPr>
            <a:r>
              <a:rPr lang="en-US" sz="1800" dirty="0">
                <a:solidFill>
                  <a:srgbClr val="007A33"/>
                </a:solidFill>
                <a:latin typeface="Courier New" pitchFamily="34" charset="0"/>
                <a:ea typeface="Courier New" pitchFamily="34" charset="-122"/>
                <a:cs typeface="Courier New" pitchFamily="34" charset="-120"/>
              </a:rPr>
              <a:t>CLEAN &amp; STANDARDISE</a:t>
            </a:r>
            <a:endParaRPr lang="en-US" sz="1800" dirty="0"/>
          </a:p>
        </p:txBody>
      </p:sp>
      <p:sp>
        <p:nvSpPr>
          <p:cNvPr id="11" name="Text 9"/>
          <p:cNvSpPr/>
          <p:nvPr/>
        </p:nvSpPr>
        <p:spPr>
          <a:xfrm>
            <a:off x="5316513" y="4153942"/>
            <a:ext cx="3570653" cy="1883569"/>
          </a:xfrm>
          <a:prstGeom prst="rect">
            <a:avLst/>
          </a:prstGeom>
          <a:noFill/>
          <a:ln/>
        </p:spPr>
        <p:txBody>
          <a:bodyPr wrap="square" lIns="25400" tIns="25400" rIns="25400" bIns="25400" rtlCol="0" anchor="t">
            <a:normAutofit/>
          </a:bodyPr>
          <a:lstStyle/>
          <a:p>
            <a:pPr algn="l" indent="0" marL="0">
              <a:lnSpc>
                <a:spcPct val="155000"/>
              </a:lnSpc>
              <a:buNone/>
            </a:pPr>
            <a:r>
              <a:rPr lang="en-US" sz="1875" dirty="0">
                <a:solidFill>
                  <a:srgbClr val="244236"/>
                </a:solidFill>
                <a:latin typeface="Arial" pitchFamily="34" charset="0"/>
                <a:ea typeface="Arial" pitchFamily="34" charset="-122"/>
                <a:cs typeface="Arial" pitchFamily="34" charset="-120"/>
              </a:rPr>
              <a:t>Fix mixed units · parse two date formats Unify yes/no codes · z-score credit scores (train-only stats) Add missingness flags</a:t>
            </a:r>
            <a:endParaRPr lang="en-US" sz="1875" dirty="0"/>
          </a:p>
        </p:txBody>
      </p:sp>
      <p:sp>
        <p:nvSpPr>
          <p:cNvPr id="12" name="Text 10"/>
          <p:cNvSpPr/>
          <p:nvPr/>
        </p:nvSpPr>
        <p:spPr>
          <a:xfrm>
            <a:off x="9040341" y="3449092"/>
            <a:ext cx="781050" cy="2883694"/>
          </a:xfrm>
          <a:prstGeom prst="rect">
            <a:avLst/>
          </a:prstGeom>
          <a:noFill/>
          <a:ln/>
        </p:spPr>
        <p:txBody>
          <a:bodyPr wrap="square" lIns="25400" tIns="25400" rIns="25400" bIns="25400" rtlCol="0" anchor="ctr">
            <a:normAutofit/>
          </a:bodyPr>
          <a:lstStyle/>
          <a:p>
            <a:pPr algn="ctr" indent="0" marL="0">
              <a:buNone/>
            </a:pPr>
            <a:r>
              <a:rPr lang="en-US" sz="3000" dirty="0">
                <a:solidFill>
                  <a:srgbClr val="66B3A1"/>
                </a:solidFill>
                <a:latin typeface="Arial" pitchFamily="34" charset="0"/>
                <a:ea typeface="Arial" pitchFamily="34" charset="-122"/>
                <a:cs typeface="Arial" pitchFamily="34" charset="-120"/>
              </a:rPr>
              <a:t>→</a:t>
            </a:r>
            <a:endParaRPr lang="en-US" sz="3000" dirty="0"/>
          </a:p>
        </p:txBody>
      </p:sp>
      <p:sp>
        <p:nvSpPr>
          <p:cNvPr id="13" name="Shape 11"/>
          <p:cNvSpPr/>
          <p:nvPr/>
        </p:nvSpPr>
        <p:spPr>
          <a:xfrm>
            <a:off x="9783291" y="3449092"/>
            <a:ext cx="3502521" cy="2845594"/>
          </a:xfrm>
          <a:prstGeom prst="roundRect">
            <a:avLst>
              <a:gd name="adj" fmla="val 3347"/>
            </a:avLst>
          </a:prstGeom>
          <a:solidFill>
            <a:srgbClr val="FFFFFF"/>
          </a:solidFill>
          <a:ln w="9525">
            <a:solidFill>
              <a:srgbClr val="E3B9AC"/>
            </a:solidFill>
            <a:prstDash val="solid"/>
          </a:ln>
        </p:spPr>
      </p:sp>
      <p:sp>
        <p:nvSpPr>
          <p:cNvPr id="14" name="Text 12"/>
          <p:cNvSpPr/>
          <p:nvPr/>
        </p:nvSpPr>
        <p:spPr>
          <a:xfrm>
            <a:off x="10078566" y="4059882"/>
            <a:ext cx="3203168" cy="295275"/>
          </a:xfrm>
          <a:prstGeom prst="rect">
            <a:avLst/>
          </a:prstGeom>
          <a:noFill/>
          <a:ln/>
        </p:spPr>
        <p:txBody>
          <a:bodyPr wrap="square" lIns="25400" tIns="25400" rIns="25400" bIns="25400" rtlCol="0" anchor="t">
            <a:normAutofit/>
          </a:bodyPr>
          <a:lstStyle/>
          <a:p>
            <a:pPr algn="l" indent="0" marL="0">
              <a:buNone/>
            </a:pPr>
            <a:r>
              <a:rPr lang="en-US" sz="1800" dirty="0">
                <a:solidFill>
                  <a:srgbClr val="B3573F"/>
                </a:solidFill>
                <a:latin typeface="Courier New" pitchFamily="34" charset="0"/>
                <a:ea typeface="Courier New" pitchFamily="34" charset="-122"/>
                <a:cs typeface="Courier New" pitchFamily="34" charset="-120"/>
              </a:rPr>
              <a:t>DROP 4 TRAPS</a:t>
            </a:r>
            <a:endParaRPr lang="en-US" sz="1800" dirty="0"/>
          </a:p>
        </p:txBody>
      </p:sp>
      <p:sp>
        <p:nvSpPr>
          <p:cNvPr id="15" name="Text 13"/>
          <p:cNvSpPr/>
          <p:nvPr/>
        </p:nvSpPr>
        <p:spPr>
          <a:xfrm>
            <a:off x="10078566" y="4469457"/>
            <a:ext cx="2999330" cy="1252538"/>
          </a:xfrm>
          <a:prstGeom prst="rect">
            <a:avLst/>
          </a:prstGeom>
          <a:noFill/>
          <a:ln/>
        </p:spPr>
        <p:txBody>
          <a:bodyPr wrap="square" lIns="25400" tIns="25400" rIns="25400" bIns="25400" rtlCol="0" anchor="t">
            <a:normAutofit/>
          </a:bodyPr>
          <a:lstStyle/>
          <a:p>
            <a:pPr algn="l" indent="0" marL="0">
              <a:lnSpc>
                <a:spcPct val="170000"/>
              </a:lnSpc>
              <a:buNone/>
            </a:pPr>
            <a:r>
              <a:rPr lang="en-US" sz="1875" dirty="0">
                <a:solidFill>
                  <a:srgbClr val="244236"/>
                </a:solidFill>
                <a:latin typeface="Arial" pitchFamily="34" charset="0"/>
                <a:ea typeface="Arial" pitchFamily="34" charset="-122"/>
                <a:cs typeface="Arial" pitchFamily="34" charset="-120"/>
              </a:rPr>
              <a:t>the leak · the missing column race · religion</a:t>
            </a:r>
            <a:endParaRPr lang="en-US" sz="1875" dirty="0"/>
          </a:p>
        </p:txBody>
      </p:sp>
      <p:sp>
        <p:nvSpPr>
          <p:cNvPr id="16" name="Text 14"/>
          <p:cNvSpPr/>
          <p:nvPr/>
        </p:nvSpPr>
        <p:spPr>
          <a:xfrm>
            <a:off x="13247712" y="3449092"/>
            <a:ext cx="781050" cy="2883694"/>
          </a:xfrm>
          <a:prstGeom prst="rect">
            <a:avLst/>
          </a:prstGeom>
          <a:noFill/>
          <a:ln/>
        </p:spPr>
        <p:txBody>
          <a:bodyPr wrap="square" lIns="25400" tIns="25400" rIns="25400" bIns="25400" rtlCol="0" anchor="ctr">
            <a:normAutofit/>
          </a:bodyPr>
          <a:lstStyle/>
          <a:p>
            <a:pPr algn="ctr" indent="0" marL="0">
              <a:buNone/>
            </a:pPr>
            <a:r>
              <a:rPr lang="en-US" sz="3000" dirty="0">
                <a:solidFill>
                  <a:srgbClr val="66B3A1"/>
                </a:solidFill>
                <a:latin typeface="Arial" pitchFamily="34" charset="0"/>
                <a:ea typeface="Arial" pitchFamily="34" charset="-122"/>
                <a:cs typeface="Arial" pitchFamily="34" charset="-120"/>
              </a:rPr>
              <a:t>→</a:t>
            </a:r>
            <a:endParaRPr lang="en-US" sz="3000" dirty="0"/>
          </a:p>
        </p:txBody>
      </p:sp>
      <p:sp>
        <p:nvSpPr>
          <p:cNvPr id="17" name="Shape 15"/>
          <p:cNvSpPr/>
          <p:nvPr/>
        </p:nvSpPr>
        <p:spPr>
          <a:xfrm>
            <a:off x="13990662" y="3449092"/>
            <a:ext cx="3344838" cy="2845594"/>
          </a:xfrm>
          <a:prstGeom prst="roundRect">
            <a:avLst>
              <a:gd name="adj" fmla="val 3347"/>
            </a:avLst>
          </a:prstGeom>
          <a:solidFill>
            <a:srgbClr val="1A7A57"/>
          </a:solidFill>
          <a:ln/>
        </p:spPr>
      </p:sp>
      <p:sp>
        <p:nvSpPr>
          <p:cNvPr id="18" name="Text 16"/>
          <p:cNvSpPr/>
          <p:nvPr/>
        </p:nvSpPr>
        <p:spPr>
          <a:xfrm>
            <a:off x="14276412" y="4187577"/>
            <a:ext cx="3050671" cy="661987"/>
          </a:xfrm>
          <a:prstGeom prst="rect">
            <a:avLst/>
          </a:prstGeom>
          <a:noFill/>
          <a:ln/>
        </p:spPr>
        <p:txBody>
          <a:bodyPr wrap="square" lIns="25400" tIns="25400" rIns="25400" bIns="25400" rtlCol="0" anchor="t">
            <a:normAutofit/>
          </a:bodyPr>
          <a:lstStyle/>
          <a:p>
            <a:pPr algn="l" indent="0" marL="0">
              <a:buNone/>
            </a:pPr>
            <a:r>
              <a:rPr lang="en-US" sz="4050" b="1" dirty="0">
                <a:solidFill>
                  <a:srgbClr val="FFFFFF"/>
                </a:solidFill>
                <a:latin typeface="Arial" pitchFamily="34" charset="0"/>
                <a:ea typeface="Arial" pitchFamily="34" charset="-122"/>
                <a:cs typeface="Arial" pitchFamily="34" charset="-120"/>
              </a:rPr>
              <a:t>20</a:t>
            </a:r>
            <a:endParaRPr lang="en-US" sz="4050" dirty="0"/>
          </a:p>
        </p:txBody>
      </p:sp>
      <p:sp>
        <p:nvSpPr>
          <p:cNvPr id="19" name="Text 17"/>
          <p:cNvSpPr/>
          <p:nvPr/>
        </p:nvSpPr>
        <p:spPr>
          <a:xfrm>
            <a:off x="14276412" y="4887664"/>
            <a:ext cx="2856538" cy="706636"/>
          </a:xfrm>
          <a:prstGeom prst="rect">
            <a:avLst/>
          </a:prstGeom>
          <a:noFill/>
          <a:ln/>
        </p:spPr>
        <p:txBody>
          <a:bodyPr wrap="square" lIns="25400" tIns="25400" rIns="25400" bIns="25400" rtlCol="0" anchor="t">
            <a:normAutofit/>
          </a:bodyPr>
          <a:lstStyle/>
          <a:p>
            <a:pPr algn="l" indent="0" marL="0">
              <a:lnSpc>
                <a:spcPct val="135000"/>
              </a:lnSpc>
              <a:buNone/>
            </a:pPr>
            <a:r>
              <a:rPr lang="en-US" sz="1950" dirty="0">
                <a:solidFill>
                  <a:srgbClr val="B2E0D4"/>
                </a:solidFill>
                <a:latin typeface="Arial" pitchFamily="34" charset="0"/>
                <a:ea typeface="Arial" pitchFamily="34" charset="-122"/>
                <a:cs typeface="Arial" pitchFamily="34" charset="-120"/>
              </a:rPr>
              <a:t>features we trust, ready to model</a:t>
            </a:r>
            <a:endParaRPr lang="en-US" sz="1950" dirty="0"/>
          </a:p>
        </p:txBody>
      </p:sp>
      <p:sp>
        <p:nvSpPr>
          <p:cNvPr id="20" name="Text 18"/>
          <p:cNvSpPr/>
          <p:nvPr/>
        </p:nvSpPr>
        <p:spPr>
          <a:xfrm>
            <a:off x="952500" y="6675686"/>
            <a:ext cx="13342620" cy="805755"/>
          </a:xfrm>
          <a:prstGeom prst="rect">
            <a:avLst/>
          </a:prstGeom>
          <a:noFill/>
          <a:ln/>
        </p:spPr>
        <p:txBody>
          <a:bodyPr wrap="square" lIns="25400" tIns="25400" rIns="25400" bIns="25400" rtlCol="0" anchor="t">
            <a:normAutofit/>
          </a:bodyPr>
          <a:lstStyle/>
          <a:p>
            <a:pPr algn="l" indent="0" marL="0">
              <a:lnSpc>
                <a:spcPct val="145000"/>
              </a:lnSpc>
              <a:buNone/>
            </a:pPr>
            <a:r>
              <a:rPr lang="en-US" sz="2025" dirty="0">
                <a:solidFill>
                  <a:srgbClr val="244236"/>
                </a:solidFill>
                <a:latin typeface="Arial" pitchFamily="34" charset="0"/>
                <a:ea typeface="Arial" pitchFamily="34" charset="-122"/>
                <a:cs typeface="Arial" pitchFamily="34" charset="-120"/>
              </a:rPr>
              <a:t>The same script cleans training </a:t>
            </a:r>
            <a:pPr algn="l" indent="0" marL="0">
              <a:lnSpc>
                <a:spcPct val="145000"/>
              </a:lnSpc>
              <a:buNone/>
            </a:pPr>
            <a:r>
              <a:rPr lang="en-US" sz="2025" b="1" dirty="0">
                <a:solidFill>
                  <a:srgbClr val="063D22"/>
                </a:solidFill>
                <a:latin typeface="Arial" pitchFamily="34" charset="0"/>
                <a:ea typeface="Arial" pitchFamily="34" charset="-122"/>
                <a:cs typeface="Arial" pitchFamily="34" charset="-120"/>
              </a:rPr>
              <a:t>and </a:t>
            </a:r>
            <a:pPr algn="l" indent="0" marL="0">
              <a:lnSpc>
                <a:spcPct val="145000"/>
              </a:lnSpc>
              <a:buNone/>
            </a:pPr>
            <a:r>
              <a:rPr lang="en-US" sz="2025" dirty="0">
                <a:solidFill>
                  <a:srgbClr val="244236"/>
                </a:solidFill>
                <a:latin typeface="Arial" pitchFamily="34" charset="0"/>
                <a:ea typeface="Arial" pitchFamily="34" charset="-122"/>
                <a:cs typeface="Arial" pitchFamily="34" charset="-120"/>
              </a:rPr>
              <a:t>test data identically, and adds </a:t>
            </a:r>
            <a:pPr algn="l" indent="0" marL="0">
              <a:lnSpc>
                <a:spcPct val="145000"/>
              </a:lnSpc>
              <a:buNone/>
            </a:pPr>
            <a:r>
              <a:rPr lang="en-US" sz="2025" b="1" dirty="0">
                <a:solidFill>
                  <a:srgbClr val="063D22"/>
                </a:solidFill>
                <a:latin typeface="Arial" pitchFamily="34" charset="0"/>
                <a:ea typeface="Arial" pitchFamily="34" charset="-122"/>
                <a:cs typeface="Arial" pitchFamily="34" charset="-120"/>
              </a:rPr>
              <a:t>missingness flags </a:t>
            </a:r>
            <a:pPr algn="l" indent="0" marL="0">
              <a:lnSpc>
                <a:spcPct val="145000"/>
              </a:lnSpc>
              <a:buNone/>
            </a:pPr>
            <a:r>
              <a:rPr lang="en-US" sz="2025" dirty="0">
                <a:solidFill>
                  <a:srgbClr val="244236"/>
                </a:solidFill>
                <a:latin typeface="Arial" pitchFamily="34" charset="0"/>
                <a:ea typeface="Arial" pitchFamily="34" charset="-122"/>
                <a:cs typeface="Arial" pitchFamily="34" charset="-120"/>
              </a:rPr>
              <a:t>— </a:t>
            </a:r>
            <a:pPr algn="l" indent="0" marL="0">
              <a:lnSpc>
                <a:spcPct val="145000"/>
              </a:lnSpc>
              <a:buNone/>
            </a:pPr>
            <a:r>
              <a:rPr lang="en-US" sz="1800" dirty="0">
                <a:solidFill>
                  <a:srgbClr val="244236"/>
                </a:solidFill>
                <a:latin typeface="Courier New" pitchFamily="34" charset="0"/>
                <a:ea typeface="Courier New" pitchFamily="34" charset="-122"/>
                <a:cs typeface="Courier New" pitchFamily="34" charset="-120"/>
              </a:rPr>
              <a:t>ann_income_missing</a:t>
            </a:r>
            <a:pPr algn="l" indent="0" marL="0">
              <a:lnSpc>
                <a:spcPct val="145000"/>
              </a:lnSpc>
              <a:buNone/>
            </a:pPr>
            <a:r>
              <a:rPr lang="en-US" sz="2025" dirty="0">
                <a:solidFill>
                  <a:srgbClr val="244236"/>
                </a:solidFill>
                <a:latin typeface="Arial" pitchFamily="34" charset="0"/>
                <a:ea typeface="Arial" pitchFamily="34" charset="-122"/>
                <a:cs typeface="Arial" pitchFamily="34" charset="-120"/>
              </a:rPr>
              <a:t>, </a:t>
            </a:r>
            <a:pPr algn="l" indent="0" marL="0">
              <a:lnSpc>
                <a:spcPct val="145000"/>
              </a:lnSpc>
              <a:buNone/>
            </a:pPr>
            <a:r>
              <a:rPr lang="en-US" sz="1800" dirty="0">
                <a:solidFill>
                  <a:srgbClr val="244236"/>
                </a:solidFill>
                <a:latin typeface="Courier New" pitchFamily="34" charset="0"/>
                <a:ea typeface="Courier New" pitchFamily="34" charset="-122"/>
                <a:cs typeface="Courier New" pitchFamily="34" charset="-120"/>
              </a:rPr>
              <a:t>other_income_missing</a:t>
            </a:r>
            <a:pPr algn="l" indent="0" marL="0">
              <a:lnSpc>
                <a:spcPct val="145000"/>
              </a:lnSpc>
              <a:buNone/>
            </a:pPr>
            <a:r>
              <a:rPr lang="en-US" sz="2025" dirty="0">
                <a:solidFill>
                  <a:srgbClr val="244236"/>
                </a:solidFill>
                <a:latin typeface="Arial" pitchFamily="34" charset="0"/>
                <a:ea typeface="Arial" pitchFamily="34" charset="-122"/>
                <a:cs typeface="Arial" pitchFamily="34" charset="-120"/>
              </a:rPr>
              <a:t>, </a:t>
            </a:r>
            <a:pPr algn="l" indent="0" marL="0">
              <a:lnSpc>
                <a:spcPct val="145000"/>
              </a:lnSpc>
              <a:buNone/>
            </a:pPr>
            <a:r>
              <a:rPr lang="en-US" sz="1800" dirty="0">
                <a:solidFill>
                  <a:srgbClr val="244236"/>
                </a:solidFill>
                <a:latin typeface="Courier New" pitchFamily="34" charset="0"/>
                <a:ea typeface="Courier New" pitchFamily="34" charset="-122"/>
                <a:cs typeface="Courier New" pitchFamily="34" charset="-120"/>
              </a:rPr>
              <a:t>prev_default_missing </a:t>
            </a:r>
            <a:pPr algn="l" indent="0" marL="0">
              <a:lnSpc>
                <a:spcPct val="145000"/>
              </a:lnSpc>
              <a:buNone/>
            </a:pPr>
            <a:r>
              <a:rPr lang="en-US" sz="2025" dirty="0">
                <a:solidFill>
                  <a:srgbClr val="244236"/>
                </a:solidFill>
                <a:latin typeface="Arial" pitchFamily="34" charset="0"/>
                <a:ea typeface="Arial" pitchFamily="34" charset="-122"/>
                <a:cs typeface="Arial" pitchFamily="34" charset="-120"/>
              </a:rPr>
              <a:t>— so “value absent” becomes usable signal.</a:t>
            </a:r>
            <a:endParaRPr lang="en-US" sz="2025" dirty="0"/>
          </a:p>
        </p:txBody>
      </p:sp>
      <p:sp>
        <p:nvSpPr>
          <p:cNvPr id="21" name="Text 19"/>
          <p:cNvSpPr/>
          <p:nvPr/>
        </p:nvSpPr>
        <p:spPr>
          <a:xfrm>
            <a:off x="952500" y="7576691"/>
            <a:ext cx="13342620" cy="678061"/>
          </a:xfrm>
          <a:prstGeom prst="rect">
            <a:avLst/>
          </a:prstGeom>
          <a:noFill/>
          <a:ln/>
        </p:spPr>
        <p:txBody>
          <a:bodyPr wrap="square" lIns="25400" tIns="25400" rIns="25400" bIns="25400" rtlCol="0" anchor="t">
            <a:normAutofit/>
          </a:bodyPr>
          <a:lstStyle/>
          <a:p>
            <a:pPr algn="l" indent="0" marL="0">
              <a:lnSpc>
                <a:spcPct val="140000"/>
              </a:lnSpc>
              <a:buNone/>
            </a:pPr>
            <a:r>
              <a:rPr lang="en-US" sz="1800" dirty="0">
                <a:solidFill>
                  <a:srgbClr val="5C7268"/>
                </a:solidFill>
                <a:latin typeface="Arial" pitchFamily="34" charset="0"/>
                <a:ea typeface="Arial" pitchFamily="34" charset="-122"/>
                <a:cs typeface="Arial" pitchFamily="34" charset="-120"/>
              </a:rPr>
              <a:t>Credit scores are z-scored using </a:t>
            </a:r>
            <a:pPr algn="l" indent="0" marL="0">
              <a:lnSpc>
                <a:spcPct val="140000"/>
              </a:lnSpc>
              <a:buNone/>
            </a:pPr>
            <a:r>
              <a:rPr lang="en-US" sz="1800" b="1" dirty="0">
                <a:solidFill>
                  <a:srgbClr val="244236"/>
                </a:solidFill>
                <a:latin typeface="Arial" pitchFamily="34" charset="0"/>
                <a:ea typeface="Arial" pitchFamily="34" charset="-122"/>
                <a:cs typeface="Arial" pitchFamily="34" charset="-120"/>
              </a:rPr>
              <a:t>train-only statistics </a:t>
            </a:r>
            <a:pPr algn="l" indent="0" marL="0">
              <a:lnSpc>
                <a:spcPct val="140000"/>
              </a:lnSpc>
              <a:buNone/>
            </a:pPr>
            <a:r>
              <a:rPr lang="en-US" sz="1800" dirty="0">
                <a:solidFill>
                  <a:srgbClr val="5C7268"/>
                </a:solidFill>
                <a:latin typeface="Arial" pitchFamily="34" charset="0"/>
                <a:ea typeface="Arial" pitchFamily="34" charset="-122"/>
                <a:cs typeface="Arial" pitchFamily="34" charset="-120"/>
              </a:rPr>
              <a:t>(no test leakage) — the correct, leak-free choice; for tree models the accuracy effect is ~0.</a:t>
            </a:r>
            <a:endParaRPr lang="en-US" sz="1800" dirty="0"/>
          </a:p>
        </p:txBody>
      </p:sp>
      <p:sp>
        <p:nvSpPr>
          <p:cNvPr id="22" name="Shape 20"/>
          <p:cNvSpPr/>
          <p:nvPr/>
        </p:nvSpPr>
        <p:spPr>
          <a:xfrm>
            <a:off x="952500" y="9239250"/>
            <a:ext cx="16383000" cy="9525"/>
          </a:xfrm>
          <a:prstGeom prst="rect">
            <a:avLst/>
          </a:prstGeom>
          <a:solidFill>
            <a:srgbClr val="D2E6DD"/>
          </a:solidFill>
          <a:ln/>
        </p:spPr>
      </p:sp>
      <p:sp>
        <p:nvSpPr>
          <p:cNvPr id="23" name="Text 21"/>
          <p:cNvSpPr/>
          <p:nvPr/>
        </p:nvSpPr>
        <p:spPr>
          <a:xfrm>
            <a:off x="952500" y="9458325"/>
            <a:ext cx="16874490" cy="295275"/>
          </a:xfrm>
          <a:prstGeom prst="rect">
            <a:avLst/>
          </a:prstGeom>
          <a:noFill/>
          <a:ln/>
        </p:spPr>
        <p:txBody>
          <a:bodyPr wrap="square" lIns="25400" tIns="25400" rIns="25400" bIns="25400" rtlCol="0" anchor="t">
            <a:normAutofit/>
          </a:bodyPr>
          <a:lstStyle/>
          <a:p>
            <a:pPr algn="l" indent="0" marL="0">
              <a:buNone/>
            </a:pPr>
            <a:r>
              <a:rPr lang="en-US" sz="1800" dirty="0">
                <a:solidFill>
                  <a:srgbClr val="5C7268"/>
                </a:solidFill>
                <a:latin typeface="Courier New" pitchFamily="34" charset="0"/>
                <a:ea typeface="Courier New" pitchFamily="34" charset="-122"/>
                <a:cs typeface="Courier New" pitchFamily="34" charset="-120"/>
              </a:rPr>
              <a:t>Source: src/prep.py · single shared cleaning module</a:t>
            </a:r>
            <a:endParaRPr lang="en-US" sz="1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sp>
      <p:sp>
        <p:nvSpPr>
          <p:cNvPr id="3" name="Text 1"/>
          <p:cNvSpPr/>
          <p:nvPr/>
        </p:nvSpPr>
        <p:spPr>
          <a:xfrm>
            <a:off x="952500" y="742950"/>
            <a:ext cx="18021300" cy="295275"/>
          </a:xfrm>
          <a:prstGeom prst="rect">
            <a:avLst/>
          </a:prstGeom>
          <a:noFill/>
          <a:ln/>
        </p:spPr>
        <p:txBody>
          <a:bodyPr wrap="square" lIns="25400" tIns="25400" rIns="25400" bIns="25400" rtlCol="0" anchor="t">
            <a:normAutofit/>
          </a:bodyPr>
          <a:lstStyle/>
          <a:p>
            <a:pPr algn="l" indent="0" marL="0">
              <a:buNone/>
            </a:pPr>
            <a:r>
              <a:rPr lang="en-US" sz="1800" spc="225" kern="0" dirty="0">
                <a:solidFill>
                  <a:srgbClr val="007A33"/>
                </a:solidFill>
                <a:latin typeface="Courier New" pitchFamily="34" charset="0"/>
                <a:ea typeface="Courier New" pitchFamily="34" charset="-122"/>
                <a:cs typeface="Courier New" pitchFamily="34" charset="-120"/>
              </a:rPr>
              <a:t>06 · THE SIGNALS THAT MATTERED</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a:bodyPr>
          <a:lstStyle/>
          <a:p>
            <a:pPr algn="l" indent="0" marL="0">
              <a:lnSpc>
                <a:spcPct val="112000"/>
              </a:lnSpc>
              <a:buNone/>
            </a:pPr>
            <a:r>
              <a:rPr lang="en-US" sz="3600" b="1" spc="-37" kern="0" dirty="0">
                <a:solidFill>
                  <a:srgbClr val="063D22"/>
                </a:solidFill>
                <a:latin typeface="Arial" pitchFamily="34" charset="0"/>
                <a:ea typeface="Arial" pitchFamily="34" charset="-122"/>
                <a:cs typeface="Arial" pitchFamily="34" charset="-120"/>
              </a:rPr>
              <a:t>Two overlooked signals did most of the work</a:t>
            </a:r>
            <a:endParaRPr lang="en-US" sz="3600" dirty="0"/>
          </a:p>
        </p:txBody>
      </p:sp>
      <p:sp>
        <p:nvSpPr>
          <p:cNvPr id="5" name="Text 3"/>
          <p:cNvSpPr/>
          <p:nvPr/>
        </p:nvSpPr>
        <p:spPr>
          <a:xfrm>
            <a:off x="952500" y="2350368"/>
            <a:ext cx="8717280" cy="385763"/>
          </a:xfrm>
          <a:prstGeom prst="rect">
            <a:avLst/>
          </a:prstGeom>
          <a:noFill/>
          <a:ln/>
        </p:spPr>
        <p:txBody>
          <a:bodyPr wrap="square" lIns="25400" tIns="25400" rIns="25400" bIns="25400" rtlCol="0" anchor="t">
            <a:normAutofit/>
          </a:bodyPr>
          <a:lstStyle/>
          <a:p>
            <a:pPr algn="l" indent="0" marL="0">
              <a:buNone/>
            </a:pPr>
            <a:r>
              <a:rPr lang="en-US" sz="2250" b="1" dirty="0">
                <a:solidFill>
                  <a:srgbClr val="063D22"/>
                </a:solidFill>
                <a:latin typeface="Arial" pitchFamily="34" charset="0"/>
                <a:ea typeface="Arial" pitchFamily="34" charset="-122"/>
                <a:cs typeface="Arial" pitchFamily="34" charset="-120"/>
              </a:rPr>
              <a:t>Risk is worst at the extremes</a:t>
            </a:r>
            <a:endParaRPr lang="en-US" sz="2250" dirty="0"/>
          </a:p>
        </p:txBody>
      </p:sp>
      <p:sp>
        <p:nvSpPr>
          <p:cNvPr id="6" name="Text 4"/>
          <p:cNvSpPr/>
          <p:nvPr/>
        </p:nvSpPr>
        <p:spPr>
          <a:xfrm>
            <a:off x="952500" y="2755181"/>
            <a:ext cx="8162544" cy="681038"/>
          </a:xfrm>
          <a:prstGeom prst="rect">
            <a:avLst/>
          </a:prstGeom>
          <a:noFill/>
          <a:ln/>
        </p:spPr>
        <p:txBody>
          <a:bodyPr wrap="square" lIns="25400" tIns="25400" rIns="25400" bIns="25400" rtlCol="0" anchor="t">
            <a:normAutofit/>
          </a:bodyPr>
          <a:lstStyle/>
          <a:p>
            <a:pPr algn="l" indent="0" marL="0">
              <a:lnSpc>
                <a:spcPct val="135000"/>
              </a:lnSpc>
              <a:buNone/>
            </a:pPr>
            <a:r>
              <a:rPr lang="en-US" sz="1875" dirty="0">
                <a:solidFill>
                  <a:srgbClr val="5C7268"/>
                </a:solidFill>
                <a:latin typeface="Arial" pitchFamily="34" charset="0"/>
                <a:ea typeface="Arial" pitchFamily="34" charset="-122"/>
                <a:cs typeface="Arial" pitchFamily="34" charset="-120"/>
              </a:rPr>
              <a:t>A straight-line check said the risk score was useless. The shape told the real story.</a:t>
            </a:r>
            <a:endParaRPr lang="en-US" sz="1875" dirty="0"/>
          </a:p>
        </p:txBody>
      </p:sp>
      <p:sp>
        <p:nvSpPr>
          <p:cNvPr id="7" name="Text 5"/>
          <p:cNvSpPr/>
          <p:nvPr/>
        </p:nvSpPr>
        <p:spPr>
          <a:xfrm>
            <a:off x="9410700" y="2350368"/>
            <a:ext cx="8717280" cy="385763"/>
          </a:xfrm>
          <a:prstGeom prst="rect">
            <a:avLst/>
          </a:prstGeom>
          <a:noFill/>
          <a:ln/>
        </p:spPr>
        <p:txBody>
          <a:bodyPr wrap="square" lIns="25400" tIns="25400" rIns="25400" bIns="25400" rtlCol="0" anchor="t">
            <a:normAutofit/>
          </a:bodyPr>
          <a:lstStyle/>
          <a:p>
            <a:pPr algn="l" indent="0" marL="0">
              <a:buNone/>
            </a:pPr>
            <a:r>
              <a:rPr lang="en-US" sz="2250" b="1" dirty="0">
                <a:solidFill>
                  <a:srgbClr val="063D22"/>
                </a:solidFill>
                <a:latin typeface="Arial" pitchFamily="34" charset="0"/>
                <a:ea typeface="Arial" pitchFamily="34" charset="-122"/>
                <a:cs typeface="Arial" pitchFamily="34" charset="-120"/>
              </a:rPr>
              <a:t>The analyst’s note gives it away</a:t>
            </a:r>
            <a:endParaRPr lang="en-US" sz="2250" dirty="0"/>
          </a:p>
        </p:txBody>
      </p:sp>
      <p:sp>
        <p:nvSpPr>
          <p:cNvPr id="8" name="Text 6"/>
          <p:cNvSpPr/>
          <p:nvPr/>
        </p:nvSpPr>
        <p:spPr>
          <a:xfrm>
            <a:off x="9410700" y="2755181"/>
            <a:ext cx="8162544" cy="681038"/>
          </a:xfrm>
          <a:prstGeom prst="rect">
            <a:avLst/>
          </a:prstGeom>
          <a:noFill/>
          <a:ln/>
        </p:spPr>
        <p:txBody>
          <a:bodyPr wrap="square" lIns="25400" tIns="25400" rIns="25400" bIns="25400" rtlCol="0" anchor="t">
            <a:normAutofit/>
          </a:bodyPr>
          <a:lstStyle/>
          <a:p>
            <a:pPr algn="l" indent="0" marL="0">
              <a:lnSpc>
                <a:spcPct val="135000"/>
              </a:lnSpc>
              <a:buNone/>
            </a:pPr>
            <a:r>
              <a:rPr lang="en-US" sz="1875" dirty="0">
                <a:solidFill>
                  <a:srgbClr val="5C7268"/>
                </a:solidFill>
                <a:latin typeface="Arial" pitchFamily="34" charset="0"/>
                <a:ea typeface="Arial" pitchFamily="34" charset="-122"/>
                <a:cs typeface="Arial" pitchFamily="34" charset="-120"/>
              </a:rPr>
              <a:t>The free text is really 60 fixed comments in three tiers — no fancy text analysis needed.</a:t>
            </a:r>
            <a:endParaRPr lang="en-US" sz="1875" dirty="0"/>
          </a:p>
        </p:txBody>
      </p:sp>
      <p:sp>
        <p:nvSpPr>
          <p:cNvPr id="9" name="Shape 7"/>
          <p:cNvSpPr/>
          <p:nvPr/>
        </p:nvSpPr>
        <p:spPr>
          <a:xfrm>
            <a:off x="952500" y="9239250"/>
            <a:ext cx="16383000" cy="9525"/>
          </a:xfrm>
          <a:prstGeom prst="rect">
            <a:avLst/>
          </a:prstGeom>
          <a:solidFill>
            <a:srgbClr val="D2E6DD"/>
          </a:solidFill>
          <a:ln/>
        </p:spPr>
      </p:sp>
      <p:sp>
        <p:nvSpPr>
          <p:cNvPr id="10" name="Text 8"/>
          <p:cNvSpPr/>
          <p:nvPr/>
        </p:nvSpPr>
        <p:spPr>
          <a:xfrm>
            <a:off x="952500" y="9458325"/>
            <a:ext cx="16874490" cy="295275"/>
          </a:xfrm>
          <a:prstGeom prst="rect">
            <a:avLst/>
          </a:prstGeom>
          <a:noFill/>
          <a:ln/>
        </p:spPr>
        <p:txBody>
          <a:bodyPr wrap="square" lIns="25400" tIns="25400" rIns="25400" bIns="25400" rtlCol="0" anchor="t">
            <a:normAutofit/>
          </a:bodyPr>
          <a:lstStyle/>
          <a:p>
            <a:pPr algn="l" indent="0" marL="0">
              <a:buNone/>
            </a:pPr>
            <a:r>
              <a:rPr lang="en-US" sz="1800" dirty="0">
                <a:solidFill>
                  <a:srgbClr val="5C7268"/>
                </a:solidFill>
                <a:latin typeface="Courier New" pitchFamily="34" charset="0"/>
                <a:ea typeface="Courier New" pitchFamily="34" charset="-122"/>
                <a:cs typeface="Courier New" pitchFamily="34" charset="-120"/>
              </a:rPr>
              <a:t>Source: team analysis · final model uses 20 features</a:t>
            </a:r>
            <a:endParaRPr lang="en-US" sz="1800" dirty="0"/>
          </a:p>
        </p:txBody>
      </p:sp>
      <p:pic>
        <p:nvPicPr>
          <p:cNvPr id="11" name="Picture 10" descr="deck_risk.png"/>
          <p:cNvPicPr>
            <a:picLocks noChangeAspect="1"/>
          </p:cNvPicPr>
          <p:nvPr/>
        </p:nvPicPr>
        <p:blipFill>
          <a:blip r:embed="rId3"/>
          <a:stretch>
            <a:fillRect/>
          </a:stretch>
        </p:blipFill>
        <p:spPr>
          <a:xfrm>
            <a:off x="950976" y="3703320"/>
            <a:ext cx="8165592" cy="4727448"/>
          </a:xfrm>
          <a:prstGeom prst="rect">
            <a:avLst/>
          </a:prstGeom>
        </p:spPr>
      </p:pic>
      <p:pic>
        <p:nvPicPr>
          <p:cNvPr id="12" name="Picture 11" descr="deck_opinion.png"/>
          <p:cNvPicPr>
            <a:picLocks noChangeAspect="1"/>
          </p:cNvPicPr>
          <p:nvPr/>
        </p:nvPicPr>
        <p:blipFill>
          <a:blip r:embed="rId4"/>
          <a:stretch>
            <a:fillRect/>
          </a:stretch>
        </p:blipFill>
        <p:spPr>
          <a:xfrm>
            <a:off x="9409176" y="3703320"/>
            <a:ext cx="8165592" cy="4727448"/>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A7A57"/>
        </a:solidFill>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E0F7F1">
              <a:alpha val="35000"/>
            </a:srgbClr>
          </a:solidFill>
          <a:ln/>
        </p:spPr>
      </p:sp>
      <p:sp>
        <p:nvSpPr>
          <p:cNvPr id="3" name="Text 1"/>
          <p:cNvSpPr/>
          <p:nvPr/>
        </p:nvSpPr>
        <p:spPr>
          <a:xfrm>
            <a:off x="952500" y="742950"/>
            <a:ext cx="18021300" cy="295275"/>
          </a:xfrm>
          <a:prstGeom prst="rect">
            <a:avLst/>
          </a:prstGeom>
          <a:noFill/>
          <a:ln/>
        </p:spPr>
        <p:txBody>
          <a:bodyPr wrap="square" lIns="25400" tIns="25400" rIns="25400" bIns="25400" rtlCol="0" anchor="t">
            <a:normAutofit/>
          </a:bodyPr>
          <a:lstStyle/>
          <a:p>
            <a:pPr algn="l" indent="0" marL="0">
              <a:buNone/>
            </a:pPr>
            <a:r>
              <a:rPr lang="en-US" sz="1800" spc="225" kern="0" dirty="0">
                <a:solidFill>
                  <a:srgbClr val="B2E0D4"/>
                </a:solidFill>
                <a:latin typeface="Courier New" pitchFamily="34" charset="0"/>
                <a:ea typeface="Courier New" pitchFamily="34" charset="-122"/>
                <a:cs typeface="Courier New" pitchFamily="34" charset="-120"/>
              </a:rPr>
              <a:t>07 · ETHICAL CONSIDERATIONS</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a:bodyPr>
          <a:lstStyle/>
          <a:p>
            <a:pPr algn="l" indent="0" marL="0">
              <a:lnSpc>
                <a:spcPct val="112000"/>
              </a:lnSpc>
              <a:buNone/>
            </a:pPr>
            <a:r>
              <a:rPr lang="en-US" sz="3600" b="1" spc="-37" kern="0" dirty="0">
                <a:solidFill>
                  <a:srgbClr val="FFFFFF"/>
                </a:solidFill>
                <a:latin typeface="Arial" pitchFamily="34" charset="0"/>
                <a:ea typeface="Arial" pitchFamily="34" charset="-122"/>
                <a:cs typeface="Arial" pitchFamily="34" charset="-120"/>
              </a:rPr>
              <a:t>Using race or religion would lift accuracy — we said no</a:t>
            </a:r>
            <a:endParaRPr lang="en-US" sz="3600" dirty="0"/>
          </a:p>
        </p:txBody>
      </p:sp>
      <p:sp>
        <p:nvSpPr>
          <p:cNvPr id="5" name="Text 3"/>
          <p:cNvSpPr/>
          <p:nvPr/>
        </p:nvSpPr>
        <p:spPr>
          <a:xfrm>
            <a:off x="952500" y="4132659"/>
            <a:ext cx="8463774" cy="295275"/>
          </a:xfrm>
          <a:prstGeom prst="rect">
            <a:avLst/>
          </a:prstGeom>
          <a:noFill/>
          <a:ln/>
        </p:spPr>
        <p:txBody>
          <a:bodyPr wrap="square" lIns="25400" tIns="25400" rIns="25400" bIns="25400" rtlCol="0" anchor="t">
            <a:normAutofit/>
          </a:bodyPr>
          <a:lstStyle/>
          <a:p>
            <a:pPr algn="l" indent="0" marL="0">
              <a:buNone/>
            </a:pPr>
            <a:r>
              <a:rPr lang="en-US" sz="1800" dirty="0">
                <a:solidFill>
                  <a:srgbClr val="B2E0D4"/>
                </a:solidFill>
                <a:latin typeface="Courier New" pitchFamily="34" charset="0"/>
                <a:ea typeface="Courier New" pitchFamily="34" charset="-122"/>
                <a:cs typeface="Courier New" pitchFamily="34" charset="-120"/>
              </a:rPr>
              <a:t>Accuracy, with and without protected data</a:t>
            </a:r>
            <a:endParaRPr lang="en-US" sz="1800" dirty="0"/>
          </a:p>
        </p:txBody>
      </p:sp>
      <p:sp>
        <p:nvSpPr>
          <p:cNvPr id="6" name="Text 4"/>
          <p:cNvSpPr/>
          <p:nvPr/>
        </p:nvSpPr>
        <p:spPr>
          <a:xfrm>
            <a:off x="2146176" y="4637484"/>
            <a:ext cx="1354299" cy="500063"/>
          </a:xfrm>
          <a:prstGeom prst="rect">
            <a:avLst/>
          </a:prstGeom>
          <a:noFill/>
          <a:ln/>
        </p:spPr>
        <p:txBody>
          <a:bodyPr wrap="square" lIns="25400" tIns="25400" rIns="25400" bIns="25400" rtlCol="0" anchor="t">
            <a:normAutofit/>
          </a:bodyPr>
          <a:lstStyle/>
          <a:p>
            <a:pPr algn="l" indent="0" marL="0">
              <a:buNone/>
            </a:pPr>
            <a:r>
              <a:rPr lang="en-US" sz="3000" b="1" dirty="0">
                <a:solidFill>
                  <a:srgbClr val="FFFFFF"/>
                </a:solidFill>
                <a:latin typeface="Arial" pitchFamily="34" charset="0"/>
                <a:ea typeface="Arial" pitchFamily="34" charset="-122"/>
                <a:cs typeface="Arial" pitchFamily="34" charset="-120"/>
              </a:rPr>
              <a:t>86.3%</a:t>
            </a:r>
            <a:endParaRPr lang="en-US" sz="3000" dirty="0"/>
          </a:p>
        </p:txBody>
      </p:sp>
      <p:sp>
        <p:nvSpPr>
          <p:cNvPr id="7" name="Shape 5"/>
          <p:cNvSpPr/>
          <p:nvPr/>
        </p:nvSpPr>
        <p:spPr>
          <a:xfrm>
            <a:off x="952500" y="5213747"/>
            <a:ext cx="3618533" cy="1509713"/>
          </a:xfrm>
          <a:prstGeom prst="roundRect">
            <a:avLst>
              <a:gd name="adj" fmla="val 5047"/>
            </a:avLst>
          </a:prstGeom>
          <a:solidFill>
            <a:srgbClr val="B2E0D4"/>
          </a:solidFill>
          <a:ln/>
        </p:spPr>
      </p:sp>
      <p:sp>
        <p:nvSpPr>
          <p:cNvPr id="8" name="Text 6"/>
          <p:cNvSpPr/>
          <p:nvPr/>
        </p:nvSpPr>
        <p:spPr>
          <a:xfrm>
            <a:off x="1717551" y="6875859"/>
            <a:ext cx="2088356" cy="657225"/>
          </a:xfrm>
          <a:prstGeom prst="rect">
            <a:avLst/>
          </a:prstGeom>
          <a:noFill/>
          <a:ln/>
        </p:spPr>
        <p:txBody>
          <a:bodyPr wrap="square" lIns="25400" tIns="25400" rIns="25400" bIns="25400" rtlCol="0" anchor="t">
            <a:normAutofit/>
          </a:bodyPr>
          <a:lstStyle/>
          <a:p>
            <a:pPr algn="ctr" indent="0" marL="0">
              <a:lnSpc>
                <a:spcPct val="130000"/>
              </a:lnSpc>
              <a:buNone/>
            </a:pPr>
            <a:r>
              <a:rPr lang="en-US" sz="1875" dirty="0">
                <a:solidFill>
                  <a:srgbClr val="E0F7F1"/>
                </a:solidFill>
                <a:latin typeface="Arial" pitchFamily="34" charset="0"/>
                <a:ea typeface="Arial" pitchFamily="34" charset="-122"/>
                <a:cs typeface="Arial" pitchFamily="34" charset="-120"/>
              </a:rPr>
              <a:t>Our model (no protected data)</a:t>
            </a:r>
            <a:endParaRPr lang="en-US" sz="1875" dirty="0"/>
          </a:p>
        </p:txBody>
      </p:sp>
      <p:sp>
        <p:nvSpPr>
          <p:cNvPr id="9" name="Text 7"/>
          <p:cNvSpPr/>
          <p:nvPr/>
        </p:nvSpPr>
        <p:spPr>
          <a:xfrm>
            <a:off x="6226746" y="4637484"/>
            <a:ext cx="1343739" cy="500063"/>
          </a:xfrm>
          <a:prstGeom prst="rect">
            <a:avLst/>
          </a:prstGeom>
          <a:noFill/>
          <a:ln/>
        </p:spPr>
        <p:txBody>
          <a:bodyPr wrap="square" lIns="25400" tIns="25400" rIns="25400" bIns="25400" rtlCol="0" anchor="t">
            <a:normAutofit/>
          </a:bodyPr>
          <a:lstStyle/>
          <a:p>
            <a:pPr algn="l" indent="0" marL="0">
              <a:buNone/>
            </a:pPr>
            <a:r>
              <a:rPr lang="en-US" sz="3000" b="1" dirty="0">
                <a:solidFill>
                  <a:srgbClr val="FFFFFF"/>
                </a:solidFill>
                <a:latin typeface="Arial" pitchFamily="34" charset="0"/>
                <a:ea typeface="Arial" pitchFamily="34" charset="-122"/>
                <a:cs typeface="Arial" pitchFamily="34" charset="-120"/>
              </a:rPr>
              <a:t>87.0%</a:t>
            </a:r>
            <a:endParaRPr lang="en-US" sz="3000" dirty="0"/>
          </a:p>
        </p:txBody>
      </p:sp>
      <p:sp>
        <p:nvSpPr>
          <p:cNvPr id="10" name="Shape 8"/>
          <p:cNvSpPr/>
          <p:nvPr/>
        </p:nvSpPr>
        <p:spPr>
          <a:xfrm>
            <a:off x="5028233" y="5213747"/>
            <a:ext cx="3618607" cy="1509713"/>
          </a:xfrm>
          <a:prstGeom prst="roundRect">
            <a:avLst>
              <a:gd name="adj" fmla="val 5047"/>
            </a:avLst>
          </a:prstGeom>
          <a:solidFill>
            <a:srgbClr val="E3B9AC"/>
          </a:solidFill>
          <a:ln/>
        </p:spPr>
      </p:sp>
      <p:sp>
        <p:nvSpPr>
          <p:cNvPr id="11" name="Text 9"/>
          <p:cNvSpPr/>
          <p:nvPr/>
        </p:nvSpPr>
        <p:spPr>
          <a:xfrm>
            <a:off x="6038329" y="6875859"/>
            <a:ext cx="1598340" cy="657225"/>
          </a:xfrm>
          <a:prstGeom prst="rect">
            <a:avLst/>
          </a:prstGeom>
          <a:noFill/>
          <a:ln/>
        </p:spPr>
        <p:txBody>
          <a:bodyPr wrap="square" lIns="25400" tIns="25400" rIns="25400" bIns="25400" rtlCol="0" anchor="t">
            <a:normAutofit/>
          </a:bodyPr>
          <a:lstStyle/>
          <a:p>
            <a:pPr algn="ctr" indent="0" marL="0">
              <a:lnSpc>
                <a:spcPct val="130000"/>
              </a:lnSpc>
              <a:buNone/>
            </a:pPr>
            <a:r>
              <a:rPr lang="en-US" sz="1875" dirty="0">
                <a:solidFill>
                  <a:srgbClr val="E0F7F1"/>
                </a:solidFill>
                <a:latin typeface="Arial" pitchFamily="34" charset="0"/>
                <a:ea typeface="Arial" pitchFamily="34" charset="-122"/>
                <a:cs typeface="Arial" pitchFamily="34" charset="-120"/>
              </a:rPr>
              <a:t>If we added race &amp; religion</a:t>
            </a:r>
            <a:endParaRPr lang="en-US" sz="1875" dirty="0"/>
          </a:p>
        </p:txBody>
      </p:sp>
      <p:sp>
        <p:nvSpPr>
          <p:cNvPr id="12" name="Text 10"/>
          <p:cNvSpPr/>
          <p:nvPr/>
        </p:nvSpPr>
        <p:spPr>
          <a:xfrm>
            <a:off x="9256440" y="3882628"/>
            <a:ext cx="8886966" cy="876300"/>
          </a:xfrm>
          <a:prstGeom prst="rect">
            <a:avLst/>
          </a:prstGeom>
          <a:noFill/>
          <a:ln/>
        </p:spPr>
        <p:txBody>
          <a:bodyPr wrap="square" lIns="25400" tIns="25400" rIns="25400" bIns="25400" rtlCol="0" anchor="t">
            <a:normAutofit/>
          </a:bodyPr>
          <a:lstStyle/>
          <a:p>
            <a:pPr algn="l" indent="0" marL="0">
              <a:lnSpc>
                <a:spcPct val="100000"/>
              </a:lnSpc>
              <a:buNone/>
            </a:pPr>
            <a:r>
              <a:rPr lang="en-US" sz="6600" b="1" dirty="0">
                <a:solidFill>
                  <a:srgbClr val="FFFFFF"/>
                </a:solidFill>
                <a:latin typeface="Arial" pitchFamily="34" charset="0"/>
                <a:ea typeface="Arial" pitchFamily="34" charset="-122"/>
                <a:cs typeface="Arial" pitchFamily="34" charset="-120"/>
              </a:rPr>
              <a:t>+0.7 pt</a:t>
            </a:r>
            <a:endParaRPr lang="en-US" sz="6600" dirty="0"/>
          </a:p>
        </p:txBody>
      </p:sp>
      <p:sp>
        <p:nvSpPr>
          <p:cNvPr id="13" name="Text 11"/>
          <p:cNvSpPr/>
          <p:nvPr/>
        </p:nvSpPr>
        <p:spPr>
          <a:xfrm>
            <a:off x="9256440" y="4835128"/>
            <a:ext cx="8886966" cy="423863"/>
          </a:xfrm>
          <a:prstGeom prst="rect">
            <a:avLst/>
          </a:prstGeom>
          <a:noFill/>
          <a:ln/>
        </p:spPr>
        <p:txBody>
          <a:bodyPr wrap="square" lIns="25400" tIns="25400" rIns="25400" bIns="25400" rtlCol="0" anchor="t">
            <a:normAutofit/>
          </a:bodyPr>
          <a:lstStyle/>
          <a:p>
            <a:pPr algn="l" indent="0" marL="0">
              <a:lnSpc>
                <a:spcPct val="135000"/>
              </a:lnSpc>
              <a:buNone/>
            </a:pPr>
            <a:r>
              <a:rPr lang="en-US" sz="2250" dirty="0">
                <a:solidFill>
                  <a:srgbClr val="B2E0D4"/>
                </a:solidFill>
                <a:latin typeface="Arial" pitchFamily="34" charset="0"/>
                <a:ea typeface="Arial" pitchFamily="34" charset="-122"/>
                <a:cs typeface="Arial" pitchFamily="34" charset="-120"/>
              </a:rPr>
              <a:t>of accuracy — almost certainly enough for first place.</a:t>
            </a:r>
            <a:endParaRPr lang="en-US" sz="2250" dirty="0"/>
          </a:p>
        </p:txBody>
      </p:sp>
      <p:sp>
        <p:nvSpPr>
          <p:cNvPr id="14" name="Text 12"/>
          <p:cNvSpPr/>
          <p:nvPr/>
        </p:nvSpPr>
        <p:spPr>
          <a:xfrm>
            <a:off x="9256440" y="5525691"/>
            <a:ext cx="8321432" cy="1247775"/>
          </a:xfrm>
          <a:prstGeom prst="rect">
            <a:avLst/>
          </a:prstGeom>
          <a:noFill/>
          <a:ln/>
        </p:spPr>
        <p:txBody>
          <a:bodyPr wrap="square" lIns="25400" tIns="25400" rIns="25400" bIns="25400" rtlCol="0" anchor="t">
            <a:normAutofit/>
          </a:bodyPr>
          <a:lstStyle/>
          <a:p>
            <a:pPr algn="l" indent="0" marL="0">
              <a:lnSpc>
                <a:spcPct val="150000"/>
              </a:lnSpc>
              <a:buNone/>
            </a:pPr>
            <a:r>
              <a:rPr lang="en-US" sz="2100" dirty="0">
                <a:solidFill>
                  <a:srgbClr val="E0F7F1"/>
                </a:solidFill>
                <a:latin typeface="Arial" pitchFamily="34" charset="0"/>
                <a:ea typeface="Arial" pitchFamily="34" charset="-122"/>
                <a:cs typeface="Arial" pitchFamily="34" charset="-120"/>
              </a:rPr>
              <a:t>These columns have </a:t>
            </a:r>
            <a:pPr algn="l" indent="0" marL="0">
              <a:lnSpc>
                <a:spcPct val="150000"/>
              </a:lnSpc>
              <a:buNone/>
            </a:pPr>
            <a:r>
              <a:rPr lang="en-US" sz="2100" b="1" dirty="0">
                <a:solidFill>
                  <a:srgbClr val="FFFFFF"/>
                </a:solidFill>
                <a:latin typeface="Arial" pitchFamily="34" charset="0"/>
                <a:ea typeface="Arial" pitchFamily="34" charset="-122"/>
                <a:cs typeface="Arial" pitchFamily="34" charset="-120"/>
              </a:rPr>
              <a:t>no link to real credit risk </a:t>
            </a:r>
            <a:pPr algn="l" indent="0" marL="0">
              <a:lnSpc>
                <a:spcPct val="150000"/>
              </a:lnSpc>
              <a:buNone/>
            </a:pPr>
            <a:r>
              <a:rPr lang="en-US" sz="2100" dirty="0">
                <a:solidFill>
                  <a:srgbClr val="E0F7F1"/>
                </a:solidFill>
                <a:latin typeface="Arial" pitchFamily="34" charset="0"/>
                <a:ea typeface="Arial" pitchFamily="34" charset="-122"/>
                <a:cs typeface="Arial" pitchFamily="34" charset="-120"/>
              </a:rPr>
              <a:t>, yet they change who gets approved — e.g. </a:t>
            </a:r>
            <a:pPr algn="l" indent="0" marL="0">
              <a:lnSpc>
                <a:spcPct val="150000"/>
              </a:lnSpc>
              <a:buNone/>
            </a:pPr>
            <a:r>
              <a:rPr lang="en-US" sz="2100" b="1" dirty="0">
                <a:solidFill>
                  <a:srgbClr val="FFFFFF"/>
                </a:solidFill>
                <a:latin typeface="Arial" pitchFamily="34" charset="0"/>
                <a:ea typeface="Arial" pitchFamily="34" charset="-122"/>
                <a:cs typeface="Arial" pitchFamily="34" charset="-120"/>
              </a:rPr>
              <a:t>56% vs 45% </a:t>
            </a:r>
            <a:pPr algn="l" indent="0" marL="0">
              <a:lnSpc>
                <a:spcPct val="150000"/>
              </a:lnSpc>
              <a:buNone/>
            </a:pPr>
            <a:r>
              <a:rPr lang="en-US" sz="2100" dirty="0">
                <a:solidFill>
                  <a:srgbClr val="E0F7F1"/>
                </a:solidFill>
                <a:latin typeface="Arial" pitchFamily="34" charset="0"/>
                <a:ea typeface="Arial" pitchFamily="34" charset="-122"/>
                <a:cs typeface="Arial" pitchFamily="34" charset="-120"/>
              </a:rPr>
              <a:t>for two groups with the same risk.</a:t>
            </a:r>
            <a:endParaRPr lang="en-US" sz="2100" dirty="0"/>
          </a:p>
        </p:txBody>
      </p:sp>
      <p:sp>
        <p:nvSpPr>
          <p:cNvPr id="15" name="Text 13"/>
          <p:cNvSpPr/>
          <p:nvPr/>
        </p:nvSpPr>
        <p:spPr>
          <a:xfrm>
            <a:off x="9256440" y="6944916"/>
            <a:ext cx="8321432" cy="838200"/>
          </a:xfrm>
          <a:prstGeom prst="rect">
            <a:avLst/>
          </a:prstGeom>
          <a:noFill/>
          <a:ln/>
        </p:spPr>
        <p:txBody>
          <a:bodyPr wrap="square" lIns="25400" tIns="25400" rIns="25400" bIns="25400" rtlCol="0" anchor="t">
            <a:normAutofit/>
          </a:bodyPr>
          <a:lstStyle/>
          <a:p>
            <a:pPr algn="l" indent="0" marL="0">
              <a:lnSpc>
                <a:spcPct val="150000"/>
              </a:lnSpc>
              <a:buNone/>
            </a:pPr>
            <a:r>
              <a:rPr lang="en-US" sz="2100" b="1" dirty="0">
                <a:solidFill>
                  <a:srgbClr val="FFFFFF"/>
                </a:solidFill>
                <a:latin typeface="Arial" pitchFamily="34" charset="0"/>
                <a:ea typeface="Arial" pitchFamily="34" charset="-122"/>
                <a:cs typeface="Arial" pitchFamily="34" charset="-120"/>
              </a:rPr>
              <a:t>So the gain isn’t better prediction. It’s discrimination — and it’s illegal. We left the points on the table.</a:t>
            </a:r>
            <a:endParaRPr lang="en-US" sz="2100" dirty="0"/>
          </a:p>
        </p:txBody>
      </p:sp>
      <p:sp>
        <p:nvSpPr>
          <p:cNvPr id="16" name="Shape 14"/>
          <p:cNvSpPr/>
          <p:nvPr/>
        </p:nvSpPr>
        <p:spPr>
          <a:xfrm>
            <a:off x="952500" y="9239250"/>
            <a:ext cx="16383000" cy="9525"/>
          </a:xfrm>
          <a:prstGeom prst="rect">
            <a:avLst/>
          </a:prstGeom>
          <a:solidFill>
            <a:srgbClr val="E0F7F1">
              <a:alpha val="25000"/>
            </a:srgbClr>
          </a:solidFill>
          <a:ln/>
        </p:spPr>
      </p:sp>
      <p:sp>
        <p:nvSpPr>
          <p:cNvPr id="17" name="Text 15"/>
          <p:cNvSpPr/>
          <p:nvPr/>
        </p:nvSpPr>
        <p:spPr>
          <a:xfrm>
            <a:off x="952500" y="9458325"/>
            <a:ext cx="16874490" cy="295275"/>
          </a:xfrm>
          <a:prstGeom prst="rect">
            <a:avLst/>
          </a:prstGeom>
          <a:noFill/>
          <a:ln/>
        </p:spPr>
        <p:txBody>
          <a:bodyPr wrap="square" lIns="25400" tIns="25400" rIns="25400" bIns="25400" rtlCol="0" anchor="t">
            <a:normAutofit/>
          </a:bodyPr>
          <a:lstStyle/>
          <a:p>
            <a:pPr algn="l" indent="0" marL="0">
              <a:buNone/>
            </a:pPr>
            <a:r>
              <a:rPr lang="en-US" sz="1800" dirty="0">
                <a:solidFill>
                  <a:srgbClr val="B2E0D4"/>
                </a:solidFill>
                <a:latin typeface="Courier New" pitchFamily="34" charset="0"/>
                <a:ea typeface="Courier New" pitchFamily="34" charset="-122"/>
                <a:cs typeface="Courier New" pitchFamily="34" charset="-120"/>
              </a:rPr>
              <a:t>Source: team fairness analysis · ECOA &amp; EU anti-discrimination law</a:t>
            </a: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sp>
      <p:sp>
        <p:nvSpPr>
          <p:cNvPr id="3" name="Text 1"/>
          <p:cNvSpPr/>
          <p:nvPr/>
        </p:nvSpPr>
        <p:spPr>
          <a:xfrm>
            <a:off x="952500" y="742950"/>
            <a:ext cx="18021300" cy="295275"/>
          </a:xfrm>
          <a:prstGeom prst="rect">
            <a:avLst/>
          </a:prstGeom>
          <a:noFill/>
          <a:ln/>
        </p:spPr>
        <p:txBody>
          <a:bodyPr wrap="square" lIns="25400" tIns="25400" rIns="25400" bIns="25400" rtlCol="0" anchor="t">
            <a:normAutofit/>
          </a:bodyPr>
          <a:lstStyle/>
          <a:p>
            <a:pPr algn="l" indent="0" marL="0">
              <a:buNone/>
            </a:pPr>
            <a:r>
              <a:rPr lang="en-US" sz="1800" spc="225" kern="0" dirty="0">
                <a:solidFill>
                  <a:srgbClr val="007A33"/>
                </a:solidFill>
                <a:latin typeface="Courier New" pitchFamily="34" charset="0"/>
                <a:ea typeface="Courier New" pitchFamily="34" charset="-122"/>
                <a:cs typeface="Courier New" pitchFamily="34" charset="-120"/>
              </a:rPr>
              <a:t>08 · HOW WE MODELED</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a:bodyPr>
          <a:lstStyle/>
          <a:p>
            <a:pPr algn="l" indent="0" marL="0">
              <a:lnSpc>
                <a:spcPct val="112000"/>
              </a:lnSpc>
              <a:buNone/>
            </a:pPr>
            <a:r>
              <a:rPr lang="en-US" sz="3600" b="1" spc="-37" kern="0" dirty="0">
                <a:solidFill>
                  <a:srgbClr val="063D22"/>
                </a:solidFill>
                <a:latin typeface="Arial" pitchFamily="34" charset="0"/>
                <a:ea typeface="Arial" pitchFamily="34" charset="-122"/>
                <a:cs typeface="Arial" pitchFamily="34" charset="-120"/>
              </a:rPr>
              <a:t>We judged every model on next-month accuracy, not the leaderboard</a:t>
            </a:r>
            <a:endParaRPr lang="en-US" sz="3600" dirty="0"/>
          </a:p>
        </p:txBody>
      </p:sp>
      <p:sp>
        <p:nvSpPr>
          <p:cNvPr id="5" name="Text 3"/>
          <p:cNvSpPr/>
          <p:nvPr/>
        </p:nvSpPr>
        <p:spPr>
          <a:xfrm>
            <a:off x="952500" y="2350368"/>
            <a:ext cx="9620228" cy="295275"/>
          </a:xfrm>
          <a:prstGeom prst="rect">
            <a:avLst/>
          </a:prstGeom>
          <a:noFill/>
          <a:ln/>
        </p:spPr>
        <p:txBody>
          <a:bodyPr wrap="square" lIns="25400" tIns="25400" rIns="25400" bIns="25400" rtlCol="0" anchor="t">
            <a:normAutofit/>
          </a:bodyPr>
          <a:lstStyle/>
          <a:p>
            <a:pPr algn="l" indent="0" marL="0">
              <a:buNone/>
            </a:pPr>
            <a:r>
              <a:rPr lang="en-US" sz="1800" dirty="0">
                <a:solidFill>
                  <a:srgbClr val="5C7268"/>
                </a:solidFill>
                <a:latin typeface="Courier New" pitchFamily="34" charset="0"/>
                <a:ea typeface="Courier New" pitchFamily="34" charset="-122"/>
                <a:cs typeface="Courier New" pitchFamily="34" charset="-120"/>
              </a:rPr>
              <a:t>Model selection · 5-fold accuracy</a:t>
            </a:r>
            <a:endParaRPr lang="en-US" sz="1800" dirty="0"/>
          </a:p>
        </p:txBody>
      </p:sp>
      <p:sp>
        <p:nvSpPr>
          <p:cNvPr id="6" name="Text 4"/>
          <p:cNvSpPr/>
          <p:nvPr/>
        </p:nvSpPr>
        <p:spPr>
          <a:xfrm>
            <a:off x="952500" y="4167039"/>
            <a:ext cx="2305050" cy="323850"/>
          </a:xfrm>
          <a:prstGeom prst="rect">
            <a:avLst/>
          </a:prstGeom>
          <a:noFill/>
          <a:ln/>
        </p:spPr>
        <p:txBody>
          <a:bodyPr wrap="square" lIns="25400" tIns="25400" rIns="25400" bIns="25400" rtlCol="0" anchor="t">
            <a:normAutofit/>
          </a:bodyPr>
          <a:lstStyle/>
          <a:p>
            <a:pPr algn="l" indent="0" marL="0">
              <a:buNone/>
            </a:pPr>
            <a:r>
              <a:rPr lang="en-US" sz="1950" dirty="0">
                <a:solidFill>
                  <a:srgbClr val="244236"/>
                </a:solidFill>
                <a:latin typeface="Arial" pitchFamily="34" charset="0"/>
                <a:ea typeface="Arial" pitchFamily="34" charset="-122"/>
                <a:cs typeface="Arial" pitchFamily="34" charset="-120"/>
              </a:rPr>
              <a:t>Naive Bayes</a:t>
            </a:r>
            <a:endParaRPr lang="en-US" sz="1950" dirty="0"/>
          </a:p>
        </p:txBody>
      </p:sp>
      <p:sp>
        <p:nvSpPr>
          <p:cNvPr id="7" name="Shape 5"/>
          <p:cNvSpPr/>
          <p:nvPr/>
        </p:nvSpPr>
        <p:spPr>
          <a:xfrm>
            <a:off x="3219450" y="4128939"/>
            <a:ext cx="5392862" cy="361950"/>
          </a:xfrm>
          <a:prstGeom prst="roundRect">
            <a:avLst>
              <a:gd name="adj" fmla="val 15789"/>
            </a:avLst>
          </a:prstGeom>
          <a:solidFill>
            <a:srgbClr val="E6F5EF"/>
          </a:solidFill>
          <a:ln/>
        </p:spPr>
      </p:sp>
      <p:sp>
        <p:nvSpPr>
          <p:cNvPr id="8" name="Shape 6"/>
          <p:cNvSpPr/>
          <p:nvPr/>
        </p:nvSpPr>
        <p:spPr>
          <a:xfrm>
            <a:off x="3219450" y="4128939"/>
            <a:ext cx="2157115" cy="361950"/>
          </a:xfrm>
          <a:prstGeom prst="rect">
            <a:avLst/>
          </a:prstGeom>
          <a:solidFill>
            <a:srgbClr val="A7C8BC"/>
          </a:solidFill>
          <a:ln/>
        </p:spPr>
      </p:sp>
      <p:sp>
        <p:nvSpPr>
          <p:cNvPr id="9" name="Text 7"/>
          <p:cNvSpPr/>
          <p:nvPr/>
        </p:nvSpPr>
        <p:spPr>
          <a:xfrm>
            <a:off x="8707562" y="4174182"/>
            <a:ext cx="990600" cy="309563"/>
          </a:xfrm>
          <a:prstGeom prst="rect">
            <a:avLst/>
          </a:prstGeom>
          <a:noFill/>
          <a:ln/>
        </p:spPr>
        <p:txBody>
          <a:bodyPr wrap="square" lIns="25400" tIns="25400" rIns="25400" bIns="25400" rtlCol="0" anchor="t">
            <a:normAutofit/>
          </a:bodyPr>
          <a:lstStyle/>
          <a:p>
            <a:pPr algn="r" indent="0" marL="0">
              <a:buNone/>
            </a:pPr>
            <a:r>
              <a:rPr lang="en-US" sz="1875" dirty="0">
                <a:solidFill>
                  <a:srgbClr val="5C7268"/>
                </a:solidFill>
                <a:latin typeface="Courier New" pitchFamily="34" charset="0"/>
                <a:ea typeface="Courier New" pitchFamily="34" charset="-122"/>
                <a:cs typeface="Courier New" pitchFamily="34" charset="-120"/>
              </a:rPr>
              <a:t>0.760</a:t>
            </a:r>
            <a:endParaRPr lang="en-US" sz="1875" dirty="0"/>
          </a:p>
        </p:txBody>
      </p:sp>
      <p:sp>
        <p:nvSpPr>
          <p:cNvPr id="10" name="Text 8"/>
          <p:cNvSpPr/>
          <p:nvPr/>
        </p:nvSpPr>
        <p:spPr>
          <a:xfrm>
            <a:off x="952500" y="4700439"/>
            <a:ext cx="2305050" cy="323850"/>
          </a:xfrm>
          <a:prstGeom prst="rect">
            <a:avLst/>
          </a:prstGeom>
          <a:noFill/>
          <a:ln/>
        </p:spPr>
        <p:txBody>
          <a:bodyPr wrap="square" lIns="25400" tIns="25400" rIns="25400" bIns="25400" rtlCol="0" anchor="t">
            <a:normAutofit/>
          </a:bodyPr>
          <a:lstStyle/>
          <a:p>
            <a:pPr algn="l" indent="0" marL="0">
              <a:buNone/>
            </a:pPr>
            <a:r>
              <a:rPr lang="en-US" sz="1950" dirty="0">
                <a:solidFill>
                  <a:srgbClr val="244236"/>
                </a:solidFill>
                <a:latin typeface="Arial" pitchFamily="34" charset="0"/>
                <a:ea typeface="Arial" pitchFamily="34" charset="-122"/>
                <a:cs typeface="Arial" pitchFamily="34" charset="-120"/>
              </a:rPr>
              <a:t>LDA</a:t>
            </a:r>
            <a:endParaRPr lang="en-US" sz="1950" dirty="0"/>
          </a:p>
        </p:txBody>
      </p:sp>
      <p:sp>
        <p:nvSpPr>
          <p:cNvPr id="11" name="Shape 9"/>
          <p:cNvSpPr/>
          <p:nvPr/>
        </p:nvSpPr>
        <p:spPr>
          <a:xfrm>
            <a:off x="3219450" y="4662339"/>
            <a:ext cx="5392862" cy="361950"/>
          </a:xfrm>
          <a:prstGeom prst="roundRect">
            <a:avLst>
              <a:gd name="adj" fmla="val 15789"/>
            </a:avLst>
          </a:prstGeom>
          <a:solidFill>
            <a:srgbClr val="E6F5EF"/>
          </a:solidFill>
          <a:ln/>
        </p:spPr>
      </p:sp>
      <p:sp>
        <p:nvSpPr>
          <p:cNvPr id="12" name="Shape 10"/>
          <p:cNvSpPr/>
          <p:nvPr/>
        </p:nvSpPr>
        <p:spPr>
          <a:xfrm>
            <a:off x="3219450" y="4662339"/>
            <a:ext cx="2750344" cy="361950"/>
          </a:xfrm>
          <a:prstGeom prst="rect">
            <a:avLst/>
          </a:prstGeom>
          <a:solidFill>
            <a:srgbClr val="A7C8BC"/>
          </a:solidFill>
          <a:ln/>
        </p:spPr>
      </p:sp>
      <p:sp>
        <p:nvSpPr>
          <p:cNvPr id="13" name="Text 11"/>
          <p:cNvSpPr/>
          <p:nvPr/>
        </p:nvSpPr>
        <p:spPr>
          <a:xfrm>
            <a:off x="8707562" y="4707582"/>
            <a:ext cx="990600" cy="309563"/>
          </a:xfrm>
          <a:prstGeom prst="rect">
            <a:avLst/>
          </a:prstGeom>
          <a:noFill/>
          <a:ln/>
        </p:spPr>
        <p:txBody>
          <a:bodyPr wrap="square" lIns="25400" tIns="25400" rIns="25400" bIns="25400" rtlCol="0" anchor="t">
            <a:normAutofit/>
          </a:bodyPr>
          <a:lstStyle/>
          <a:p>
            <a:pPr algn="r" indent="0" marL="0">
              <a:buNone/>
            </a:pPr>
            <a:r>
              <a:rPr lang="en-US" sz="1875" dirty="0">
                <a:solidFill>
                  <a:srgbClr val="5C7268"/>
                </a:solidFill>
                <a:latin typeface="Courier New" pitchFamily="34" charset="0"/>
                <a:ea typeface="Courier New" pitchFamily="34" charset="-122"/>
                <a:cs typeface="Courier New" pitchFamily="34" charset="-120"/>
              </a:rPr>
              <a:t>0.777</a:t>
            </a:r>
            <a:endParaRPr lang="en-US" sz="1875" dirty="0"/>
          </a:p>
        </p:txBody>
      </p:sp>
      <p:sp>
        <p:nvSpPr>
          <p:cNvPr id="14" name="Text 12"/>
          <p:cNvSpPr/>
          <p:nvPr/>
        </p:nvSpPr>
        <p:spPr>
          <a:xfrm>
            <a:off x="952500" y="5195739"/>
            <a:ext cx="2171700" cy="609600"/>
          </a:xfrm>
          <a:prstGeom prst="rect">
            <a:avLst/>
          </a:prstGeom>
          <a:noFill/>
          <a:ln/>
        </p:spPr>
        <p:txBody>
          <a:bodyPr wrap="square" lIns="25400" tIns="25400" rIns="25400" bIns="25400" rtlCol="0" anchor="t">
            <a:normAutofit/>
          </a:bodyPr>
          <a:lstStyle/>
          <a:p>
            <a:pPr algn="l" indent="0" marL="0">
              <a:buNone/>
            </a:pPr>
            <a:r>
              <a:rPr lang="en-US" sz="1950" dirty="0">
                <a:solidFill>
                  <a:srgbClr val="244236"/>
                </a:solidFill>
                <a:latin typeface="Arial" pitchFamily="34" charset="0"/>
                <a:ea typeface="Arial" pitchFamily="34" charset="-122"/>
                <a:cs typeface="Arial" pitchFamily="34" charset="-120"/>
              </a:rPr>
              <a:t>Logistic Regression</a:t>
            </a:r>
            <a:endParaRPr lang="en-US" sz="1950" dirty="0"/>
          </a:p>
        </p:txBody>
      </p:sp>
      <p:sp>
        <p:nvSpPr>
          <p:cNvPr id="15" name="Shape 13"/>
          <p:cNvSpPr/>
          <p:nvPr/>
        </p:nvSpPr>
        <p:spPr>
          <a:xfrm>
            <a:off x="3219450" y="5300514"/>
            <a:ext cx="5392862" cy="361950"/>
          </a:xfrm>
          <a:prstGeom prst="roundRect">
            <a:avLst>
              <a:gd name="adj" fmla="val 15789"/>
            </a:avLst>
          </a:prstGeom>
          <a:solidFill>
            <a:srgbClr val="E6F5EF"/>
          </a:solidFill>
          <a:ln/>
        </p:spPr>
      </p:sp>
      <p:sp>
        <p:nvSpPr>
          <p:cNvPr id="16" name="Shape 14"/>
          <p:cNvSpPr/>
          <p:nvPr/>
        </p:nvSpPr>
        <p:spPr>
          <a:xfrm>
            <a:off x="3219450" y="5300514"/>
            <a:ext cx="3019946" cy="361950"/>
          </a:xfrm>
          <a:prstGeom prst="rect">
            <a:avLst/>
          </a:prstGeom>
          <a:solidFill>
            <a:srgbClr val="A7C8BC"/>
          </a:solidFill>
          <a:ln/>
        </p:spPr>
      </p:sp>
      <p:sp>
        <p:nvSpPr>
          <p:cNvPr id="17" name="Text 15"/>
          <p:cNvSpPr/>
          <p:nvPr/>
        </p:nvSpPr>
        <p:spPr>
          <a:xfrm>
            <a:off x="8707562" y="5345757"/>
            <a:ext cx="990600" cy="309563"/>
          </a:xfrm>
          <a:prstGeom prst="rect">
            <a:avLst/>
          </a:prstGeom>
          <a:noFill/>
          <a:ln/>
        </p:spPr>
        <p:txBody>
          <a:bodyPr wrap="square" lIns="25400" tIns="25400" rIns="25400" bIns="25400" rtlCol="0" anchor="t">
            <a:normAutofit/>
          </a:bodyPr>
          <a:lstStyle/>
          <a:p>
            <a:pPr algn="r" indent="0" marL="0">
              <a:buNone/>
            </a:pPr>
            <a:r>
              <a:rPr lang="en-US" sz="1875" dirty="0">
                <a:solidFill>
                  <a:srgbClr val="5C7268"/>
                </a:solidFill>
                <a:latin typeface="Courier New" pitchFamily="34" charset="0"/>
                <a:ea typeface="Courier New" pitchFamily="34" charset="-122"/>
                <a:cs typeface="Courier New" pitchFamily="34" charset="-120"/>
              </a:rPr>
              <a:t>0.784</a:t>
            </a:r>
            <a:endParaRPr lang="en-US" sz="1875" dirty="0"/>
          </a:p>
        </p:txBody>
      </p:sp>
      <p:sp>
        <p:nvSpPr>
          <p:cNvPr id="18" name="Text 16"/>
          <p:cNvSpPr/>
          <p:nvPr/>
        </p:nvSpPr>
        <p:spPr>
          <a:xfrm>
            <a:off x="952500" y="5976789"/>
            <a:ext cx="2305050" cy="323850"/>
          </a:xfrm>
          <a:prstGeom prst="rect">
            <a:avLst/>
          </a:prstGeom>
          <a:noFill/>
          <a:ln/>
        </p:spPr>
        <p:txBody>
          <a:bodyPr wrap="square" lIns="25400" tIns="25400" rIns="25400" bIns="25400" rtlCol="0" anchor="t">
            <a:normAutofit/>
          </a:bodyPr>
          <a:lstStyle/>
          <a:p>
            <a:pPr algn="l" indent="0" marL="0">
              <a:buNone/>
            </a:pPr>
            <a:r>
              <a:rPr lang="en-US" sz="1950" dirty="0">
                <a:solidFill>
                  <a:srgbClr val="244236"/>
                </a:solidFill>
                <a:latin typeface="Arial" pitchFamily="34" charset="0"/>
                <a:ea typeface="Arial" pitchFamily="34" charset="-122"/>
                <a:cs typeface="Arial" pitchFamily="34" charset="-120"/>
              </a:rPr>
              <a:t>Random Forest</a:t>
            </a:r>
            <a:endParaRPr lang="en-US" sz="1950" dirty="0"/>
          </a:p>
        </p:txBody>
      </p:sp>
      <p:sp>
        <p:nvSpPr>
          <p:cNvPr id="19" name="Shape 17"/>
          <p:cNvSpPr/>
          <p:nvPr/>
        </p:nvSpPr>
        <p:spPr>
          <a:xfrm>
            <a:off x="3219450" y="5938689"/>
            <a:ext cx="5392862" cy="361950"/>
          </a:xfrm>
          <a:prstGeom prst="roundRect">
            <a:avLst>
              <a:gd name="adj" fmla="val 15789"/>
            </a:avLst>
          </a:prstGeom>
          <a:solidFill>
            <a:srgbClr val="E6F5EF"/>
          </a:solidFill>
          <a:ln/>
        </p:spPr>
      </p:sp>
      <p:sp>
        <p:nvSpPr>
          <p:cNvPr id="20" name="Shape 18"/>
          <p:cNvSpPr/>
          <p:nvPr/>
        </p:nvSpPr>
        <p:spPr>
          <a:xfrm>
            <a:off x="3219450" y="5938689"/>
            <a:ext cx="4799633" cy="361950"/>
          </a:xfrm>
          <a:prstGeom prst="rect">
            <a:avLst/>
          </a:prstGeom>
          <a:solidFill>
            <a:srgbClr val="66B3A1"/>
          </a:solidFill>
          <a:ln/>
        </p:spPr>
      </p:sp>
      <p:sp>
        <p:nvSpPr>
          <p:cNvPr id="21" name="Text 19"/>
          <p:cNvSpPr/>
          <p:nvPr/>
        </p:nvSpPr>
        <p:spPr>
          <a:xfrm>
            <a:off x="8707562" y="5983932"/>
            <a:ext cx="990600" cy="309563"/>
          </a:xfrm>
          <a:prstGeom prst="rect">
            <a:avLst/>
          </a:prstGeom>
          <a:noFill/>
          <a:ln/>
        </p:spPr>
        <p:txBody>
          <a:bodyPr wrap="square" lIns="25400" tIns="25400" rIns="25400" bIns="25400" rtlCol="0" anchor="t">
            <a:normAutofit/>
          </a:bodyPr>
          <a:lstStyle/>
          <a:p>
            <a:pPr algn="r" indent="0" marL="0">
              <a:buNone/>
            </a:pPr>
            <a:r>
              <a:rPr lang="en-US" sz="1875" dirty="0">
                <a:solidFill>
                  <a:srgbClr val="5C7268"/>
                </a:solidFill>
                <a:latin typeface="Courier New" pitchFamily="34" charset="0"/>
                <a:ea typeface="Courier New" pitchFamily="34" charset="-122"/>
                <a:cs typeface="Courier New" pitchFamily="34" charset="-120"/>
              </a:rPr>
              <a:t>0.833</a:t>
            </a:r>
            <a:endParaRPr lang="en-US" sz="1875" dirty="0"/>
          </a:p>
        </p:txBody>
      </p:sp>
      <p:sp>
        <p:nvSpPr>
          <p:cNvPr id="22" name="Text 20"/>
          <p:cNvSpPr/>
          <p:nvPr/>
        </p:nvSpPr>
        <p:spPr>
          <a:xfrm>
            <a:off x="952500" y="6503045"/>
            <a:ext cx="2305050" cy="338138"/>
          </a:xfrm>
          <a:prstGeom prst="rect">
            <a:avLst/>
          </a:prstGeom>
          <a:noFill/>
          <a:ln/>
        </p:spPr>
        <p:txBody>
          <a:bodyPr wrap="square" lIns="25400" tIns="25400" rIns="25400" bIns="25400" rtlCol="0" anchor="t">
            <a:normAutofit/>
          </a:bodyPr>
          <a:lstStyle/>
          <a:p>
            <a:pPr algn="l" indent="0" marL="0">
              <a:buNone/>
            </a:pPr>
            <a:r>
              <a:rPr lang="en-US" sz="1950" b="1" dirty="0">
                <a:solidFill>
                  <a:srgbClr val="063D22"/>
                </a:solidFill>
                <a:latin typeface="Arial" pitchFamily="34" charset="0"/>
                <a:ea typeface="Arial" pitchFamily="34" charset="-122"/>
                <a:cs typeface="Arial" pitchFamily="34" charset="-120"/>
              </a:rPr>
              <a:t>LightGBM</a:t>
            </a:r>
            <a:endParaRPr lang="en-US" sz="1950" dirty="0"/>
          </a:p>
        </p:txBody>
      </p:sp>
      <p:sp>
        <p:nvSpPr>
          <p:cNvPr id="23" name="Shape 21"/>
          <p:cNvSpPr/>
          <p:nvPr/>
        </p:nvSpPr>
        <p:spPr>
          <a:xfrm>
            <a:off x="3219450" y="6472089"/>
            <a:ext cx="5392862" cy="361950"/>
          </a:xfrm>
          <a:prstGeom prst="roundRect">
            <a:avLst>
              <a:gd name="adj" fmla="val 15789"/>
            </a:avLst>
          </a:prstGeom>
          <a:solidFill>
            <a:srgbClr val="E6F5EF"/>
          </a:solidFill>
          <a:ln/>
        </p:spPr>
      </p:sp>
      <p:sp>
        <p:nvSpPr>
          <p:cNvPr id="24" name="Shape 22"/>
          <p:cNvSpPr/>
          <p:nvPr/>
        </p:nvSpPr>
        <p:spPr>
          <a:xfrm>
            <a:off x="3219450" y="6472089"/>
            <a:ext cx="4907459" cy="361950"/>
          </a:xfrm>
          <a:prstGeom prst="rect">
            <a:avLst/>
          </a:prstGeom>
          <a:solidFill>
            <a:srgbClr val="1A7A57"/>
          </a:solidFill>
          <a:ln/>
        </p:spPr>
      </p:sp>
      <p:sp>
        <p:nvSpPr>
          <p:cNvPr id="25" name="Text 23"/>
          <p:cNvSpPr/>
          <p:nvPr/>
        </p:nvSpPr>
        <p:spPr>
          <a:xfrm>
            <a:off x="8707562" y="6498282"/>
            <a:ext cx="990600" cy="347663"/>
          </a:xfrm>
          <a:prstGeom prst="rect">
            <a:avLst/>
          </a:prstGeom>
          <a:noFill/>
          <a:ln/>
        </p:spPr>
        <p:txBody>
          <a:bodyPr wrap="square" lIns="25400" tIns="25400" rIns="25400" bIns="25400" rtlCol="0" anchor="t">
            <a:normAutofit/>
          </a:bodyPr>
          <a:lstStyle/>
          <a:p>
            <a:pPr algn="r" indent="0" marL="0">
              <a:buNone/>
            </a:pPr>
            <a:r>
              <a:rPr lang="en-US" sz="1875" b="1" dirty="0">
                <a:solidFill>
                  <a:srgbClr val="063D22"/>
                </a:solidFill>
                <a:latin typeface="Courier New" pitchFamily="34" charset="0"/>
                <a:ea typeface="Courier New" pitchFamily="34" charset="-122"/>
                <a:cs typeface="Courier New" pitchFamily="34" charset="-120"/>
              </a:rPr>
              <a:t>0.836</a:t>
            </a:r>
            <a:endParaRPr lang="en-US" sz="1875" dirty="0"/>
          </a:p>
        </p:txBody>
      </p:sp>
      <p:sp>
        <p:nvSpPr>
          <p:cNvPr id="26" name="Text 24"/>
          <p:cNvSpPr/>
          <p:nvPr/>
        </p:nvSpPr>
        <p:spPr>
          <a:xfrm>
            <a:off x="952500" y="8279309"/>
            <a:ext cx="9008031" cy="998041"/>
          </a:xfrm>
          <a:prstGeom prst="rect">
            <a:avLst/>
          </a:prstGeom>
          <a:noFill/>
          <a:ln/>
        </p:spPr>
        <p:txBody>
          <a:bodyPr wrap="square" lIns="25400" tIns="25400" rIns="25400" bIns="25400" rtlCol="0" anchor="t">
            <a:normAutofit/>
          </a:bodyPr>
          <a:lstStyle/>
          <a:p>
            <a:pPr algn="l" indent="0" marL="0">
              <a:lnSpc>
                <a:spcPct val="140000"/>
              </a:lnSpc>
              <a:buNone/>
            </a:pPr>
            <a:r>
              <a:rPr lang="en-US" sz="1800" dirty="0">
                <a:solidFill>
                  <a:srgbClr val="5C7268"/>
                </a:solidFill>
                <a:latin typeface="Courier New" pitchFamily="34" charset="0"/>
                <a:ea typeface="Courier New" pitchFamily="34" charset="-122"/>
                <a:cs typeface="Courier New" pitchFamily="34" charset="-120"/>
              </a:rPr>
              <a:t>Bars scaled from 0.70 · final label uses a </a:t>
            </a:r>
            <a:pPr algn="l" indent="0" marL="0">
              <a:lnSpc>
                <a:spcPct val="140000"/>
              </a:lnSpc>
              <a:buNone/>
            </a:pPr>
            <a:r>
              <a:rPr lang="en-US" sz="1800" dirty="0">
                <a:solidFill>
                  <a:srgbClr val="063D22"/>
                </a:solidFill>
                <a:latin typeface="Courier New" pitchFamily="34" charset="0"/>
                <a:ea typeface="Courier New" pitchFamily="34" charset="-122"/>
                <a:cs typeface="Courier New" pitchFamily="34" charset="-120"/>
              </a:rPr>
              <a:t>smooth threshold </a:t>
            </a:r>
            <a:pPr algn="l" indent="0" marL="0">
              <a:lnSpc>
                <a:spcPct val="140000"/>
              </a:lnSpc>
              <a:buNone/>
            </a:pPr>
            <a:r>
              <a:rPr lang="en-US" sz="1800" dirty="0">
                <a:solidFill>
                  <a:srgbClr val="5C7268"/>
                </a:solidFill>
                <a:latin typeface="Courier New" pitchFamily="34" charset="0"/>
                <a:ea typeface="Courier New" pitchFamily="34" charset="-122"/>
                <a:cs typeface="Courier New" pitchFamily="34" charset="-120"/>
              </a:rPr>
              <a:t>= average of the top-1% of candidate cutoffs (more robust than a single argmax cutoff).</a:t>
            </a:r>
            <a:endParaRPr lang="en-US" sz="1800" dirty="0"/>
          </a:p>
        </p:txBody>
      </p:sp>
      <p:sp>
        <p:nvSpPr>
          <p:cNvPr id="27" name="Shape 25"/>
          <p:cNvSpPr/>
          <p:nvPr/>
        </p:nvSpPr>
        <p:spPr>
          <a:xfrm>
            <a:off x="10307762" y="2350368"/>
            <a:ext cx="7027738" cy="3468886"/>
          </a:xfrm>
          <a:prstGeom prst="roundRect">
            <a:avLst>
              <a:gd name="adj" fmla="val 3295"/>
            </a:avLst>
          </a:prstGeom>
          <a:solidFill>
            <a:srgbClr val="E6F5EF"/>
          </a:solidFill>
          <a:ln/>
        </p:spPr>
      </p:sp>
      <p:sp>
        <p:nvSpPr>
          <p:cNvPr id="28" name="Text 26"/>
          <p:cNvSpPr/>
          <p:nvPr/>
        </p:nvSpPr>
        <p:spPr>
          <a:xfrm>
            <a:off x="10593512" y="2617068"/>
            <a:ext cx="7101862" cy="361950"/>
          </a:xfrm>
          <a:prstGeom prst="rect">
            <a:avLst/>
          </a:prstGeom>
          <a:noFill/>
          <a:ln/>
        </p:spPr>
        <p:txBody>
          <a:bodyPr wrap="square" lIns="25400" tIns="25400" rIns="25400" bIns="25400" rtlCol="0" anchor="t">
            <a:normAutofit/>
          </a:bodyPr>
          <a:lstStyle/>
          <a:p>
            <a:pPr algn="l" indent="0" marL="0">
              <a:buNone/>
            </a:pPr>
            <a:r>
              <a:rPr lang="en-US" sz="2100" b="1" dirty="0">
                <a:solidFill>
                  <a:srgbClr val="063D22"/>
                </a:solidFill>
                <a:latin typeface="Arial" pitchFamily="34" charset="0"/>
                <a:ea typeface="Arial" pitchFamily="34" charset="-122"/>
                <a:cs typeface="Arial" pitchFamily="34" charset="-120"/>
              </a:rPr>
              <a:t>Adversarial validation</a:t>
            </a:r>
            <a:endParaRPr lang="en-US" sz="2100" dirty="0"/>
          </a:p>
        </p:txBody>
      </p:sp>
      <p:sp>
        <p:nvSpPr>
          <p:cNvPr id="29" name="Shape 27"/>
          <p:cNvSpPr/>
          <p:nvPr/>
        </p:nvSpPr>
        <p:spPr>
          <a:xfrm>
            <a:off x="10593512" y="3093318"/>
            <a:ext cx="3142357" cy="981075"/>
          </a:xfrm>
          <a:prstGeom prst="roundRect">
            <a:avLst>
              <a:gd name="adj" fmla="val 7767"/>
            </a:avLst>
          </a:prstGeom>
          <a:solidFill>
            <a:srgbClr val="FFFFFF"/>
          </a:solidFill>
          <a:ln w="9525">
            <a:solidFill>
              <a:srgbClr val="D2E6DD"/>
            </a:solidFill>
            <a:prstDash val="solid"/>
          </a:ln>
        </p:spPr>
      </p:sp>
      <p:sp>
        <p:nvSpPr>
          <p:cNvPr id="30" name="Text 28"/>
          <p:cNvSpPr/>
          <p:nvPr/>
        </p:nvSpPr>
        <p:spPr>
          <a:xfrm>
            <a:off x="10755437" y="3236193"/>
            <a:ext cx="3100358" cy="295275"/>
          </a:xfrm>
          <a:prstGeom prst="rect">
            <a:avLst/>
          </a:prstGeom>
          <a:noFill/>
          <a:ln/>
        </p:spPr>
        <p:txBody>
          <a:bodyPr wrap="square" lIns="25400" tIns="25400" rIns="25400" bIns="25400" rtlCol="0" anchor="t">
            <a:normAutofit/>
          </a:bodyPr>
          <a:lstStyle/>
          <a:p>
            <a:pPr algn="l" indent="0" marL="0">
              <a:buNone/>
            </a:pPr>
            <a:r>
              <a:rPr lang="en-US" sz="1800" dirty="0">
                <a:solidFill>
                  <a:srgbClr val="5C7268"/>
                </a:solidFill>
                <a:latin typeface="Courier New" pitchFamily="34" charset="0"/>
                <a:ea typeface="Courier New" pitchFamily="34" charset="-122"/>
                <a:cs typeface="Courier New" pitchFamily="34" charset="-120"/>
              </a:rPr>
              <a:t>ALL FEATURES</a:t>
            </a:r>
            <a:endParaRPr lang="en-US" sz="1800" dirty="0"/>
          </a:p>
        </p:txBody>
      </p:sp>
      <p:sp>
        <p:nvSpPr>
          <p:cNvPr id="31" name="Text 29"/>
          <p:cNvSpPr/>
          <p:nvPr/>
        </p:nvSpPr>
        <p:spPr>
          <a:xfrm>
            <a:off x="10755437" y="3550518"/>
            <a:ext cx="3100358" cy="419100"/>
          </a:xfrm>
          <a:prstGeom prst="rect">
            <a:avLst/>
          </a:prstGeom>
          <a:noFill/>
          <a:ln/>
        </p:spPr>
        <p:txBody>
          <a:bodyPr wrap="square" lIns="25400" tIns="25400" rIns="25400" bIns="25400" rtlCol="0" anchor="t">
            <a:normAutofit/>
          </a:bodyPr>
          <a:lstStyle/>
          <a:p>
            <a:pPr algn="l" indent="0" marL="0">
              <a:buNone/>
            </a:pPr>
            <a:r>
              <a:rPr lang="en-US" sz="2475" b="1" dirty="0">
                <a:solidFill>
                  <a:srgbClr val="B3573F"/>
                </a:solidFill>
                <a:latin typeface="Arial" pitchFamily="34" charset="0"/>
                <a:ea typeface="Arial" pitchFamily="34" charset="-122"/>
                <a:cs typeface="Arial" pitchFamily="34" charset="-120"/>
              </a:rPr>
              <a:t>AUC 1.000</a:t>
            </a:r>
            <a:endParaRPr lang="en-US" sz="2475" dirty="0"/>
          </a:p>
        </p:txBody>
      </p:sp>
      <p:sp>
        <p:nvSpPr>
          <p:cNvPr id="32" name="Shape 30"/>
          <p:cNvSpPr/>
          <p:nvPr/>
        </p:nvSpPr>
        <p:spPr>
          <a:xfrm>
            <a:off x="13907319" y="3093318"/>
            <a:ext cx="3142431" cy="981075"/>
          </a:xfrm>
          <a:prstGeom prst="roundRect">
            <a:avLst>
              <a:gd name="adj" fmla="val 7767"/>
            </a:avLst>
          </a:prstGeom>
          <a:solidFill>
            <a:srgbClr val="FFFFFF"/>
          </a:solidFill>
          <a:ln w="9525">
            <a:solidFill>
              <a:srgbClr val="D2E6DD"/>
            </a:solidFill>
            <a:prstDash val="solid"/>
          </a:ln>
        </p:spPr>
      </p:sp>
      <p:sp>
        <p:nvSpPr>
          <p:cNvPr id="33" name="Text 31"/>
          <p:cNvSpPr/>
          <p:nvPr/>
        </p:nvSpPr>
        <p:spPr>
          <a:xfrm>
            <a:off x="14069244" y="3236193"/>
            <a:ext cx="3100440" cy="295275"/>
          </a:xfrm>
          <a:prstGeom prst="rect">
            <a:avLst/>
          </a:prstGeom>
          <a:noFill/>
          <a:ln/>
        </p:spPr>
        <p:txBody>
          <a:bodyPr wrap="square" lIns="25400" tIns="25400" rIns="25400" bIns="25400" rtlCol="0" anchor="t">
            <a:normAutofit/>
          </a:bodyPr>
          <a:lstStyle/>
          <a:p>
            <a:pPr algn="l" indent="0" marL="0">
              <a:buNone/>
            </a:pPr>
            <a:r>
              <a:rPr lang="en-US" sz="1800" dirty="0">
                <a:solidFill>
                  <a:srgbClr val="5C7268"/>
                </a:solidFill>
                <a:latin typeface="Courier New" pitchFamily="34" charset="0"/>
                <a:ea typeface="Courier New" pitchFamily="34" charset="-122"/>
                <a:cs typeface="Courier New" pitchFamily="34" charset="-120"/>
              </a:rPr>
              <a:t>WITHOUT DATE</a:t>
            </a:r>
            <a:endParaRPr lang="en-US" sz="1800" dirty="0"/>
          </a:p>
        </p:txBody>
      </p:sp>
      <p:sp>
        <p:nvSpPr>
          <p:cNvPr id="34" name="Text 32"/>
          <p:cNvSpPr/>
          <p:nvPr/>
        </p:nvSpPr>
        <p:spPr>
          <a:xfrm>
            <a:off x="14069244" y="3550518"/>
            <a:ext cx="3100440" cy="419100"/>
          </a:xfrm>
          <a:prstGeom prst="rect">
            <a:avLst/>
          </a:prstGeom>
          <a:noFill/>
          <a:ln/>
        </p:spPr>
        <p:txBody>
          <a:bodyPr wrap="square" lIns="25400" tIns="25400" rIns="25400" bIns="25400" rtlCol="0" anchor="t">
            <a:normAutofit/>
          </a:bodyPr>
          <a:lstStyle/>
          <a:p>
            <a:pPr algn="l" indent="0" marL="0">
              <a:buNone/>
            </a:pPr>
            <a:r>
              <a:rPr lang="en-US" sz="2475" b="1" dirty="0">
                <a:solidFill>
                  <a:srgbClr val="1A7A57"/>
                </a:solidFill>
                <a:latin typeface="Arial" pitchFamily="34" charset="0"/>
                <a:ea typeface="Arial" pitchFamily="34" charset="-122"/>
                <a:cs typeface="Arial" pitchFamily="34" charset="-120"/>
              </a:rPr>
              <a:t>AUC 0.497</a:t>
            </a:r>
            <a:endParaRPr lang="en-US" sz="2475" dirty="0"/>
          </a:p>
        </p:txBody>
      </p:sp>
      <p:sp>
        <p:nvSpPr>
          <p:cNvPr id="35" name="Text 33"/>
          <p:cNvSpPr/>
          <p:nvPr/>
        </p:nvSpPr>
        <p:spPr>
          <a:xfrm>
            <a:off x="10593512" y="4226793"/>
            <a:ext cx="6649926" cy="1363861"/>
          </a:xfrm>
          <a:prstGeom prst="rect">
            <a:avLst/>
          </a:prstGeom>
          <a:noFill/>
          <a:ln/>
        </p:spPr>
        <p:txBody>
          <a:bodyPr wrap="square" lIns="25400" tIns="25400" rIns="25400" bIns="25400" rtlCol="0" anchor="t">
            <a:normAutofit/>
          </a:bodyPr>
          <a:lstStyle/>
          <a:p>
            <a:pPr algn="l" indent="0" marL="0">
              <a:lnSpc>
                <a:spcPct val="145000"/>
              </a:lnSpc>
              <a:buNone/>
            </a:pPr>
            <a:r>
              <a:rPr lang="en-US" sz="1800" dirty="0">
                <a:solidFill>
                  <a:srgbClr val="244236"/>
                </a:solidFill>
                <a:latin typeface="Arial" pitchFamily="34" charset="0"/>
                <a:ea typeface="Arial" pitchFamily="34" charset="-122"/>
                <a:cs typeface="Arial" pitchFamily="34" charset="-120"/>
              </a:rPr>
              <a:t>A classifier separates train from test perfectly — but only via the </a:t>
            </a:r>
            <a:pPr algn="l" indent="0" marL="0">
              <a:lnSpc>
                <a:spcPct val="145000"/>
              </a:lnSpc>
              <a:buNone/>
            </a:pPr>
            <a:r>
              <a:rPr lang="en-US" sz="1800" b="1" dirty="0">
                <a:solidFill>
                  <a:srgbClr val="063D22"/>
                </a:solidFill>
                <a:latin typeface="Arial" pitchFamily="34" charset="0"/>
                <a:ea typeface="Arial" pitchFamily="34" charset="-122"/>
                <a:cs typeface="Arial" pitchFamily="34" charset="-120"/>
              </a:rPr>
              <a:t>date </a:t>
            </a:r>
            <a:pPr algn="l" indent="0" marL="0">
              <a:lnSpc>
                <a:spcPct val="145000"/>
              </a:lnSpc>
              <a:buNone/>
            </a:pPr>
            <a:r>
              <a:rPr lang="en-US" sz="1800" dirty="0">
                <a:solidFill>
                  <a:srgbClr val="244236"/>
                </a:solidFill>
                <a:latin typeface="Arial" pitchFamily="34" charset="0"/>
                <a:ea typeface="Arial" pitchFamily="34" charset="-122"/>
                <a:cs typeface="Arial" pitchFamily="34" charset="-120"/>
              </a:rPr>
              <a:t>(test is all May 2026). Drop the date features and it’s no better than chance, so the sets are </a:t>
            </a:r>
            <a:pPr algn="l" indent="0" marL="0">
              <a:lnSpc>
                <a:spcPct val="145000"/>
              </a:lnSpc>
              <a:buNone/>
            </a:pPr>
            <a:r>
              <a:rPr lang="en-US" sz="1800" b="1" dirty="0">
                <a:solidFill>
                  <a:srgbClr val="063D22"/>
                </a:solidFill>
                <a:latin typeface="Arial" pitchFamily="34" charset="0"/>
                <a:ea typeface="Arial" pitchFamily="34" charset="-122"/>
                <a:cs typeface="Arial" pitchFamily="34" charset="-120"/>
              </a:rPr>
              <a:t>identically distributed apart from time </a:t>
            </a:r>
            <a:pPr algn="l" indent="0" marL="0">
              <a:lnSpc>
                <a:spcPct val="145000"/>
              </a:lnSpc>
              <a:buNone/>
            </a:pPr>
            <a:r>
              <a:rPr lang="en-US" sz="1800" dirty="0">
                <a:solidFill>
                  <a:srgbClr val="244236"/>
                </a:solidFill>
                <a:latin typeface="Arial" pitchFamily="34" charset="0"/>
                <a:ea typeface="Arial" pitchFamily="34" charset="-122"/>
                <a:cs typeface="Arial" pitchFamily="34" charset="-120"/>
              </a:rPr>
              <a:t>.</a:t>
            </a:r>
            <a:endParaRPr lang="en-US" sz="1800" dirty="0"/>
          </a:p>
        </p:txBody>
      </p:sp>
      <p:sp>
        <p:nvSpPr>
          <p:cNvPr id="36" name="Shape 34"/>
          <p:cNvSpPr/>
          <p:nvPr/>
        </p:nvSpPr>
        <p:spPr>
          <a:xfrm>
            <a:off x="10307762" y="6028804"/>
            <a:ext cx="7027738" cy="3210446"/>
          </a:xfrm>
          <a:prstGeom prst="roundRect">
            <a:avLst>
              <a:gd name="adj" fmla="val 3560"/>
            </a:avLst>
          </a:prstGeom>
          <a:solidFill>
            <a:srgbClr val="E6F5EF"/>
          </a:solidFill>
          <a:ln/>
        </p:spPr>
      </p:sp>
      <p:sp>
        <p:nvSpPr>
          <p:cNvPr id="37" name="Text 35"/>
          <p:cNvSpPr/>
          <p:nvPr/>
        </p:nvSpPr>
        <p:spPr>
          <a:xfrm>
            <a:off x="10574462" y="6257404"/>
            <a:ext cx="7143772" cy="338138"/>
          </a:xfrm>
          <a:prstGeom prst="rect">
            <a:avLst/>
          </a:prstGeom>
          <a:noFill/>
          <a:ln/>
        </p:spPr>
        <p:txBody>
          <a:bodyPr wrap="square" lIns="25400" tIns="25400" rIns="25400" bIns="25400" rtlCol="0" anchor="t">
            <a:normAutofit/>
          </a:bodyPr>
          <a:lstStyle/>
          <a:p>
            <a:pPr algn="l" indent="0" marL="0">
              <a:buNone/>
            </a:pPr>
            <a:r>
              <a:rPr lang="en-US" sz="1950" b="1" dirty="0">
                <a:solidFill>
                  <a:srgbClr val="063D22"/>
                </a:solidFill>
                <a:latin typeface="Arial" pitchFamily="34" charset="0"/>
                <a:ea typeface="Arial" pitchFamily="34" charset="-122"/>
                <a:cs typeface="Arial" pitchFamily="34" charset="-120"/>
              </a:rPr>
              <a:t>What drives the model</a:t>
            </a:r>
            <a:endParaRPr lang="en-US" sz="1950" dirty="0"/>
          </a:p>
        </p:txBody>
      </p:sp>
      <p:sp>
        <p:nvSpPr>
          <p:cNvPr id="38" name="Text 36"/>
          <p:cNvSpPr/>
          <p:nvPr/>
        </p:nvSpPr>
        <p:spPr>
          <a:xfrm>
            <a:off x="10574462" y="6595542"/>
            <a:ext cx="7143772" cy="335235"/>
          </a:xfrm>
          <a:prstGeom prst="rect">
            <a:avLst/>
          </a:prstGeom>
          <a:noFill/>
          <a:ln/>
        </p:spPr>
        <p:txBody>
          <a:bodyPr wrap="square" lIns="25400" tIns="25400" rIns="25400" bIns="25400" rtlCol="0" anchor="t">
            <a:normAutofit/>
          </a:bodyPr>
          <a:lstStyle/>
          <a:p>
            <a:pPr algn="l" indent="0" marL="0">
              <a:lnSpc>
                <a:spcPct val="130000"/>
              </a:lnSpc>
              <a:buNone/>
            </a:pPr>
            <a:r>
              <a:rPr lang="en-US" sz="1800" dirty="0">
                <a:solidFill>
                  <a:srgbClr val="5C7268"/>
                </a:solidFill>
                <a:latin typeface="Arial" pitchFamily="34" charset="0"/>
                <a:ea typeface="Arial" pitchFamily="34" charset="-122"/>
                <a:cs typeface="Arial" pitchFamily="34" charset="-120"/>
              </a:rPr>
              <a:t>Most important features, by gain.</a:t>
            </a:r>
            <a:endParaRPr lang="en-US" sz="1800" dirty="0"/>
          </a:p>
        </p:txBody>
      </p:sp>
      <p:sp>
        <p:nvSpPr>
          <p:cNvPr id="39" name="Shape 37"/>
          <p:cNvSpPr/>
          <p:nvPr/>
        </p:nvSpPr>
        <p:spPr>
          <a:xfrm>
            <a:off x="952500" y="9239250"/>
            <a:ext cx="16383000" cy="9525"/>
          </a:xfrm>
          <a:prstGeom prst="rect">
            <a:avLst/>
          </a:prstGeom>
          <a:solidFill>
            <a:srgbClr val="D2E6DD"/>
          </a:solidFill>
          <a:ln/>
        </p:spPr>
      </p:sp>
      <p:sp>
        <p:nvSpPr>
          <p:cNvPr id="40" name="Text 38"/>
          <p:cNvSpPr/>
          <p:nvPr/>
        </p:nvSpPr>
        <p:spPr>
          <a:xfrm>
            <a:off x="952500" y="9458325"/>
            <a:ext cx="16874490" cy="295275"/>
          </a:xfrm>
          <a:prstGeom prst="rect">
            <a:avLst/>
          </a:prstGeom>
          <a:noFill/>
          <a:ln/>
        </p:spPr>
        <p:txBody>
          <a:bodyPr wrap="square" lIns="25400" tIns="25400" rIns="25400" bIns="25400" rtlCol="0" anchor="t">
            <a:normAutofit/>
          </a:bodyPr>
          <a:lstStyle/>
          <a:p>
            <a:pPr algn="l" indent="0" marL="0">
              <a:buNone/>
            </a:pPr>
            <a:r>
              <a:rPr lang="en-US" sz="1800" dirty="0">
                <a:solidFill>
                  <a:srgbClr val="5C7268"/>
                </a:solidFill>
                <a:latin typeface="Courier New" pitchFamily="34" charset="0"/>
                <a:ea typeface="Courier New" pitchFamily="34" charset="-122"/>
                <a:cs typeface="Courier New" pitchFamily="34" charset="-120"/>
              </a:rPr>
              <a:t>Source: team validation · rolling next-month testing</a:t>
            </a:r>
            <a:endParaRPr lang="en-US" sz="1800" dirty="0"/>
          </a:p>
        </p:txBody>
      </p:sp>
      <p:pic>
        <p:nvPicPr>
          <p:cNvPr id="41" name="Picture 40" descr="deck_importance.png"/>
          <p:cNvPicPr>
            <a:picLocks noChangeAspect="1"/>
          </p:cNvPicPr>
          <p:nvPr/>
        </p:nvPicPr>
        <p:blipFill>
          <a:blip r:embed="rId3"/>
          <a:stretch>
            <a:fillRect/>
          </a:stretch>
        </p:blipFill>
        <p:spPr>
          <a:xfrm>
            <a:off x="10515600" y="6967728"/>
            <a:ext cx="6583680" cy="2139696"/>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txBody>
          <a:bodyPr/>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a:bodyPr>
          <a:lstStyle/>
          <a:p>
            <a:pPr algn="l" indent="0" marL="0">
              <a:buNone/>
            </a:pPr>
            <a:r>
              <a:rPr lang="en-US" sz="1800" spc="225" kern="0" dirty="0">
                <a:solidFill>
                  <a:srgbClr val="007A33"/>
                </a:solidFill>
                <a:latin typeface="Courier New" pitchFamily="34" charset="0"/>
                <a:ea typeface="Courier New" pitchFamily="34" charset="-122"/>
                <a:cs typeface="Courier New" pitchFamily="34" charset="-120"/>
              </a:rPr>
              <a:t>09 · RESULTS</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a:bodyPr>
          <a:lstStyle/>
          <a:p>
            <a:pPr algn="l" indent="0" marL="0">
              <a:lnSpc>
                <a:spcPct val="112000"/>
              </a:lnSpc>
              <a:buNone/>
            </a:pPr>
            <a:r>
              <a:rPr lang="en-US" sz="3600" b="1" spc="-37" kern="0" dirty="0">
                <a:solidFill>
                  <a:srgbClr val="063D22"/>
                </a:solidFill>
                <a:latin typeface="Arial" pitchFamily="34" charset="0"/>
                <a:ea typeface="Arial" pitchFamily="34" charset="-122"/>
                <a:cs typeface="Arial" pitchFamily="34" charset="-120"/>
              </a:rPr>
              <a:t>Our own validation predicted the result in advance</a:t>
            </a:r>
            <a:endParaRPr lang="en-US" sz="3600" dirty="0"/>
          </a:p>
        </p:txBody>
      </p:sp>
      <p:sp>
        <p:nvSpPr>
          <p:cNvPr id="5" name="Text 3"/>
          <p:cNvSpPr/>
          <p:nvPr/>
        </p:nvSpPr>
        <p:spPr>
          <a:xfrm>
            <a:off x="952500" y="3717429"/>
            <a:ext cx="11050079" cy="295275"/>
          </a:xfrm>
          <a:prstGeom prst="rect">
            <a:avLst/>
          </a:prstGeom>
          <a:noFill/>
          <a:ln/>
        </p:spPr>
        <p:txBody>
          <a:bodyPr wrap="square" lIns="25400" tIns="25400" rIns="25400" bIns="25400" rtlCol="0" anchor="t">
            <a:normAutofit/>
          </a:bodyPr>
          <a:lstStyle/>
          <a:p>
            <a:pPr algn="l" indent="0" marL="0">
              <a:buNone/>
            </a:pPr>
            <a:r>
              <a:rPr lang="en-US" sz="1800" spc="75" kern="0" dirty="0">
                <a:solidFill>
                  <a:srgbClr val="007A33"/>
                </a:solidFill>
                <a:latin typeface="Courier New" pitchFamily="34" charset="0"/>
                <a:ea typeface="Courier New" pitchFamily="34" charset="-122"/>
                <a:cs typeface="Courier New" pitchFamily="34" charset="-120"/>
              </a:rPr>
              <a:t>FINAL SUBMISSIONS SELECTED — v6 + v10</a:t>
            </a:r>
            <a:endParaRPr lang="en-US" sz="1800" dirty="0"/>
          </a:p>
        </p:txBody>
      </p:sp>
      <p:sp>
        <p:nvSpPr>
          <p:cNvPr id="6" name="Shape 4"/>
          <p:cNvSpPr/>
          <p:nvPr/>
        </p:nvSpPr>
        <p:spPr>
          <a:xfrm>
            <a:off x="952500" y="4593729"/>
            <a:ext cx="704627" cy="19050"/>
          </a:xfrm>
          <a:prstGeom prst="rect">
            <a:avLst/>
          </a:prstGeom>
          <a:solidFill>
            <a:srgbClr val="1A7A57"/>
          </a:solidFill>
          <a:ln/>
        </p:spPr>
        <p:txBody>
          <a:bodyPr/>
          <a:p/>
        </p:txBody>
      </p:sp>
      <p:sp>
        <p:nvSpPr>
          <p:cNvPr id="7" name="Text 5"/>
          <p:cNvSpPr/>
          <p:nvPr/>
        </p:nvSpPr>
        <p:spPr>
          <a:xfrm>
            <a:off x="1066800" y="4222254"/>
            <a:ext cx="552227" cy="314325"/>
          </a:xfrm>
          <a:prstGeom prst="rect">
            <a:avLst/>
          </a:prstGeom>
          <a:noFill/>
          <a:ln/>
        </p:spPr>
        <p:txBody>
          <a:bodyPr wrap="square" lIns="25400" tIns="25400" rIns="25400" bIns="25400" rtlCol="0" anchor="ctr">
            <a:normAutofit/>
          </a:bodyPr>
          <a:lstStyle/>
          <a:p>
            <a:pPr algn="l" indent="0" marL="0">
              <a:buNone/>
            </a:pPr>
            <a:r>
              <a:rPr lang="en-US" sz="1875" b="1" dirty="0">
                <a:solidFill>
                  <a:srgbClr val="063D22"/>
                </a:solidFill>
                <a:latin typeface="Arial" pitchFamily="34" charset="0"/>
                <a:ea typeface="Arial" pitchFamily="34" charset="-122"/>
                <a:cs typeface="Arial" pitchFamily="34" charset="-120"/>
              </a:rPr>
              <a:t>Ver</a:t>
            </a:r>
            <a:endParaRPr lang="en-US" sz="1875" dirty="0"/>
          </a:p>
        </p:txBody>
      </p:sp>
      <p:sp>
        <p:nvSpPr>
          <p:cNvPr id="8" name="Shape 6"/>
          <p:cNvSpPr/>
          <p:nvPr/>
        </p:nvSpPr>
        <p:spPr>
          <a:xfrm>
            <a:off x="1657127" y="4593729"/>
            <a:ext cx="5770736" cy="19050"/>
          </a:xfrm>
          <a:prstGeom prst="rect">
            <a:avLst/>
          </a:prstGeom>
          <a:solidFill>
            <a:srgbClr val="1A7A57"/>
          </a:solidFill>
          <a:ln/>
        </p:spPr>
        <p:txBody>
          <a:bodyPr/>
          <a:p/>
        </p:txBody>
      </p:sp>
      <p:sp>
        <p:nvSpPr>
          <p:cNvPr id="9" name="Text 7"/>
          <p:cNvSpPr/>
          <p:nvPr/>
        </p:nvSpPr>
        <p:spPr>
          <a:xfrm>
            <a:off x="1771427" y="4222254"/>
            <a:ext cx="5715258" cy="314325"/>
          </a:xfrm>
          <a:prstGeom prst="rect">
            <a:avLst/>
          </a:prstGeom>
          <a:noFill/>
          <a:ln/>
        </p:spPr>
        <p:txBody>
          <a:bodyPr wrap="square" lIns="25400" tIns="25400" rIns="25400" bIns="25400" rtlCol="0" anchor="ctr">
            <a:normAutofit/>
          </a:bodyPr>
          <a:lstStyle/>
          <a:p>
            <a:pPr algn="l" indent="0" marL="0">
              <a:buNone/>
            </a:pPr>
            <a:r>
              <a:rPr lang="en-US" sz="1875" b="1" dirty="0">
                <a:solidFill>
                  <a:srgbClr val="063D22"/>
                </a:solidFill>
                <a:latin typeface="Arial" pitchFamily="34" charset="0"/>
                <a:ea typeface="Arial" pitchFamily="34" charset="-122"/>
                <a:cs typeface="Arial" pitchFamily="34" charset="-120"/>
              </a:rPr>
              <a:t>Approach</a:t>
            </a:r>
            <a:endParaRPr lang="en-US" sz="1875" dirty="0"/>
          </a:p>
        </p:txBody>
      </p:sp>
      <p:sp>
        <p:nvSpPr>
          <p:cNvPr id="10" name="Shape 8"/>
          <p:cNvSpPr/>
          <p:nvPr/>
        </p:nvSpPr>
        <p:spPr>
          <a:xfrm>
            <a:off x="7427863" y="4593729"/>
            <a:ext cx="1164357" cy="19050"/>
          </a:xfrm>
          <a:prstGeom prst="rect">
            <a:avLst/>
          </a:prstGeom>
          <a:solidFill>
            <a:srgbClr val="1A7A57"/>
          </a:solidFill>
          <a:ln/>
        </p:spPr>
        <p:txBody>
          <a:bodyPr/>
          <a:p/>
        </p:txBody>
      </p:sp>
      <p:sp>
        <p:nvSpPr>
          <p:cNvPr id="11" name="Text 9"/>
          <p:cNvSpPr/>
          <p:nvPr/>
        </p:nvSpPr>
        <p:spPr>
          <a:xfrm>
            <a:off x="7465963" y="4222254"/>
            <a:ext cx="1011957" cy="314325"/>
          </a:xfrm>
          <a:prstGeom prst="rect">
            <a:avLst/>
          </a:prstGeom>
          <a:noFill/>
          <a:ln/>
        </p:spPr>
        <p:txBody>
          <a:bodyPr wrap="square" lIns="25400" tIns="25400" rIns="25400" bIns="25400" rtlCol="0" anchor="ctr">
            <a:normAutofit/>
          </a:bodyPr>
          <a:lstStyle/>
          <a:p>
            <a:pPr algn="r" indent="0" marL="0">
              <a:buNone/>
            </a:pPr>
            <a:r>
              <a:rPr lang="en-US" sz="1875" b="1" dirty="0">
                <a:solidFill>
                  <a:srgbClr val="063D22"/>
                </a:solidFill>
                <a:latin typeface="Arial" pitchFamily="34" charset="0"/>
                <a:ea typeface="Arial" pitchFamily="34" charset="-122"/>
                <a:cs typeface="Arial" pitchFamily="34" charset="-120"/>
              </a:rPr>
              <a:t>OOF</a:t>
            </a:r>
            <a:endParaRPr lang="en-US" sz="1875" dirty="0"/>
          </a:p>
        </p:txBody>
      </p:sp>
      <p:sp>
        <p:nvSpPr>
          <p:cNvPr id="12" name="Shape 10"/>
          <p:cNvSpPr/>
          <p:nvPr/>
        </p:nvSpPr>
        <p:spPr>
          <a:xfrm>
            <a:off x="8592220" y="4593729"/>
            <a:ext cx="1394520" cy="19050"/>
          </a:xfrm>
          <a:prstGeom prst="rect">
            <a:avLst/>
          </a:prstGeom>
          <a:solidFill>
            <a:srgbClr val="1A7A57"/>
          </a:solidFill>
          <a:ln/>
        </p:spPr>
        <p:txBody>
          <a:bodyPr/>
          <a:p/>
        </p:txBody>
      </p:sp>
      <p:sp>
        <p:nvSpPr>
          <p:cNvPr id="13" name="Text 11"/>
          <p:cNvSpPr/>
          <p:nvPr/>
        </p:nvSpPr>
        <p:spPr>
          <a:xfrm>
            <a:off x="8630320" y="4222254"/>
            <a:ext cx="1242120" cy="314325"/>
          </a:xfrm>
          <a:prstGeom prst="rect">
            <a:avLst/>
          </a:prstGeom>
          <a:noFill/>
          <a:ln/>
        </p:spPr>
        <p:txBody>
          <a:bodyPr wrap="square" lIns="25400" tIns="25400" rIns="25400" bIns="25400" rtlCol="0" anchor="ctr">
            <a:normAutofit/>
          </a:bodyPr>
          <a:lstStyle/>
          <a:p>
            <a:pPr algn="r" indent="0" marL="0">
              <a:buNone/>
            </a:pPr>
            <a:r>
              <a:rPr lang="en-US" sz="1875" b="1" dirty="0">
                <a:solidFill>
                  <a:srgbClr val="063D22"/>
                </a:solidFill>
                <a:latin typeface="Arial" pitchFamily="34" charset="0"/>
                <a:ea typeface="Arial" pitchFamily="34" charset="-122"/>
                <a:cs typeface="Arial" pitchFamily="34" charset="-120"/>
              </a:rPr>
              <a:t>Public LB</a:t>
            </a:r>
            <a:endParaRPr lang="en-US" sz="1875" dirty="0"/>
          </a:p>
        </p:txBody>
      </p:sp>
      <p:sp>
        <p:nvSpPr>
          <p:cNvPr id="14" name="Shape 12"/>
          <p:cNvSpPr/>
          <p:nvPr/>
        </p:nvSpPr>
        <p:spPr>
          <a:xfrm>
            <a:off x="9986739" y="4593729"/>
            <a:ext cx="1011287" cy="19050"/>
          </a:xfrm>
          <a:prstGeom prst="rect">
            <a:avLst/>
          </a:prstGeom>
          <a:solidFill>
            <a:srgbClr val="1A7A57"/>
          </a:solidFill>
          <a:ln/>
        </p:spPr>
        <p:txBody>
          <a:bodyPr/>
          <a:p/>
        </p:txBody>
      </p:sp>
      <p:sp>
        <p:nvSpPr>
          <p:cNvPr id="15" name="Text 13"/>
          <p:cNvSpPr/>
          <p:nvPr/>
        </p:nvSpPr>
        <p:spPr>
          <a:xfrm>
            <a:off x="10024839" y="4222254"/>
            <a:ext cx="858887" cy="314325"/>
          </a:xfrm>
          <a:prstGeom prst="rect">
            <a:avLst/>
          </a:prstGeom>
          <a:noFill/>
          <a:ln/>
        </p:spPr>
        <p:txBody>
          <a:bodyPr wrap="square" lIns="25400" tIns="25400" rIns="25400" bIns="25400" rtlCol="0" anchor="ctr">
            <a:normAutofit/>
          </a:bodyPr>
          <a:lstStyle/>
          <a:p>
            <a:pPr algn="r" indent="0" marL="0">
              <a:buNone/>
            </a:pPr>
            <a:r>
              <a:rPr lang="en-US" sz="1875" b="1" dirty="0">
                <a:solidFill>
                  <a:srgbClr val="063D22"/>
                </a:solidFill>
                <a:latin typeface="Arial" pitchFamily="34" charset="0"/>
                <a:ea typeface="Arial" pitchFamily="34" charset="-122"/>
                <a:cs typeface="Arial" pitchFamily="34" charset="-120"/>
              </a:rPr>
              <a:t>Appr.</a:t>
            </a:r>
            <a:endParaRPr lang="en-US" sz="1875" dirty="0"/>
          </a:p>
        </p:txBody>
      </p:sp>
      <p:sp>
        <p:nvSpPr>
          <p:cNvPr id="16" name="Shape 14"/>
          <p:cNvSpPr/>
          <p:nvPr/>
        </p:nvSpPr>
        <p:spPr>
          <a:xfrm>
            <a:off x="952500" y="5103316"/>
            <a:ext cx="704627" cy="9525"/>
          </a:xfrm>
          <a:prstGeom prst="rect">
            <a:avLst/>
          </a:prstGeom>
          <a:solidFill>
            <a:srgbClr val="D2E6DD"/>
          </a:solidFill>
          <a:ln/>
        </p:spPr>
        <p:txBody>
          <a:bodyPr/>
          <a:p/>
        </p:txBody>
      </p:sp>
      <p:sp>
        <p:nvSpPr>
          <p:cNvPr id="17" name="Text 15"/>
          <p:cNvSpPr/>
          <p:nvPr/>
        </p:nvSpPr>
        <p:spPr>
          <a:xfrm>
            <a:off x="1066800" y="4717554"/>
            <a:ext cx="552227" cy="319088"/>
          </a:xfrm>
          <a:prstGeom prst="rect">
            <a:avLst/>
          </a:prstGeom>
          <a:noFill/>
          <a:ln/>
        </p:spPr>
        <p:txBody>
          <a:bodyPr wrap="square" lIns="25400" tIns="25400" rIns="25400" bIns="25400" rtlCol="0" anchor="ctr">
            <a:normAutofit/>
          </a:bodyPr>
          <a:lstStyle/>
          <a:p>
            <a:pPr algn="l" indent="0" marL="0">
              <a:buNone/>
            </a:pPr>
            <a:r>
              <a:rPr lang="en-US" sz="1875" dirty="0">
                <a:solidFill>
                  <a:srgbClr val="244236"/>
                </a:solidFill>
                <a:latin typeface="Courier New" pitchFamily="34" charset="0"/>
                <a:ea typeface="Courier New" pitchFamily="34" charset="-122"/>
                <a:cs typeface="Courier New" pitchFamily="34" charset="-120"/>
              </a:rPr>
              <a:t>v1</a:t>
            </a:r>
            <a:endParaRPr lang="en-US" sz="1875" dirty="0"/>
          </a:p>
        </p:txBody>
      </p:sp>
      <p:sp>
        <p:nvSpPr>
          <p:cNvPr id="18" name="Shape 16"/>
          <p:cNvSpPr/>
          <p:nvPr/>
        </p:nvSpPr>
        <p:spPr>
          <a:xfrm>
            <a:off x="1657127" y="5103316"/>
            <a:ext cx="5770736" cy="9525"/>
          </a:xfrm>
          <a:prstGeom prst="rect">
            <a:avLst/>
          </a:prstGeom>
          <a:solidFill>
            <a:srgbClr val="D2E6DD"/>
          </a:solidFill>
          <a:ln/>
        </p:spPr>
        <p:txBody>
          <a:bodyPr/>
          <a:p/>
        </p:txBody>
      </p:sp>
      <p:sp>
        <p:nvSpPr>
          <p:cNvPr id="19" name="Text 17"/>
          <p:cNvSpPr/>
          <p:nvPr/>
        </p:nvSpPr>
        <p:spPr>
          <a:xfrm>
            <a:off x="1771427" y="4717554"/>
            <a:ext cx="5715258" cy="319088"/>
          </a:xfrm>
          <a:prstGeom prst="rect">
            <a:avLst/>
          </a:prstGeom>
          <a:noFill/>
          <a:ln/>
        </p:spPr>
        <p:txBody>
          <a:bodyPr wrap="square" lIns="25400" tIns="25400" rIns="25400" bIns="25400" rtlCol="0" anchor="ctr">
            <a:normAutofit/>
          </a:bodyPr>
          <a:lstStyle/>
          <a:p>
            <a:pPr algn="l" indent="0" marL="0">
              <a:buNone/>
            </a:pPr>
            <a:r>
              <a:rPr lang="en-US" sz="1875" dirty="0">
                <a:solidFill>
                  <a:srgbClr val="244236"/>
                </a:solidFill>
                <a:latin typeface="Arial" pitchFamily="34" charset="0"/>
                <a:ea typeface="Arial" pitchFamily="34" charset="-122"/>
                <a:cs typeface="Arial" pitchFamily="34" charset="-120"/>
              </a:rPr>
              <a:t>Single LightGBM</a:t>
            </a:r>
            <a:endParaRPr lang="en-US" sz="1875" dirty="0"/>
          </a:p>
        </p:txBody>
      </p:sp>
      <p:sp>
        <p:nvSpPr>
          <p:cNvPr id="20" name="Shape 18"/>
          <p:cNvSpPr/>
          <p:nvPr/>
        </p:nvSpPr>
        <p:spPr>
          <a:xfrm>
            <a:off x="7427863" y="5103316"/>
            <a:ext cx="1164357" cy="9525"/>
          </a:xfrm>
          <a:prstGeom prst="rect">
            <a:avLst/>
          </a:prstGeom>
          <a:solidFill>
            <a:srgbClr val="D2E6DD"/>
          </a:solidFill>
          <a:ln/>
        </p:spPr>
        <p:txBody>
          <a:bodyPr/>
          <a:p/>
        </p:txBody>
      </p:sp>
      <p:sp>
        <p:nvSpPr>
          <p:cNvPr id="21" name="Text 19"/>
          <p:cNvSpPr/>
          <p:nvPr/>
        </p:nvSpPr>
        <p:spPr>
          <a:xfrm>
            <a:off x="7465963" y="4717554"/>
            <a:ext cx="1011957" cy="319088"/>
          </a:xfrm>
          <a:prstGeom prst="rect">
            <a:avLst/>
          </a:prstGeom>
          <a:noFill/>
          <a:ln/>
        </p:spPr>
        <p:txBody>
          <a:bodyPr wrap="square" lIns="25400" tIns="25400" rIns="25400" bIns="25400" rtlCol="0" anchor="ctr">
            <a:normAutofit/>
          </a:bodyPr>
          <a:lstStyle/>
          <a:p>
            <a:pPr algn="r" indent="0" marL="0">
              <a:buNone/>
            </a:pPr>
            <a:r>
              <a:rPr lang="en-US" sz="1875" dirty="0">
                <a:solidFill>
                  <a:srgbClr val="244236"/>
                </a:solidFill>
                <a:latin typeface="Courier New" pitchFamily="34" charset="0"/>
                <a:ea typeface="Courier New" pitchFamily="34" charset="-122"/>
                <a:cs typeface="Courier New" pitchFamily="34" charset="-120"/>
              </a:rPr>
              <a:t>0.8525</a:t>
            </a:r>
            <a:endParaRPr lang="en-US" sz="1875" dirty="0"/>
          </a:p>
        </p:txBody>
      </p:sp>
      <p:sp>
        <p:nvSpPr>
          <p:cNvPr id="22" name="Shape 20"/>
          <p:cNvSpPr/>
          <p:nvPr/>
        </p:nvSpPr>
        <p:spPr>
          <a:xfrm>
            <a:off x="8592220" y="5103316"/>
            <a:ext cx="1394520" cy="9525"/>
          </a:xfrm>
          <a:prstGeom prst="rect">
            <a:avLst/>
          </a:prstGeom>
          <a:solidFill>
            <a:srgbClr val="D2E6DD"/>
          </a:solidFill>
          <a:ln/>
        </p:spPr>
        <p:txBody>
          <a:bodyPr/>
          <a:p/>
        </p:txBody>
      </p:sp>
      <p:sp>
        <p:nvSpPr>
          <p:cNvPr id="23" name="Text 21"/>
          <p:cNvSpPr/>
          <p:nvPr/>
        </p:nvSpPr>
        <p:spPr>
          <a:xfrm>
            <a:off x="8630320" y="4717554"/>
            <a:ext cx="1242120" cy="319088"/>
          </a:xfrm>
          <a:prstGeom prst="rect">
            <a:avLst/>
          </a:prstGeom>
          <a:noFill/>
          <a:ln/>
        </p:spPr>
        <p:txBody>
          <a:bodyPr wrap="square" lIns="25400" tIns="25400" rIns="25400" bIns="25400" rtlCol="0" anchor="ctr">
            <a:normAutofit/>
          </a:bodyPr>
          <a:lstStyle/>
          <a:p>
            <a:pPr algn="r" indent="0" marL="0">
              <a:buNone/>
            </a:pPr>
            <a:r>
              <a:rPr lang="en-US" sz="1875" dirty="0">
                <a:solidFill>
                  <a:srgbClr val="244236"/>
                </a:solidFill>
                <a:latin typeface="Courier New" pitchFamily="34" charset="0"/>
                <a:ea typeface="Courier New" pitchFamily="34" charset="-122"/>
                <a:cs typeface="Courier New" pitchFamily="34" charset="-120"/>
              </a:rPr>
              <a:t>0.8515</a:t>
            </a:r>
            <a:endParaRPr lang="en-US" sz="1875" dirty="0"/>
          </a:p>
        </p:txBody>
      </p:sp>
      <p:sp>
        <p:nvSpPr>
          <p:cNvPr id="24" name="Shape 22"/>
          <p:cNvSpPr/>
          <p:nvPr/>
        </p:nvSpPr>
        <p:spPr>
          <a:xfrm>
            <a:off x="9986739" y="5103316"/>
            <a:ext cx="1011287" cy="9525"/>
          </a:xfrm>
          <a:prstGeom prst="rect">
            <a:avLst/>
          </a:prstGeom>
          <a:solidFill>
            <a:srgbClr val="D2E6DD"/>
          </a:solidFill>
          <a:ln/>
        </p:spPr>
        <p:txBody>
          <a:bodyPr/>
          <a:p/>
        </p:txBody>
      </p:sp>
      <p:sp>
        <p:nvSpPr>
          <p:cNvPr id="25" name="Text 23"/>
          <p:cNvSpPr/>
          <p:nvPr/>
        </p:nvSpPr>
        <p:spPr>
          <a:xfrm>
            <a:off x="10024839" y="4717554"/>
            <a:ext cx="858887" cy="319088"/>
          </a:xfrm>
          <a:prstGeom prst="rect">
            <a:avLst/>
          </a:prstGeom>
          <a:noFill/>
          <a:ln/>
        </p:spPr>
        <p:txBody>
          <a:bodyPr wrap="square" lIns="25400" tIns="25400" rIns="25400" bIns="25400" rtlCol="0" anchor="ctr">
            <a:normAutofit/>
          </a:bodyPr>
          <a:lstStyle/>
          <a:p>
            <a:pPr algn="r" indent="0" marL="0">
              <a:buNone/>
            </a:pPr>
            <a:r>
              <a:rPr lang="en-US" sz="1875" dirty="0">
                <a:solidFill>
                  <a:srgbClr val="5C7268"/>
                </a:solidFill>
                <a:latin typeface="Courier New" pitchFamily="34" charset="0"/>
                <a:ea typeface="Courier New" pitchFamily="34" charset="-122"/>
                <a:cs typeface="Courier New" pitchFamily="34" charset="-120"/>
              </a:rPr>
              <a:t>0.506</a:t>
            </a:r>
            <a:endParaRPr lang="en-US" sz="1875" dirty="0"/>
          </a:p>
        </p:txBody>
      </p:sp>
      <p:sp>
        <p:nvSpPr>
          <p:cNvPr id="26" name="Shape 24"/>
          <p:cNvSpPr/>
          <p:nvPr/>
        </p:nvSpPr>
        <p:spPr>
          <a:xfrm>
            <a:off x="952500" y="5112841"/>
            <a:ext cx="10045526" cy="528638"/>
          </a:xfrm>
          <a:prstGeom prst="rect">
            <a:avLst/>
          </a:prstGeom>
          <a:solidFill>
            <a:srgbClr val="E6F5EF"/>
          </a:solidFill>
          <a:ln/>
        </p:spPr>
        <p:txBody>
          <a:bodyPr/>
          <a:p/>
        </p:txBody>
      </p:sp>
      <p:sp>
        <p:nvSpPr>
          <p:cNvPr id="27" name="Shape 25"/>
          <p:cNvSpPr/>
          <p:nvPr/>
        </p:nvSpPr>
        <p:spPr>
          <a:xfrm>
            <a:off x="952500" y="5631954"/>
            <a:ext cx="704627" cy="9525"/>
          </a:xfrm>
          <a:prstGeom prst="rect">
            <a:avLst/>
          </a:prstGeom>
          <a:solidFill>
            <a:srgbClr val="D2E6DD"/>
          </a:solidFill>
          <a:ln/>
        </p:spPr>
        <p:txBody>
          <a:bodyPr/>
          <a:p/>
        </p:txBody>
      </p:sp>
      <p:sp>
        <p:nvSpPr>
          <p:cNvPr id="28" name="Text 26"/>
          <p:cNvSpPr/>
          <p:nvPr/>
        </p:nvSpPr>
        <p:spPr>
          <a:xfrm>
            <a:off x="1066800" y="5217616"/>
            <a:ext cx="552227" cy="347663"/>
          </a:xfrm>
          <a:prstGeom prst="rect">
            <a:avLst/>
          </a:prstGeom>
          <a:noFill/>
          <a:ln/>
        </p:spPr>
        <p:txBody>
          <a:bodyPr wrap="square" lIns="25400" tIns="25400" rIns="25400" bIns="25400" rtlCol="0" anchor="ctr">
            <a:normAutofit/>
          </a:bodyPr>
          <a:lstStyle/>
          <a:p>
            <a:pPr algn="l" indent="0" marL="0">
              <a:buNone/>
            </a:pPr>
            <a:r>
              <a:rPr lang="en-US" sz="1875" b="1" dirty="0">
                <a:solidFill>
                  <a:srgbClr val="063D22"/>
                </a:solidFill>
                <a:latin typeface="Courier New" pitchFamily="34" charset="0"/>
                <a:ea typeface="Courier New" pitchFamily="34" charset="-122"/>
                <a:cs typeface="Courier New" pitchFamily="34" charset="-120"/>
              </a:rPr>
              <a:t>v6</a:t>
            </a:r>
            <a:endParaRPr lang="en-US" sz="1875" dirty="0"/>
          </a:p>
        </p:txBody>
      </p:sp>
      <p:sp>
        <p:nvSpPr>
          <p:cNvPr id="29" name="Shape 27"/>
          <p:cNvSpPr/>
          <p:nvPr/>
        </p:nvSpPr>
        <p:spPr>
          <a:xfrm>
            <a:off x="1657127" y="5631954"/>
            <a:ext cx="5770736" cy="9525"/>
          </a:xfrm>
          <a:prstGeom prst="rect">
            <a:avLst/>
          </a:prstGeom>
          <a:solidFill>
            <a:srgbClr val="D2E6DD"/>
          </a:solidFill>
          <a:ln/>
        </p:spPr>
        <p:txBody>
          <a:bodyPr/>
          <a:p/>
        </p:txBody>
      </p:sp>
      <p:sp>
        <p:nvSpPr>
          <p:cNvPr id="30" name="Text 28"/>
          <p:cNvSpPr/>
          <p:nvPr/>
        </p:nvSpPr>
        <p:spPr>
          <a:xfrm>
            <a:off x="1771427" y="5217616"/>
            <a:ext cx="5715258" cy="347663"/>
          </a:xfrm>
          <a:prstGeom prst="rect">
            <a:avLst/>
          </a:prstGeom>
          <a:noFill/>
          <a:ln/>
        </p:spPr>
        <p:txBody>
          <a:bodyPr wrap="square" lIns="25400" tIns="25400" rIns="25400" bIns="25400" rtlCol="0" anchor="ctr">
            <a:normAutofit/>
          </a:bodyPr>
          <a:lstStyle/>
          <a:p>
            <a:pPr algn="l" indent="0" marL="0">
              <a:buNone/>
            </a:pPr>
            <a:r>
              <a:rPr lang="en-US" sz="1875" b="1" dirty="0">
                <a:solidFill>
                  <a:srgbClr val="244236"/>
                </a:solidFill>
                <a:latin typeface="Arial" pitchFamily="34" charset="0"/>
                <a:ea typeface="Arial" pitchFamily="34" charset="-122"/>
                <a:cs typeface="Arial" pitchFamily="34" charset="-120"/>
              </a:rPr>
              <a:t>9× CatBoost blend</a:t>
            </a:r>
            <a:endParaRPr lang="en-US" sz="1875" dirty="0"/>
          </a:p>
        </p:txBody>
      </p:sp>
      <p:sp>
        <p:nvSpPr>
          <p:cNvPr id="31" name="Shape 29"/>
          <p:cNvSpPr/>
          <p:nvPr/>
        </p:nvSpPr>
        <p:spPr>
          <a:xfrm>
            <a:off x="7427863" y="5631954"/>
            <a:ext cx="1164357" cy="9525"/>
          </a:xfrm>
          <a:prstGeom prst="rect">
            <a:avLst/>
          </a:prstGeom>
          <a:solidFill>
            <a:srgbClr val="D2E6DD"/>
          </a:solidFill>
          <a:ln/>
        </p:spPr>
        <p:txBody>
          <a:bodyPr/>
          <a:p/>
        </p:txBody>
      </p:sp>
      <p:sp>
        <p:nvSpPr>
          <p:cNvPr id="32" name="Text 30"/>
          <p:cNvSpPr/>
          <p:nvPr/>
        </p:nvSpPr>
        <p:spPr>
          <a:xfrm>
            <a:off x="7465963" y="5217616"/>
            <a:ext cx="1011957" cy="347663"/>
          </a:xfrm>
          <a:prstGeom prst="rect">
            <a:avLst/>
          </a:prstGeom>
          <a:noFill/>
          <a:ln/>
        </p:spPr>
        <p:txBody>
          <a:bodyPr wrap="square" lIns="25400" tIns="25400" rIns="25400" bIns="25400" rtlCol="0" anchor="ctr">
            <a:normAutofit/>
          </a:bodyPr>
          <a:lstStyle/>
          <a:p>
            <a:pPr algn="r" indent="0" marL="0">
              <a:buNone/>
            </a:pPr>
            <a:r>
              <a:rPr lang="en-US" sz="1875" b="1" dirty="0">
                <a:solidFill>
                  <a:srgbClr val="244236"/>
                </a:solidFill>
                <a:latin typeface="Courier New" pitchFamily="34" charset="0"/>
                <a:ea typeface="Courier New" pitchFamily="34" charset="-122"/>
                <a:cs typeface="Courier New" pitchFamily="34" charset="-120"/>
              </a:rPr>
              <a:t>0.8615</a:t>
            </a:r>
            <a:endParaRPr lang="en-US" sz="1875" dirty="0"/>
          </a:p>
        </p:txBody>
      </p:sp>
      <p:sp>
        <p:nvSpPr>
          <p:cNvPr id="33" name="Shape 31"/>
          <p:cNvSpPr/>
          <p:nvPr/>
        </p:nvSpPr>
        <p:spPr>
          <a:xfrm>
            <a:off x="8592220" y="5631954"/>
            <a:ext cx="1394520" cy="9525"/>
          </a:xfrm>
          <a:prstGeom prst="rect">
            <a:avLst/>
          </a:prstGeom>
          <a:solidFill>
            <a:srgbClr val="D2E6DD"/>
          </a:solidFill>
          <a:ln/>
        </p:spPr>
        <p:txBody>
          <a:bodyPr/>
          <a:p/>
        </p:txBody>
      </p:sp>
      <p:sp>
        <p:nvSpPr>
          <p:cNvPr id="34" name="Text 32"/>
          <p:cNvSpPr/>
          <p:nvPr/>
        </p:nvSpPr>
        <p:spPr>
          <a:xfrm>
            <a:off x="8630320" y="5217616"/>
            <a:ext cx="1242120" cy="347663"/>
          </a:xfrm>
          <a:prstGeom prst="rect">
            <a:avLst/>
          </a:prstGeom>
          <a:noFill/>
          <a:ln/>
        </p:spPr>
        <p:txBody>
          <a:bodyPr wrap="square" lIns="25400" tIns="25400" rIns="25400" bIns="25400" rtlCol="0" anchor="ctr">
            <a:normAutofit/>
          </a:bodyPr>
          <a:lstStyle/>
          <a:p>
            <a:pPr algn="r" indent="0" marL="0">
              <a:buNone/>
            </a:pPr>
            <a:r>
              <a:rPr lang="en-US" sz="1875" b="1" dirty="0">
                <a:solidFill>
                  <a:srgbClr val="1A7A57"/>
                </a:solidFill>
                <a:latin typeface="Courier New" pitchFamily="34" charset="0"/>
                <a:ea typeface="Courier New" pitchFamily="34" charset="-122"/>
                <a:cs typeface="Courier New" pitchFamily="34" charset="-120"/>
              </a:rPr>
              <a:t>0.8565</a:t>
            </a:r>
            <a:endParaRPr lang="en-US" sz="1875" dirty="0"/>
          </a:p>
        </p:txBody>
      </p:sp>
      <p:sp>
        <p:nvSpPr>
          <p:cNvPr id="35" name="Shape 33"/>
          <p:cNvSpPr/>
          <p:nvPr/>
        </p:nvSpPr>
        <p:spPr>
          <a:xfrm>
            <a:off x="9986739" y="5631954"/>
            <a:ext cx="1011287" cy="9525"/>
          </a:xfrm>
          <a:prstGeom prst="rect">
            <a:avLst/>
          </a:prstGeom>
          <a:solidFill>
            <a:srgbClr val="D2E6DD"/>
          </a:solidFill>
          <a:ln/>
        </p:spPr>
        <p:txBody>
          <a:bodyPr/>
          <a:p/>
        </p:txBody>
      </p:sp>
      <p:sp>
        <p:nvSpPr>
          <p:cNvPr id="36" name="Text 34"/>
          <p:cNvSpPr/>
          <p:nvPr/>
        </p:nvSpPr>
        <p:spPr>
          <a:xfrm>
            <a:off x="10024839" y="5217616"/>
            <a:ext cx="858887" cy="347663"/>
          </a:xfrm>
          <a:prstGeom prst="rect">
            <a:avLst/>
          </a:prstGeom>
          <a:noFill/>
          <a:ln/>
        </p:spPr>
        <p:txBody>
          <a:bodyPr wrap="square" lIns="25400" tIns="25400" rIns="25400" bIns="25400" rtlCol="0" anchor="ctr">
            <a:normAutofit/>
          </a:bodyPr>
          <a:lstStyle/>
          <a:p>
            <a:pPr algn="r" indent="0" marL="0">
              <a:buNone/>
            </a:pPr>
            <a:r>
              <a:rPr lang="en-US" sz="1875" dirty="0">
                <a:solidFill>
                  <a:srgbClr val="5C7268"/>
                </a:solidFill>
                <a:latin typeface="Courier New" pitchFamily="34" charset="0"/>
                <a:ea typeface="Courier New" pitchFamily="34" charset="-122"/>
                <a:cs typeface="Courier New" pitchFamily="34" charset="-120"/>
              </a:rPr>
              <a:t>0.512</a:t>
            </a:r>
            <a:endParaRPr lang="en-US" sz="1875" dirty="0"/>
          </a:p>
        </p:txBody>
      </p:sp>
      <p:sp>
        <p:nvSpPr>
          <p:cNvPr id="37" name="Shape 35"/>
          <p:cNvSpPr/>
          <p:nvPr/>
        </p:nvSpPr>
        <p:spPr>
          <a:xfrm>
            <a:off x="952500" y="5641479"/>
            <a:ext cx="10045526" cy="523875"/>
          </a:xfrm>
          <a:prstGeom prst="rect">
            <a:avLst/>
          </a:prstGeom>
          <a:solidFill>
            <a:srgbClr val="E6F5EF"/>
          </a:solidFill>
          <a:ln/>
        </p:spPr>
        <p:txBody>
          <a:bodyPr/>
          <a:p/>
        </p:txBody>
      </p:sp>
      <p:sp>
        <p:nvSpPr>
          <p:cNvPr id="38" name="Text 36"/>
          <p:cNvSpPr/>
          <p:nvPr/>
        </p:nvSpPr>
        <p:spPr>
          <a:xfrm>
            <a:off x="1066800" y="5746254"/>
            <a:ext cx="552227" cy="352425"/>
          </a:xfrm>
          <a:prstGeom prst="rect">
            <a:avLst/>
          </a:prstGeom>
          <a:noFill/>
          <a:ln/>
        </p:spPr>
        <p:txBody>
          <a:bodyPr wrap="square" lIns="25400" tIns="25400" rIns="25400" bIns="25400" rtlCol="0" anchor="ctr">
            <a:normAutofit/>
          </a:bodyPr>
          <a:lstStyle/>
          <a:p>
            <a:pPr algn="l" indent="0" marL="0">
              <a:buNone/>
            </a:pPr>
            <a:r>
              <a:rPr lang="en-US" sz="1875" b="1" dirty="0">
                <a:solidFill>
                  <a:srgbClr val="063D22"/>
                </a:solidFill>
                <a:latin typeface="Courier New" pitchFamily="34" charset="0"/>
                <a:ea typeface="Courier New" pitchFamily="34" charset="-122"/>
                <a:cs typeface="Courier New" pitchFamily="34" charset="-120"/>
              </a:rPr>
              <a:t>v10</a:t>
            </a:r>
            <a:endParaRPr lang="en-US" sz="1875" dirty="0"/>
          </a:p>
        </p:txBody>
      </p:sp>
      <p:sp>
        <p:nvSpPr>
          <p:cNvPr id="39" name="Text 37"/>
          <p:cNvSpPr/>
          <p:nvPr/>
        </p:nvSpPr>
        <p:spPr>
          <a:xfrm>
            <a:off x="1771427" y="5746254"/>
            <a:ext cx="5715258" cy="352425"/>
          </a:xfrm>
          <a:prstGeom prst="rect">
            <a:avLst/>
          </a:prstGeom>
          <a:noFill/>
          <a:ln/>
        </p:spPr>
        <p:txBody>
          <a:bodyPr wrap="square" lIns="25400" tIns="25400" rIns="25400" bIns="25400" rtlCol="0" anchor="ctr">
            <a:normAutofit/>
          </a:bodyPr>
          <a:lstStyle/>
          <a:p>
            <a:pPr algn="l" indent="0" marL="0">
              <a:buNone/>
            </a:pPr>
            <a:r>
              <a:rPr lang="en-US" sz="1875" b="1" dirty="0">
                <a:solidFill>
                  <a:srgbClr val="244236"/>
                </a:solidFill>
                <a:latin typeface="Arial" pitchFamily="34" charset="0"/>
                <a:ea typeface="Arial" pitchFamily="34" charset="-122"/>
                <a:cs typeface="Arial" pitchFamily="34" charset="-120"/>
              </a:rPr>
              <a:t>Clean prep + pseudo-label + smooth threshold</a:t>
            </a:r>
            <a:endParaRPr lang="en-US" sz="1875" dirty="0"/>
          </a:p>
        </p:txBody>
      </p:sp>
      <p:sp>
        <p:nvSpPr>
          <p:cNvPr id="40" name="Text 38"/>
          <p:cNvSpPr/>
          <p:nvPr/>
        </p:nvSpPr>
        <p:spPr>
          <a:xfrm>
            <a:off x="7465963" y="5746254"/>
            <a:ext cx="1011957" cy="352425"/>
          </a:xfrm>
          <a:prstGeom prst="rect">
            <a:avLst/>
          </a:prstGeom>
          <a:noFill/>
          <a:ln/>
        </p:spPr>
        <p:txBody>
          <a:bodyPr wrap="square" lIns="25400" tIns="25400" rIns="25400" bIns="25400" rtlCol="0" anchor="ctr">
            <a:normAutofit/>
          </a:bodyPr>
          <a:lstStyle/>
          <a:p>
            <a:pPr algn="r" indent="0" marL="0">
              <a:buNone/>
            </a:pPr>
            <a:r>
              <a:rPr lang="en-US" sz="1875" b="1" dirty="0">
                <a:solidFill>
                  <a:srgbClr val="244236"/>
                </a:solidFill>
                <a:latin typeface="Courier New" pitchFamily="34" charset="0"/>
                <a:ea typeface="Courier New" pitchFamily="34" charset="-122"/>
                <a:cs typeface="Courier New" pitchFamily="34" charset="-120"/>
              </a:rPr>
              <a:t>0.8590</a:t>
            </a:r>
            <a:endParaRPr lang="en-US" sz="1875" dirty="0"/>
          </a:p>
        </p:txBody>
      </p:sp>
      <p:sp>
        <p:nvSpPr>
          <p:cNvPr id="41" name="Text 39"/>
          <p:cNvSpPr/>
          <p:nvPr/>
        </p:nvSpPr>
        <p:spPr>
          <a:xfrm>
            <a:off x="8630320" y="5746254"/>
            <a:ext cx="1242120" cy="352425"/>
          </a:xfrm>
          <a:prstGeom prst="rect">
            <a:avLst/>
          </a:prstGeom>
          <a:noFill/>
          <a:ln/>
        </p:spPr>
        <p:txBody>
          <a:bodyPr wrap="square" lIns="25400" tIns="25400" rIns="25400" bIns="25400" rtlCol="0" anchor="ctr">
            <a:normAutofit/>
          </a:bodyPr>
          <a:lstStyle/>
          <a:p>
            <a:pPr algn="r" indent="0" marL="0">
              <a:buNone/>
            </a:pPr>
            <a:r>
              <a:rPr lang="en-US" sz="1875" b="1" dirty="0">
                <a:solidFill>
                  <a:srgbClr val="244236"/>
                </a:solidFill>
                <a:latin typeface="Courier New" pitchFamily="34" charset="0"/>
                <a:ea typeface="Courier New" pitchFamily="34" charset="-122"/>
                <a:cs typeface="Courier New" pitchFamily="34" charset="-120"/>
              </a:rPr>
              <a:t>0.8535</a:t>
            </a:r>
            <a:endParaRPr lang="en-US" sz="1875" dirty="0"/>
          </a:p>
        </p:txBody>
      </p:sp>
      <p:sp>
        <p:nvSpPr>
          <p:cNvPr id="42" name="Text 40"/>
          <p:cNvSpPr/>
          <p:nvPr/>
        </p:nvSpPr>
        <p:spPr>
          <a:xfrm>
            <a:off x="10024839" y="5746254"/>
            <a:ext cx="858887" cy="352425"/>
          </a:xfrm>
          <a:prstGeom prst="rect">
            <a:avLst/>
          </a:prstGeom>
          <a:noFill/>
          <a:ln/>
        </p:spPr>
        <p:txBody>
          <a:bodyPr wrap="square" lIns="25400" tIns="25400" rIns="25400" bIns="25400" rtlCol="0" anchor="ctr">
            <a:normAutofit/>
          </a:bodyPr>
          <a:lstStyle/>
          <a:p>
            <a:pPr algn="r" indent="0" marL="0">
              <a:buNone/>
            </a:pPr>
            <a:r>
              <a:rPr lang="en-US" sz="1875" dirty="0">
                <a:solidFill>
                  <a:srgbClr val="5C7268"/>
                </a:solidFill>
                <a:latin typeface="Courier New" pitchFamily="34" charset="0"/>
                <a:ea typeface="Courier New" pitchFamily="34" charset="-122"/>
                <a:cs typeface="Courier New" pitchFamily="34" charset="-120"/>
              </a:rPr>
              <a:t>0.509</a:t>
            </a:r>
            <a:endParaRPr lang="en-US" sz="1875" dirty="0"/>
          </a:p>
        </p:txBody>
      </p:sp>
      <p:sp>
        <p:nvSpPr>
          <p:cNvPr id="43" name="Text 41"/>
          <p:cNvSpPr/>
          <p:nvPr/>
        </p:nvSpPr>
        <p:spPr>
          <a:xfrm>
            <a:off x="952500" y="6374904"/>
            <a:ext cx="11050079" cy="295275"/>
          </a:xfrm>
          <a:prstGeom prst="rect">
            <a:avLst/>
          </a:prstGeom>
          <a:noFill/>
          <a:ln/>
        </p:spPr>
        <p:txBody>
          <a:bodyPr wrap="square" lIns="25400" tIns="25400" rIns="25400" bIns="25400" rtlCol="0" anchor="t">
            <a:normAutofit/>
          </a:bodyPr>
          <a:lstStyle/>
          <a:p>
            <a:pPr algn="l" indent="0" marL="0">
              <a:buNone/>
            </a:pPr>
            <a:r>
              <a:rPr lang="en-US" sz="1800" dirty="0">
                <a:solidFill>
                  <a:srgbClr val="5C7268"/>
                </a:solidFill>
                <a:latin typeface="Courier New" pitchFamily="34" charset="0"/>
                <a:ea typeface="Courier New" pitchFamily="34" charset="-122"/>
                <a:cs typeface="Courier New" pitchFamily="34" charset="-120"/>
              </a:rPr>
              <a:t>Model family ladder · 5-fold accuracy</a:t>
            </a:r>
            <a:endParaRPr lang="en-US" sz="1800" dirty="0"/>
          </a:p>
        </p:txBody>
      </p:sp>
      <p:sp>
        <p:nvSpPr>
          <p:cNvPr id="44" name="Text 42"/>
          <p:cNvSpPr/>
          <p:nvPr/>
        </p:nvSpPr>
        <p:spPr>
          <a:xfrm>
            <a:off x="952500" y="6746379"/>
            <a:ext cx="1173659" cy="295275"/>
          </a:xfrm>
          <a:prstGeom prst="rect">
            <a:avLst/>
          </a:prstGeom>
          <a:noFill/>
          <a:ln/>
        </p:spPr>
        <p:txBody>
          <a:bodyPr wrap="square" lIns="25400" tIns="25400" rIns="25400" bIns="25400" rtlCol="0" anchor="t">
            <a:normAutofit/>
          </a:bodyPr>
          <a:lstStyle/>
          <a:p>
            <a:pPr algn="l" indent="0" marL="0">
              <a:buNone/>
            </a:pPr>
            <a:r>
              <a:rPr lang="en-US" sz="1800" dirty="0">
                <a:solidFill>
                  <a:srgbClr val="5C7268"/>
                </a:solidFill>
                <a:latin typeface="Courier New" pitchFamily="34" charset="0"/>
                <a:ea typeface="Courier New" pitchFamily="34" charset="-122"/>
                <a:cs typeface="Courier New" pitchFamily="34" charset="-120"/>
              </a:rPr>
              <a:t>NB 0.760</a:t>
            </a:r>
            <a:endParaRPr lang="en-US" sz="1800" dirty="0"/>
          </a:p>
        </p:txBody>
      </p:sp>
      <p:sp>
        <p:nvSpPr>
          <p:cNvPr id="45" name="Text 43"/>
          <p:cNvSpPr/>
          <p:nvPr/>
        </p:nvSpPr>
        <p:spPr>
          <a:xfrm>
            <a:off x="2145209" y="6746379"/>
            <a:ext cx="213420" cy="295275"/>
          </a:xfrm>
          <a:prstGeom prst="rect">
            <a:avLst/>
          </a:prstGeom>
          <a:noFill/>
          <a:ln/>
        </p:spPr>
        <p:txBody>
          <a:bodyPr wrap="square" lIns="25400" tIns="25400" rIns="25400" bIns="25400" rtlCol="0" anchor="t">
            <a:normAutofit/>
          </a:bodyPr>
          <a:lstStyle/>
          <a:p>
            <a:pPr algn="l" indent="0" marL="0">
              <a:buNone/>
            </a:pPr>
            <a:r>
              <a:rPr lang="en-US" sz="1800" dirty="0">
                <a:solidFill>
                  <a:srgbClr val="66B3A1"/>
                </a:solidFill>
                <a:latin typeface="Courier New" pitchFamily="34" charset="0"/>
                <a:ea typeface="Courier New" pitchFamily="34" charset="-122"/>
                <a:cs typeface="Courier New" pitchFamily="34" charset="-120"/>
              </a:rPr>
              <a:t>→</a:t>
            </a:r>
            <a:endParaRPr lang="en-US" sz="1800" dirty="0"/>
          </a:p>
        </p:txBody>
      </p:sp>
      <p:sp>
        <p:nvSpPr>
          <p:cNvPr id="46" name="Text 44"/>
          <p:cNvSpPr/>
          <p:nvPr/>
        </p:nvSpPr>
        <p:spPr>
          <a:xfrm>
            <a:off x="2377678" y="6746379"/>
            <a:ext cx="1358146" cy="295275"/>
          </a:xfrm>
          <a:prstGeom prst="rect">
            <a:avLst/>
          </a:prstGeom>
          <a:noFill/>
          <a:ln/>
        </p:spPr>
        <p:txBody>
          <a:bodyPr wrap="square" lIns="25400" tIns="25400" rIns="25400" bIns="25400" rtlCol="0" anchor="t">
            <a:normAutofit/>
          </a:bodyPr>
          <a:lstStyle/>
          <a:p>
            <a:pPr algn="l" indent="0" marL="0">
              <a:buNone/>
            </a:pPr>
            <a:r>
              <a:rPr lang="en-US" sz="1800" dirty="0">
                <a:solidFill>
                  <a:srgbClr val="5C7268"/>
                </a:solidFill>
                <a:latin typeface="Courier New" pitchFamily="34" charset="0"/>
                <a:ea typeface="Courier New" pitchFamily="34" charset="-122"/>
                <a:cs typeface="Courier New" pitchFamily="34" charset="-120"/>
              </a:rPr>
              <a:t>LDA 0.777</a:t>
            </a:r>
            <a:endParaRPr lang="en-US" sz="1800" dirty="0"/>
          </a:p>
        </p:txBody>
      </p:sp>
      <p:sp>
        <p:nvSpPr>
          <p:cNvPr id="47" name="Text 45"/>
          <p:cNvSpPr/>
          <p:nvPr/>
        </p:nvSpPr>
        <p:spPr>
          <a:xfrm>
            <a:off x="3707606" y="6746379"/>
            <a:ext cx="213420" cy="295275"/>
          </a:xfrm>
          <a:prstGeom prst="rect">
            <a:avLst/>
          </a:prstGeom>
          <a:noFill/>
          <a:ln/>
        </p:spPr>
        <p:txBody>
          <a:bodyPr wrap="square" lIns="25400" tIns="25400" rIns="25400" bIns="25400" rtlCol="0" anchor="t">
            <a:normAutofit/>
          </a:bodyPr>
          <a:lstStyle/>
          <a:p>
            <a:pPr algn="l" indent="0" marL="0">
              <a:buNone/>
            </a:pPr>
            <a:r>
              <a:rPr lang="en-US" sz="1800" dirty="0">
                <a:solidFill>
                  <a:srgbClr val="66B3A1"/>
                </a:solidFill>
                <a:latin typeface="Courier New" pitchFamily="34" charset="0"/>
                <a:ea typeface="Courier New" pitchFamily="34" charset="-122"/>
                <a:cs typeface="Courier New" pitchFamily="34" charset="-120"/>
              </a:rPr>
              <a:t>→</a:t>
            </a:r>
            <a:endParaRPr lang="en-US" sz="1800" dirty="0"/>
          </a:p>
        </p:txBody>
      </p:sp>
      <p:sp>
        <p:nvSpPr>
          <p:cNvPr id="48" name="Text 46"/>
          <p:cNvSpPr/>
          <p:nvPr/>
        </p:nvSpPr>
        <p:spPr>
          <a:xfrm>
            <a:off x="3940076" y="6746379"/>
            <a:ext cx="1173659" cy="295275"/>
          </a:xfrm>
          <a:prstGeom prst="rect">
            <a:avLst/>
          </a:prstGeom>
          <a:noFill/>
          <a:ln/>
        </p:spPr>
        <p:txBody>
          <a:bodyPr wrap="square" lIns="25400" tIns="25400" rIns="25400" bIns="25400" rtlCol="0" anchor="t">
            <a:normAutofit/>
          </a:bodyPr>
          <a:lstStyle/>
          <a:p>
            <a:pPr algn="l" indent="0" marL="0">
              <a:buNone/>
            </a:pPr>
            <a:r>
              <a:rPr lang="en-US" sz="1800" dirty="0">
                <a:solidFill>
                  <a:srgbClr val="5C7268"/>
                </a:solidFill>
                <a:latin typeface="Courier New" pitchFamily="34" charset="0"/>
                <a:ea typeface="Courier New" pitchFamily="34" charset="-122"/>
                <a:cs typeface="Courier New" pitchFamily="34" charset="-120"/>
              </a:rPr>
              <a:t>LR 0.784</a:t>
            </a:r>
            <a:endParaRPr lang="en-US" sz="1800" dirty="0"/>
          </a:p>
        </p:txBody>
      </p:sp>
      <p:sp>
        <p:nvSpPr>
          <p:cNvPr id="49" name="Text 47"/>
          <p:cNvSpPr/>
          <p:nvPr/>
        </p:nvSpPr>
        <p:spPr>
          <a:xfrm>
            <a:off x="5132784" y="6746379"/>
            <a:ext cx="213420" cy="295275"/>
          </a:xfrm>
          <a:prstGeom prst="rect">
            <a:avLst/>
          </a:prstGeom>
          <a:noFill/>
          <a:ln/>
        </p:spPr>
        <p:txBody>
          <a:bodyPr wrap="square" lIns="25400" tIns="25400" rIns="25400" bIns="25400" rtlCol="0" anchor="t">
            <a:normAutofit/>
          </a:bodyPr>
          <a:lstStyle/>
          <a:p>
            <a:pPr algn="l" indent="0" marL="0">
              <a:buNone/>
            </a:pPr>
            <a:r>
              <a:rPr lang="en-US" sz="1800" dirty="0">
                <a:solidFill>
                  <a:srgbClr val="66B3A1"/>
                </a:solidFill>
                <a:latin typeface="Courier New" pitchFamily="34" charset="0"/>
                <a:ea typeface="Courier New" pitchFamily="34" charset="-122"/>
                <a:cs typeface="Courier New" pitchFamily="34" charset="-120"/>
              </a:rPr>
              <a:t>→</a:t>
            </a:r>
            <a:endParaRPr lang="en-US" sz="1800" dirty="0"/>
          </a:p>
        </p:txBody>
      </p:sp>
      <p:sp>
        <p:nvSpPr>
          <p:cNvPr id="50" name="Text 48"/>
          <p:cNvSpPr/>
          <p:nvPr/>
        </p:nvSpPr>
        <p:spPr>
          <a:xfrm>
            <a:off x="5365254" y="6746379"/>
            <a:ext cx="1173659" cy="295275"/>
          </a:xfrm>
          <a:prstGeom prst="rect">
            <a:avLst/>
          </a:prstGeom>
          <a:noFill/>
          <a:ln/>
        </p:spPr>
        <p:txBody>
          <a:bodyPr wrap="square" lIns="25400" tIns="25400" rIns="25400" bIns="25400" rtlCol="0" anchor="t">
            <a:normAutofit/>
          </a:bodyPr>
          <a:lstStyle/>
          <a:p>
            <a:pPr algn="l" indent="0" marL="0">
              <a:buNone/>
            </a:pPr>
            <a:r>
              <a:rPr lang="en-US" sz="1800" dirty="0">
                <a:solidFill>
                  <a:srgbClr val="244236"/>
                </a:solidFill>
                <a:latin typeface="Courier New" pitchFamily="34" charset="0"/>
                <a:ea typeface="Courier New" pitchFamily="34" charset="-122"/>
                <a:cs typeface="Courier New" pitchFamily="34" charset="-120"/>
              </a:rPr>
              <a:t>RF 0.833</a:t>
            </a:r>
            <a:endParaRPr lang="en-US" sz="1800" dirty="0"/>
          </a:p>
        </p:txBody>
      </p:sp>
      <p:sp>
        <p:nvSpPr>
          <p:cNvPr id="51" name="Text 49"/>
          <p:cNvSpPr/>
          <p:nvPr/>
        </p:nvSpPr>
        <p:spPr>
          <a:xfrm>
            <a:off x="6557963" y="6746379"/>
            <a:ext cx="213420" cy="295275"/>
          </a:xfrm>
          <a:prstGeom prst="rect">
            <a:avLst/>
          </a:prstGeom>
          <a:noFill/>
          <a:ln/>
        </p:spPr>
        <p:txBody>
          <a:bodyPr wrap="square" lIns="25400" tIns="25400" rIns="25400" bIns="25400" rtlCol="0" anchor="t">
            <a:normAutofit/>
          </a:bodyPr>
          <a:lstStyle/>
          <a:p>
            <a:pPr algn="l" indent="0" marL="0">
              <a:buNone/>
            </a:pPr>
            <a:r>
              <a:rPr lang="en-US" sz="1800" dirty="0">
                <a:solidFill>
                  <a:srgbClr val="66B3A1"/>
                </a:solidFill>
                <a:latin typeface="Courier New" pitchFamily="34" charset="0"/>
                <a:ea typeface="Courier New" pitchFamily="34" charset="-122"/>
                <a:cs typeface="Courier New" pitchFamily="34" charset="-120"/>
              </a:rPr>
              <a:t>→</a:t>
            </a:r>
            <a:endParaRPr lang="en-US" sz="1800" dirty="0"/>
          </a:p>
        </p:txBody>
      </p:sp>
      <p:sp>
        <p:nvSpPr>
          <p:cNvPr id="52" name="Text 50"/>
          <p:cNvSpPr/>
          <p:nvPr/>
        </p:nvSpPr>
        <p:spPr>
          <a:xfrm>
            <a:off x="6790432" y="6727329"/>
            <a:ext cx="2112280" cy="333375"/>
          </a:xfrm>
          <a:prstGeom prst="rect">
            <a:avLst/>
          </a:prstGeom>
          <a:noFill/>
          <a:ln/>
        </p:spPr>
        <p:txBody>
          <a:bodyPr wrap="square" lIns="25400" tIns="25400" rIns="25400" bIns="25400" rtlCol="0" anchor="t">
            <a:normAutofit/>
          </a:bodyPr>
          <a:lstStyle/>
          <a:p>
            <a:pPr algn="l" indent="0" marL="0">
              <a:buNone/>
            </a:pPr>
            <a:r>
              <a:rPr lang="en-US" sz="1800" b="1" dirty="0">
                <a:solidFill>
                  <a:srgbClr val="063D22"/>
                </a:solidFill>
                <a:latin typeface="Courier New" pitchFamily="34" charset="0"/>
                <a:ea typeface="Courier New" pitchFamily="34" charset="-122"/>
                <a:cs typeface="Courier New" pitchFamily="34" charset="-120"/>
              </a:rPr>
              <a:t>LightGBM 0.836</a:t>
            </a:r>
            <a:endParaRPr lang="en-US" sz="1800" dirty="0"/>
          </a:p>
        </p:txBody>
      </p:sp>
      <p:sp>
        <p:nvSpPr>
          <p:cNvPr id="53" name="Text 51"/>
          <p:cNvSpPr/>
          <p:nvPr/>
        </p:nvSpPr>
        <p:spPr>
          <a:xfrm>
            <a:off x="8805937" y="6746379"/>
            <a:ext cx="213420" cy="295275"/>
          </a:xfrm>
          <a:prstGeom prst="rect">
            <a:avLst/>
          </a:prstGeom>
          <a:noFill/>
          <a:ln/>
        </p:spPr>
        <p:txBody>
          <a:bodyPr wrap="square" lIns="25400" tIns="25400" rIns="25400" bIns="25400" rtlCol="0" anchor="t">
            <a:normAutofit/>
          </a:bodyPr>
          <a:lstStyle/>
          <a:p>
            <a:pPr algn="l" indent="0" marL="0">
              <a:buNone/>
            </a:pPr>
            <a:r>
              <a:rPr lang="en-US" sz="1800" dirty="0">
                <a:solidFill>
                  <a:srgbClr val="66B3A1"/>
                </a:solidFill>
                <a:latin typeface="Courier New" pitchFamily="34" charset="0"/>
                <a:ea typeface="Courier New" pitchFamily="34" charset="-122"/>
                <a:cs typeface="Courier New" pitchFamily="34" charset="-120"/>
              </a:rPr>
              <a:t>→</a:t>
            </a:r>
            <a:endParaRPr lang="en-US" sz="1800" dirty="0"/>
          </a:p>
        </p:txBody>
      </p:sp>
      <p:sp>
        <p:nvSpPr>
          <p:cNvPr id="54" name="Text 52"/>
          <p:cNvSpPr/>
          <p:nvPr/>
        </p:nvSpPr>
        <p:spPr>
          <a:xfrm>
            <a:off x="9038406" y="6727329"/>
            <a:ext cx="2112280" cy="333375"/>
          </a:xfrm>
          <a:prstGeom prst="rect">
            <a:avLst/>
          </a:prstGeom>
          <a:noFill/>
          <a:ln/>
        </p:spPr>
        <p:txBody>
          <a:bodyPr wrap="square" lIns="25400" tIns="25400" rIns="25400" bIns="25400" rtlCol="0" anchor="t">
            <a:normAutofit/>
          </a:bodyPr>
          <a:lstStyle/>
          <a:p>
            <a:pPr algn="l" indent="0" marL="0">
              <a:buNone/>
            </a:pPr>
            <a:r>
              <a:rPr lang="en-US" sz="1800" b="1" dirty="0">
                <a:solidFill>
                  <a:srgbClr val="1A7A57"/>
                </a:solidFill>
                <a:latin typeface="Courier New" pitchFamily="34" charset="0"/>
                <a:ea typeface="Courier New" pitchFamily="34" charset="-122"/>
                <a:cs typeface="Courier New" pitchFamily="34" charset="-120"/>
              </a:rPr>
              <a:t>ensemble 0.859</a:t>
            </a:r>
            <a:endParaRPr lang="en-US" sz="1800" dirty="0"/>
          </a:p>
        </p:txBody>
      </p:sp>
      <p:sp>
        <p:nvSpPr>
          <p:cNvPr id="55" name="Text 53"/>
          <p:cNvSpPr/>
          <p:nvPr/>
        </p:nvSpPr>
        <p:spPr>
          <a:xfrm>
            <a:off x="952500" y="7232154"/>
            <a:ext cx="10346892" cy="678061"/>
          </a:xfrm>
          <a:prstGeom prst="rect">
            <a:avLst/>
          </a:prstGeom>
          <a:noFill/>
          <a:ln/>
        </p:spPr>
        <p:txBody>
          <a:bodyPr wrap="square" lIns="25400" tIns="25400" rIns="25400" bIns="25400" rtlCol="0" anchor="t">
            <a:normAutofit/>
          </a:bodyPr>
          <a:lstStyle/>
          <a:p>
            <a:pPr algn="l" indent="0" marL="0">
              <a:lnSpc>
                <a:spcPct val="140000"/>
              </a:lnSpc>
              <a:buNone/>
            </a:pPr>
            <a:r>
              <a:rPr lang="en-US" sz="1800" dirty="0">
                <a:solidFill>
                  <a:srgbClr val="5C7268"/>
                </a:solidFill>
                <a:latin typeface="Arial" pitchFamily="34" charset="0"/>
                <a:ea typeface="Arial" pitchFamily="34" charset="-122"/>
                <a:cs typeface="Arial" pitchFamily="34" charset="-120"/>
              </a:rPr>
              <a:t>v10 adds leak-free z-scoring and a conservative smooth threshold (ROC AUC 0.9377). Its OOF dips slightly below v6/v7 </a:t>
            </a:r>
            <a:pPr algn="l" indent="0" marL="0">
              <a:lnSpc>
                <a:spcPct val="140000"/>
              </a:lnSpc>
              <a:buNone/>
            </a:pPr>
            <a:r>
              <a:rPr lang="en-US" sz="1800" b="1" dirty="0">
                <a:solidFill>
                  <a:srgbClr val="244236"/>
                </a:solidFill>
                <a:latin typeface="Arial" pitchFamily="34" charset="0"/>
                <a:ea typeface="Arial" pitchFamily="34" charset="-122"/>
                <a:cs typeface="Arial" pitchFamily="34" charset="-120"/>
              </a:rPr>
              <a:t>by design </a:t>
            </a:r>
            <a:pPr algn="l" indent="0" marL="0">
              <a:lnSpc>
                <a:spcPct val="140000"/>
              </a:lnSpc>
              <a:buNone/>
            </a:pPr>
            <a:r>
              <a:rPr lang="en-US" sz="1800" dirty="0">
                <a:solidFill>
                  <a:srgbClr val="5C7268"/>
                </a:solidFill>
                <a:latin typeface="Arial" pitchFamily="34" charset="0"/>
                <a:ea typeface="Arial" pitchFamily="34" charset="-122"/>
                <a:cs typeface="Arial" pitchFamily="34" charset="-120"/>
              </a:rPr>
              <a:t>— not because the model is worse.</a:t>
            </a:r>
            <a:endParaRPr lang="en-US" sz="1800" dirty="0"/>
          </a:p>
        </p:txBody>
      </p:sp>
      <p:sp>
        <p:nvSpPr>
          <p:cNvPr id="56" name="Text 54"/>
          <p:cNvSpPr/>
          <p:nvPr/>
        </p:nvSpPr>
        <p:spPr>
          <a:xfrm>
            <a:off x="11531426" y="3792662"/>
            <a:ext cx="6384481" cy="870570"/>
          </a:xfrm>
          <a:prstGeom prst="rect">
            <a:avLst/>
          </a:prstGeom>
          <a:noFill/>
          <a:ln/>
        </p:spPr>
        <p:txBody>
          <a:bodyPr wrap="square" lIns="25400" tIns="25400" rIns="25400" bIns="25400" rtlCol="0" anchor="t">
            <a:normAutofit/>
          </a:bodyPr>
          <a:lstStyle/>
          <a:p>
            <a:pPr algn="l" indent="0" marL="0">
              <a:lnSpc>
                <a:spcPct val="95000"/>
              </a:lnSpc>
              <a:buNone/>
            </a:pPr>
            <a:r>
              <a:rPr lang="en-US" sz="6900" b="1" dirty="0">
                <a:solidFill>
                  <a:srgbClr val="1A7A57"/>
                </a:solidFill>
                <a:latin typeface="Arial" pitchFamily="34" charset="0"/>
                <a:ea typeface="Arial" pitchFamily="34" charset="-122"/>
                <a:cs typeface="Arial" pitchFamily="34" charset="-120"/>
              </a:rPr>
              <a:t>0.8565</a:t>
            </a:r>
            <a:endParaRPr lang="en-US" sz="6900" dirty="0"/>
          </a:p>
        </p:txBody>
      </p:sp>
      <p:sp>
        <p:nvSpPr>
          <p:cNvPr id="57" name="Text 55"/>
          <p:cNvSpPr/>
          <p:nvPr/>
        </p:nvSpPr>
        <p:spPr>
          <a:xfrm>
            <a:off x="11531426" y="4720382"/>
            <a:ext cx="5978196" cy="733425"/>
          </a:xfrm>
          <a:prstGeom prst="rect">
            <a:avLst/>
          </a:prstGeom>
          <a:noFill/>
          <a:ln/>
        </p:spPr>
        <p:txBody>
          <a:bodyPr wrap="square" lIns="25400" tIns="25400" rIns="25400" bIns="25400" rtlCol="0" anchor="t">
            <a:normAutofit/>
          </a:bodyPr>
          <a:lstStyle/>
          <a:p>
            <a:pPr algn="l" indent="0" marL="0">
              <a:buNone/>
            </a:pPr>
            <a:r>
              <a:rPr lang="en-US" sz="2250" b="1" dirty="0">
                <a:solidFill>
                  <a:srgbClr val="063D22"/>
                </a:solidFill>
                <a:latin typeface="Arial" pitchFamily="34" charset="0"/>
                <a:ea typeface="Arial" pitchFamily="34" charset="-122"/>
                <a:cs typeface="Arial" pitchFamily="34" charset="-120"/>
              </a:rPr>
              <a:t>0.8565 public accuracy — no leak, no protected attributes.</a:t>
            </a:r>
            <a:endParaRPr lang="en-US" sz="2250" dirty="0"/>
          </a:p>
        </p:txBody>
      </p:sp>
      <p:sp>
        <p:nvSpPr>
          <p:cNvPr id="58" name="Text 56"/>
          <p:cNvSpPr/>
          <p:nvPr/>
        </p:nvSpPr>
        <p:spPr>
          <a:xfrm>
            <a:off x="11531426" y="5682407"/>
            <a:ext cx="5978196" cy="1204913"/>
          </a:xfrm>
          <a:prstGeom prst="rect">
            <a:avLst/>
          </a:prstGeom>
          <a:noFill/>
          <a:ln/>
        </p:spPr>
        <p:txBody>
          <a:bodyPr wrap="square" lIns="25400" tIns="25400" rIns="25400" bIns="25400" rtlCol="0" anchor="t">
            <a:normAutofit/>
          </a:bodyPr>
          <a:lstStyle/>
          <a:p>
            <a:pPr algn="l" indent="0" marL="0">
              <a:lnSpc>
                <a:spcPct val="150000"/>
              </a:lnSpc>
              <a:buNone/>
            </a:pPr>
            <a:r>
              <a:rPr lang="en-US" sz="2025" dirty="0">
                <a:solidFill>
                  <a:srgbClr val="244236"/>
                </a:solidFill>
                <a:latin typeface="Arial" pitchFamily="34" charset="0"/>
                <a:ea typeface="Arial" pitchFamily="34" charset="-122"/>
                <a:cs typeface="Arial" pitchFamily="34" charset="-120"/>
              </a:rPr>
              <a:t>Our held-back validation tracked just above the live score the whole way — it </a:t>
            </a:r>
            <a:pPr algn="l" indent="0" marL="0">
              <a:lnSpc>
                <a:spcPct val="150000"/>
              </a:lnSpc>
              <a:buNone/>
            </a:pPr>
            <a:r>
              <a:rPr lang="en-US" sz="2025" b="1" dirty="0">
                <a:solidFill>
                  <a:srgbClr val="063D22"/>
                </a:solidFill>
                <a:latin typeface="Arial" pitchFamily="34" charset="0"/>
                <a:ea typeface="Arial" pitchFamily="34" charset="-122"/>
                <a:cs typeface="Arial" pitchFamily="34" charset="-120"/>
              </a:rPr>
              <a:t>called the result in advance </a:t>
            </a:r>
            <a:pPr algn="l" indent="0" marL="0">
              <a:lnSpc>
                <a:spcPct val="150000"/>
              </a:lnSpc>
              <a:buNone/>
            </a:pPr>
            <a:r>
              <a:rPr lang="en-US" sz="2025" dirty="0">
                <a:solidFill>
                  <a:srgbClr val="244236"/>
                </a:solidFill>
                <a:latin typeface="Arial" pitchFamily="34" charset="0"/>
                <a:ea typeface="Arial" pitchFamily="34" charset="-122"/>
                <a:cs typeface="Arial" pitchFamily="34" charset="-120"/>
              </a:rPr>
              <a:t>.</a:t>
            </a:r>
            <a:endParaRPr lang="en-US" sz="2025" dirty="0"/>
          </a:p>
        </p:txBody>
      </p:sp>
      <p:sp>
        <p:nvSpPr>
          <p:cNvPr id="59" name="Text 57"/>
          <p:cNvSpPr/>
          <p:nvPr/>
        </p:nvSpPr>
        <p:spPr>
          <a:xfrm>
            <a:off x="11531426" y="7020669"/>
            <a:ext cx="5978196" cy="814388"/>
          </a:xfrm>
          <a:prstGeom prst="rect">
            <a:avLst/>
          </a:prstGeom>
          <a:noFill/>
          <a:ln/>
        </p:spPr>
        <p:txBody>
          <a:bodyPr wrap="square" lIns="25400" tIns="25400" rIns="25400" bIns="25400" rtlCol="0" anchor="t">
            <a:normAutofit/>
          </a:bodyPr>
          <a:lstStyle/>
          <a:p>
            <a:pPr algn="l" indent="0" marL="0">
              <a:lnSpc>
                <a:spcPct val="150000"/>
              </a:lnSpc>
              <a:buNone/>
            </a:pPr>
            <a:r>
              <a:rPr lang="en-US" sz="2025" dirty="0">
                <a:solidFill>
                  <a:srgbClr val="5C7268"/>
                </a:solidFill>
                <a:latin typeface="Arial" pitchFamily="34" charset="0"/>
                <a:ea typeface="Arial" pitchFamily="34" charset="-122"/>
                <a:cs typeface="Arial" pitchFamily="34" charset="-120"/>
              </a:rPr>
              <a:t>Adversarial validation confirms the CV→LB gap is </a:t>
            </a:r>
            <a:pPr algn="l" indent="0" marL="0">
              <a:lnSpc>
                <a:spcPct val="150000"/>
              </a:lnSpc>
              <a:buNone/>
            </a:pPr>
            <a:r>
              <a:rPr lang="en-US" sz="2025" b="1" dirty="0">
                <a:solidFill>
                  <a:srgbClr val="244236"/>
                </a:solidFill>
                <a:latin typeface="Arial" pitchFamily="34" charset="0"/>
                <a:ea typeface="Arial" pitchFamily="34" charset="-122"/>
                <a:cs typeface="Arial" pitchFamily="34" charset="-120"/>
              </a:rPr>
              <a:t>distribution shift over time</a:t>
            </a:r>
            <a:pPr algn="l" indent="0" marL="0">
              <a:lnSpc>
                <a:spcPct val="150000"/>
              </a:lnSpc>
              <a:buNone/>
            </a:pPr>
            <a:r>
              <a:rPr lang="en-US" sz="2025" dirty="0">
                <a:solidFill>
                  <a:srgbClr val="5C7268"/>
                </a:solidFill>
                <a:latin typeface="Arial" pitchFamily="34" charset="0"/>
                <a:ea typeface="Arial" pitchFamily="34" charset="-122"/>
                <a:cs typeface="Arial" pitchFamily="34" charset="-120"/>
              </a:rPr>
              <a:t>, not overfitting.</a:t>
            </a:r>
            <a:endParaRPr lang="en-US" sz="2025" dirty="0"/>
          </a:p>
        </p:txBody>
      </p:sp>
      <p:sp>
        <p:nvSpPr>
          <p:cNvPr id="60" name="Shape 58"/>
          <p:cNvSpPr/>
          <p:nvPr/>
        </p:nvSpPr>
        <p:spPr>
          <a:xfrm>
            <a:off x="952500" y="9239250"/>
            <a:ext cx="16383000" cy="9525"/>
          </a:xfrm>
          <a:prstGeom prst="rect">
            <a:avLst/>
          </a:prstGeom>
          <a:solidFill>
            <a:srgbClr val="D2E6DD"/>
          </a:solidFill>
          <a:ln/>
        </p:spPr>
      </p:sp>
      <p:sp>
        <p:nvSpPr>
          <p:cNvPr id="61" name="Text 59"/>
          <p:cNvSpPr/>
          <p:nvPr/>
        </p:nvSpPr>
        <p:spPr>
          <a:xfrm>
            <a:off x="952500" y="9458325"/>
            <a:ext cx="16874490" cy="295275"/>
          </a:xfrm>
          <a:prstGeom prst="rect">
            <a:avLst/>
          </a:prstGeom>
          <a:noFill/>
          <a:ln/>
        </p:spPr>
        <p:txBody>
          <a:bodyPr wrap="square" lIns="25400" tIns="25400" rIns="25400" bIns="25400" rtlCol="0" anchor="t">
            <a:normAutofit/>
          </a:bodyPr>
          <a:lstStyle/>
          <a:p>
            <a:pPr algn="l" indent="0" marL="0">
              <a:buNone/>
            </a:pPr>
            <a:r>
              <a:rPr lang="en-US" sz="1800" dirty="0">
                <a:solidFill>
                  <a:srgbClr val="5C7268"/>
                </a:solidFill>
                <a:latin typeface="Courier New" pitchFamily="34" charset="0"/>
                <a:ea typeface="Courier New" pitchFamily="34" charset="-122"/>
                <a:cs typeface="Courier New" pitchFamily="34" charset="-120"/>
              </a:rPr>
              <a:t>Source: Kaggle public leaderboard · 10 submissions, v1 → v10</a:t>
            </a:r>
            <a:endParaRPr lang="en-US" sz="1800" dirty="0"/>
          </a:p>
        </p:txBody>
      </p:sp>
      <p:pic>
        <p:nvPicPr>
          <p:cNvPr id="62" name="Picture 61" descr="deck_progression.png"/>
          <p:cNvPicPr>
            <a:picLocks noChangeAspect="1"/>
          </p:cNvPicPr>
          <p:nvPr/>
        </p:nvPicPr>
        <p:blipFill>
          <a:blip r:embed="rId3"/>
          <a:stretch>
            <a:fillRect/>
          </a:stretch>
        </p:blipFill>
        <p:spPr>
          <a:xfrm>
            <a:off x="1188720" y="2103120"/>
            <a:ext cx="15361920" cy="1632204"/>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sp>
      <p:sp>
        <p:nvSpPr>
          <p:cNvPr id="3" name="Text 1"/>
          <p:cNvSpPr/>
          <p:nvPr/>
        </p:nvSpPr>
        <p:spPr>
          <a:xfrm>
            <a:off x="952500" y="742950"/>
            <a:ext cx="18021300" cy="295275"/>
          </a:xfrm>
          <a:prstGeom prst="rect">
            <a:avLst/>
          </a:prstGeom>
          <a:noFill/>
          <a:ln/>
        </p:spPr>
        <p:txBody>
          <a:bodyPr wrap="square" lIns="25400" tIns="25400" rIns="25400" bIns="25400" rtlCol="0" anchor="t">
            <a:normAutofit/>
          </a:bodyPr>
          <a:lstStyle/>
          <a:p>
            <a:pPr algn="l" indent="0" marL="0">
              <a:buNone/>
            </a:pPr>
            <a:r>
              <a:rPr lang="en-US" sz="1800" spc="225" kern="0" dirty="0">
                <a:solidFill>
                  <a:srgbClr val="007A33"/>
                </a:solidFill>
                <a:latin typeface="Courier New" pitchFamily="34" charset="0"/>
                <a:ea typeface="Courier New" pitchFamily="34" charset="-122"/>
                <a:cs typeface="Courier New" pitchFamily="34" charset="-120"/>
              </a:rPr>
              <a:t>10 · WHAT WE LEARNED</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a:bodyPr>
          <a:lstStyle/>
          <a:p>
            <a:pPr algn="l" indent="0" marL="0">
              <a:lnSpc>
                <a:spcPct val="112000"/>
              </a:lnSpc>
              <a:buNone/>
            </a:pPr>
            <a:r>
              <a:rPr lang="en-US" sz="3600" b="1" spc="-37" kern="0" dirty="0">
                <a:solidFill>
                  <a:srgbClr val="063D22"/>
                </a:solidFill>
                <a:latin typeface="Arial" pitchFamily="34" charset="0"/>
                <a:ea typeface="Arial" pitchFamily="34" charset="-122"/>
                <a:cs typeface="Arial" pitchFamily="34" charset="-120"/>
              </a:rPr>
              <a:t>Finding the traps was harder than building the model</a:t>
            </a:r>
            <a:endParaRPr lang="en-US" sz="3600" dirty="0"/>
          </a:p>
        </p:txBody>
      </p:sp>
      <p:sp>
        <p:nvSpPr>
          <p:cNvPr id="5" name="Text 3"/>
          <p:cNvSpPr/>
          <p:nvPr/>
        </p:nvSpPr>
        <p:spPr>
          <a:xfrm>
            <a:off x="952500" y="2426568"/>
            <a:ext cx="3868817" cy="647700"/>
          </a:xfrm>
          <a:prstGeom prst="rect">
            <a:avLst/>
          </a:prstGeom>
          <a:noFill/>
          <a:ln/>
        </p:spPr>
        <p:txBody>
          <a:bodyPr wrap="square" lIns="25400" tIns="25400" rIns="25400" bIns="25400" rtlCol="0" anchor="t">
            <a:normAutofit/>
          </a:bodyPr>
          <a:lstStyle/>
          <a:p>
            <a:pPr algn="l" indent="0" marL="0">
              <a:lnSpc>
                <a:spcPct val="100000"/>
              </a:lnSpc>
              <a:buNone/>
            </a:pPr>
            <a:r>
              <a:rPr lang="en-US" sz="4800" b="1" dirty="0">
                <a:solidFill>
                  <a:srgbClr val="66B3A1"/>
                </a:solidFill>
                <a:latin typeface="Georgia" pitchFamily="34" charset="0"/>
                <a:ea typeface="Georgia" pitchFamily="34" charset="-122"/>
                <a:cs typeface="Georgia" pitchFamily="34" charset="-120"/>
              </a:rPr>
              <a:t>01</a:t>
            </a:r>
            <a:endParaRPr lang="en-US" sz="4800" dirty="0"/>
          </a:p>
        </p:txBody>
      </p:sp>
      <p:sp>
        <p:nvSpPr>
          <p:cNvPr id="6" name="Text 4"/>
          <p:cNvSpPr/>
          <p:nvPr/>
        </p:nvSpPr>
        <p:spPr>
          <a:xfrm>
            <a:off x="952500" y="3207618"/>
            <a:ext cx="3622619" cy="733425"/>
          </a:xfrm>
          <a:prstGeom prst="rect">
            <a:avLst/>
          </a:prstGeom>
          <a:noFill/>
          <a:ln/>
        </p:spPr>
        <p:txBody>
          <a:bodyPr wrap="square" lIns="25400" tIns="25400" rIns="25400" bIns="25400" rtlCol="0" anchor="t">
            <a:normAutofit/>
          </a:bodyPr>
          <a:lstStyle/>
          <a:p>
            <a:pPr algn="l" indent="0" marL="0">
              <a:buNone/>
            </a:pPr>
            <a:r>
              <a:rPr lang="en-US" sz="2250" b="1" dirty="0">
                <a:solidFill>
                  <a:srgbClr val="063D22"/>
                </a:solidFill>
                <a:latin typeface="Arial" pitchFamily="34" charset="0"/>
                <a:ea typeface="Arial" pitchFamily="34" charset="-122"/>
                <a:cs typeface="Arial" pitchFamily="34" charset="-120"/>
              </a:rPr>
              <a:t>The traps, not the algorithm</a:t>
            </a:r>
            <a:endParaRPr lang="en-US" sz="2250" dirty="0"/>
          </a:p>
        </p:txBody>
      </p:sp>
      <p:sp>
        <p:nvSpPr>
          <p:cNvPr id="7" name="Text 5"/>
          <p:cNvSpPr/>
          <p:nvPr/>
        </p:nvSpPr>
        <p:spPr>
          <a:xfrm>
            <a:off x="952500" y="4017243"/>
            <a:ext cx="3622619" cy="1115244"/>
          </a:xfrm>
          <a:prstGeom prst="rect">
            <a:avLst/>
          </a:prstGeom>
          <a:noFill/>
          <a:ln/>
        </p:spPr>
        <p:txBody>
          <a:bodyPr wrap="square" lIns="25400" tIns="25400" rIns="25400" bIns="25400" rtlCol="0" anchor="t">
            <a:normAutofit/>
          </a:bodyPr>
          <a:lstStyle/>
          <a:p>
            <a:pPr algn="l" indent="0" marL="0">
              <a:lnSpc>
                <a:spcPct val="145000"/>
              </a:lnSpc>
              <a:buNone/>
            </a:pPr>
            <a:r>
              <a:rPr lang="en-US" sz="1950" dirty="0">
                <a:solidFill>
                  <a:srgbClr val="5C7268"/>
                </a:solidFill>
                <a:latin typeface="Arial" pitchFamily="34" charset="0"/>
                <a:ea typeface="Arial" pitchFamily="34" charset="-122"/>
                <a:cs typeface="Arial" pitchFamily="34" charset="-120"/>
              </a:rPr>
              <a:t>Most of the value came from catching sabotaged columns before any modeling.</a:t>
            </a:r>
            <a:endParaRPr lang="en-US" sz="1950" dirty="0"/>
          </a:p>
        </p:txBody>
      </p:sp>
      <p:sp>
        <p:nvSpPr>
          <p:cNvPr id="8" name="Shape 6"/>
          <p:cNvSpPr/>
          <p:nvPr/>
        </p:nvSpPr>
        <p:spPr>
          <a:xfrm>
            <a:off x="4850606" y="2426568"/>
            <a:ext cx="9525" cy="6812682"/>
          </a:xfrm>
          <a:prstGeom prst="rect">
            <a:avLst/>
          </a:prstGeom>
          <a:solidFill>
            <a:srgbClr val="D2E6DD"/>
          </a:solidFill>
          <a:ln/>
        </p:spPr>
      </p:sp>
      <p:sp>
        <p:nvSpPr>
          <p:cNvPr id="9" name="Text 7"/>
          <p:cNvSpPr/>
          <p:nvPr/>
        </p:nvSpPr>
        <p:spPr>
          <a:xfrm>
            <a:off x="5241131" y="2426568"/>
            <a:ext cx="3868817" cy="647700"/>
          </a:xfrm>
          <a:prstGeom prst="rect">
            <a:avLst/>
          </a:prstGeom>
          <a:noFill/>
          <a:ln/>
        </p:spPr>
        <p:txBody>
          <a:bodyPr wrap="square" lIns="25400" tIns="25400" rIns="25400" bIns="25400" rtlCol="0" anchor="t">
            <a:normAutofit/>
          </a:bodyPr>
          <a:lstStyle/>
          <a:p>
            <a:pPr algn="l" indent="0" marL="0">
              <a:lnSpc>
                <a:spcPct val="100000"/>
              </a:lnSpc>
              <a:buNone/>
            </a:pPr>
            <a:r>
              <a:rPr lang="en-US" sz="4800" b="1" dirty="0">
                <a:solidFill>
                  <a:srgbClr val="66B3A1"/>
                </a:solidFill>
                <a:latin typeface="Georgia" pitchFamily="34" charset="0"/>
                <a:ea typeface="Georgia" pitchFamily="34" charset="-122"/>
                <a:cs typeface="Georgia" pitchFamily="34" charset="-120"/>
              </a:rPr>
              <a:t>02</a:t>
            </a:r>
            <a:endParaRPr lang="en-US" sz="4800" dirty="0"/>
          </a:p>
        </p:txBody>
      </p:sp>
      <p:sp>
        <p:nvSpPr>
          <p:cNvPr id="10" name="Text 8"/>
          <p:cNvSpPr/>
          <p:nvPr/>
        </p:nvSpPr>
        <p:spPr>
          <a:xfrm>
            <a:off x="5241131" y="3207618"/>
            <a:ext cx="3868817" cy="385763"/>
          </a:xfrm>
          <a:prstGeom prst="rect">
            <a:avLst/>
          </a:prstGeom>
          <a:noFill/>
          <a:ln/>
        </p:spPr>
        <p:txBody>
          <a:bodyPr wrap="square" lIns="25400" tIns="25400" rIns="25400" bIns="25400" rtlCol="0" anchor="t">
            <a:normAutofit/>
          </a:bodyPr>
          <a:lstStyle/>
          <a:p>
            <a:pPr algn="l" indent="0" marL="0">
              <a:buNone/>
            </a:pPr>
            <a:r>
              <a:rPr lang="en-US" sz="2250" b="1" dirty="0">
                <a:solidFill>
                  <a:srgbClr val="063D22"/>
                </a:solidFill>
                <a:latin typeface="Arial" pitchFamily="34" charset="0"/>
                <a:ea typeface="Arial" pitchFamily="34" charset="-122"/>
                <a:cs typeface="Arial" pitchFamily="34" charset="-120"/>
              </a:rPr>
              <a:t>Test like the real task</a:t>
            </a:r>
            <a:endParaRPr lang="en-US" sz="2250" dirty="0"/>
          </a:p>
        </p:txBody>
      </p:sp>
      <p:sp>
        <p:nvSpPr>
          <p:cNvPr id="11" name="Text 9"/>
          <p:cNvSpPr/>
          <p:nvPr/>
        </p:nvSpPr>
        <p:spPr>
          <a:xfrm>
            <a:off x="5241131" y="3669581"/>
            <a:ext cx="3622619" cy="1115244"/>
          </a:xfrm>
          <a:prstGeom prst="rect">
            <a:avLst/>
          </a:prstGeom>
          <a:noFill/>
          <a:ln/>
        </p:spPr>
        <p:txBody>
          <a:bodyPr wrap="square" lIns="25400" tIns="25400" rIns="25400" bIns="25400" rtlCol="0" anchor="t">
            <a:normAutofit/>
          </a:bodyPr>
          <a:lstStyle/>
          <a:p>
            <a:pPr algn="l" indent="0" marL="0">
              <a:lnSpc>
                <a:spcPct val="145000"/>
              </a:lnSpc>
              <a:buNone/>
            </a:pPr>
            <a:r>
              <a:rPr lang="en-US" sz="1950" dirty="0">
                <a:solidFill>
                  <a:srgbClr val="5C7268"/>
                </a:solidFill>
                <a:latin typeface="Arial" pitchFamily="34" charset="0"/>
                <a:ea typeface="Arial" pitchFamily="34" charset="-122"/>
                <a:cs typeface="Arial" pitchFamily="34" charset="-120"/>
              </a:rPr>
              <a:t>Predicting held-back months exposed mistakes a random split would have hidden.</a:t>
            </a:r>
            <a:endParaRPr lang="en-US" sz="1950" dirty="0"/>
          </a:p>
        </p:txBody>
      </p:sp>
      <p:sp>
        <p:nvSpPr>
          <p:cNvPr id="12" name="Shape 10"/>
          <p:cNvSpPr/>
          <p:nvPr/>
        </p:nvSpPr>
        <p:spPr>
          <a:xfrm>
            <a:off x="9139238" y="2426568"/>
            <a:ext cx="9525" cy="6812682"/>
          </a:xfrm>
          <a:prstGeom prst="rect">
            <a:avLst/>
          </a:prstGeom>
          <a:solidFill>
            <a:srgbClr val="D2E6DD"/>
          </a:solidFill>
          <a:ln/>
        </p:spPr>
      </p:sp>
      <p:sp>
        <p:nvSpPr>
          <p:cNvPr id="13" name="Text 11"/>
          <p:cNvSpPr/>
          <p:nvPr/>
        </p:nvSpPr>
        <p:spPr>
          <a:xfrm>
            <a:off x="9529763" y="2426568"/>
            <a:ext cx="3868817" cy="647700"/>
          </a:xfrm>
          <a:prstGeom prst="rect">
            <a:avLst/>
          </a:prstGeom>
          <a:noFill/>
          <a:ln/>
        </p:spPr>
        <p:txBody>
          <a:bodyPr wrap="square" lIns="25400" tIns="25400" rIns="25400" bIns="25400" rtlCol="0" anchor="t">
            <a:normAutofit/>
          </a:bodyPr>
          <a:lstStyle/>
          <a:p>
            <a:pPr algn="l" indent="0" marL="0">
              <a:lnSpc>
                <a:spcPct val="100000"/>
              </a:lnSpc>
              <a:buNone/>
            </a:pPr>
            <a:r>
              <a:rPr lang="en-US" sz="4800" b="1" dirty="0">
                <a:solidFill>
                  <a:srgbClr val="66B3A1"/>
                </a:solidFill>
                <a:latin typeface="Georgia" pitchFamily="34" charset="0"/>
                <a:ea typeface="Georgia" pitchFamily="34" charset="-122"/>
                <a:cs typeface="Georgia" pitchFamily="34" charset="-120"/>
              </a:rPr>
              <a:t>03</a:t>
            </a:r>
            <a:endParaRPr lang="en-US" sz="4800" dirty="0"/>
          </a:p>
        </p:txBody>
      </p:sp>
      <p:sp>
        <p:nvSpPr>
          <p:cNvPr id="14" name="Text 12"/>
          <p:cNvSpPr/>
          <p:nvPr/>
        </p:nvSpPr>
        <p:spPr>
          <a:xfrm>
            <a:off x="9529763" y="3207618"/>
            <a:ext cx="3868817" cy="385763"/>
          </a:xfrm>
          <a:prstGeom prst="rect">
            <a:avLst/>
          </a:prstGeom>
          <a:noFill/>
          <a:ln/>
        </p:spPr>
        <p:txBody>
          <a:bodyPr wrap="square" lIns="25400" tIns="25400" rIns="25400" bIns="25400" rtlCol="0" anchor="t">
            <a:normAutofit/>
          </a:bodyPr>
          <a:lstStyle/>
          <a:p>
            <a:pPr algn="l" indent="0" marL="0">
              <a:buNone/>
            </a:pPr>
            <a:r>
              <a:rPr lang="en-US" sz="2250" b="1" dirty="0">
                <a:solidFill>
                  <a:srgbClr val="063D22"/>
                </a:solidFill>
                <a:latin typeface="Arial" pitchFamily="34" charset="0"/>
                <a:ea typeface="Arial" pitchFamily="34" charset="-122"/>
                <a:cs typeface="Arial" pitchFamily="34" charset="-120"/>
              </a:rPr>
              <a:t>Measure the ethics</a:t>
            </a:r>
            <a:endParaRPr lang="en-US" sz="2250" dirty="0"/>
          </a:p>
        </p:txBody>
      </p:sp>
      <p:sp>
        <p:nvSpPr>
          <p:cNvPr id="15" name="Text 13"/>
          <p:cNvSpPr/>
          <p:nvPr/>
        </p:nvSpPr>
        <p:spPr>
          <a:xfrm>
            <a:off x="9529763" y="3669581"/>
            <a:ext cx="3622619" cy="1115244"/>
          </a:xfrm>
          <a:prstGeom prst="rect">
            <a:avLst/>
          </a:prstGeom>
          <a:noFill/>
          <a:ln/>
        </p:spPr>
        <p:txBody>
          <a:bodyPr wrap="square" lIns="25400" tIns="25400" rIns="25400" bIns="25400" rtlCol="0" anchor="t">
            <a:normAutofit/>
          </a:bodyPr>
          <a:lstStyle/>
          <a:p>
            <a:pPr algn="l" indent="0" marL="0">
              <a:lnSpc>
                <a:spcPct val="145000"/>
              </a:lnSpc>
              <a:buNone/>
            </a:pPr>
            <a:r>
              <a:rPr lang="en-US" sz="1950" dirty="0">
                <a:solidFill>
                  <a:srgbClr val="5C7268"/>
                </a:solidFill>
                <a:latin typeface="Arial" pitchFamily="34" charset="0"/>
                <a:ea typeface="Arial" pitchFamily="34" charset="-122"/>
                <a:cs typeface="Arial" pitchFamily="34" charset="-120"/>
              </a:rPr>
              <a:t>“We dropped race” is weak. “It costs exactly +0.7pt of bias” is strong.</a:t>
            </a:r>
            <a:endParaRPr lang="en-US" sz="1950" dirty="0"/>
          </a:p>
        </p:txBody>
      </p:sp>
      <p:sp>
        <p:nvSpPr>
          <p:cNvPr id="16" name="Shape 14"/>
          <p:cNvSpPr/>
          <p:nvPr/>
        </p:nvSpPr>
        <p:spPr>
          <a:xfrm>
            <a:off x="13427869" y="2426568"/>
            <a:ext cx="9525" cy="6812682"/>
          </a:xfrm>
          <a:prstGeom prst="rect">
            <a:avLst/>
          </a:prstGeom>
          <a:solidFill>
            <a:srgbClr val="D2E6DD"/>
          </a:solidFill>
          <a:ln/>
        </p:spPr>
      </p:sp>
      <p:sp>
        <p:nvSpPr>
          <p:cNvPr id="17" name="Text 15"/>
          <p:cNvSpPr/>
          <p:nvPr/>
        </p:nvSpPr>
        <p:spPr>
          <a:xfrm>
            <a:off x="13818394" y="2426568"/>
            <a:ext cx="3868817" cy="647700"/>
          </a:xfrm>
          <a:prstGeom prst="rect">
            <a:avLst/>
          </a:prstGeom>
          <a:noFill/>
          <a:ln/>
        </p:spPr>
        <p:txBody>
          <a:bodyPr wrap="square" lIns="25400" tIns="25400" rIns="25400" bIns="25400" rtlCol="0" anchor="t">
            <a:normAutofit/>
          </a:bodyPr>
          <a:lstStyle/>
          <a:p>
            <a:pPr algn="l" indent="0" marL="0">
              <a:lnSpc>
                <a:spcPct val="100000"/>
              </a:lnSpc>
              <a:buNone/>
            </a:pPr>
            <a:r>
              <a:rPr lang="en-US" sz="4800" b="1" dirty="0">
                <a:solidFill>
                  <a:srgbClr val="66B3A1"/>
                </a:solidFill>
                <a:latin typeface="Georgia" pitchFamily="34" charset="0"/>
                <a:ea typeface="Georgia" pitchFamily="34" charset="-122"/>
                <a:cs typeface="Georgia" pitchFamily="34" charset="-120"/>
              </a:rPr>
              <a:t>04</a:t>
            </a:r>
            <a:endParaRPr lang="en-US" sz="4800" dirty="0"/>
          </a:p>
        </p:txBody>
      </p:sp>
      <p:sp>
        <p:nvSpPr>
          <p:cNvPr id="18" name="Text 16"/>
          <p:cNvSpPr/>
          <p:nvPr/>
        </p:nvSpPr>
        <p:spPr>
          <a:xfrm>
            <a:off x="13818394" y="3207618"/>
            <a:ext cx="3868817" cy="385763"/>
          </a:xfrm>
          <a:prstGeom prst="rect">
            <a:avLst/>
          </a:prstGeom>
          <a:noFill/>
          <a:ln/>
        </p:spPr>
        <p:txBody>
          <a:bodyPr wrap="square" lIns="25400" tIns="25400" rIns="25400" bIns="25400" rtlCol="0" anchor="t">
            <a:normAutofit/>
          </a:bodyPr>
          <a:lstStyle/>
          <a:p>
            <a:pPr algn="l" indent="0" marL="0">
              <a:buNone/>
            </a:pPr>
            <a:r>
              <a:rPr lang="en-US" sz="2250" b="1" dirty="0">
                <a:solidFill>
                  <a:srgbClr val="063D22"/>
                </a:solidFill>
                <a:latin typeface="Arial" pitchFamily="34" charset="0"/>
                <a:ea typeface="Arial" pitchFamily="34" charset="-122"/>
                <a:cs typeface="Arial" pitchFamily="34" charset="-120"/>
              </a:rPr>
              <a:t>Deleting can be the fix</a:t>
            </a:r>
            <a:endParaRPr lang="en-US" sz="2250" dirty="0"/>
          </a:p>
        </p:txBody>
      </p:sp>
      <p:sp>
        <p:nvSpPr>
          <p:cNvPr id="19" name="Text 17"/>
          <p:cNvSpPr/>
          <p:nvPr/>
        </p:nvSpPr>
        <p:spPr>
          <a:xfrm>
            <a:off x="13818394" y="3669581"/>
            <a:ext cx="3622619" cy="1474291"/>
          </a:xfrm>
          <a:prstGeom prst="rect">
            <a:avLst/>
          </a:prstGeom>
          <a:noFill/>
          <a:ln/>
        </p:spPr>
        <p:txBody>
          <a:bodyPr wrap="square" lIns="25400" tIns="25400" rIns="25400" bIns="25400" rtlCol="0" anchor="t">
            <a:normAutofit/>
          </a:bodyPr>
          <a:lstStyle/>
          <a:p>
            <a:pPr algn="l" indent="0" marL="0">
              <a:lnSpc>
                <a:spcPct val="145000"/>
              </a:lnSpc>
              <a:buNone/>
            </a:pPr>
            <a:r>
              <a:rPr lang="en-US" sz="1950" dirty="0">
                <a:solidFill>
                  <a:srgbClr val="5C7268"/>
                </a:solidFill>
                <a:latin typeface="Arial" pitchFamily="34" charset="0"/>
                <a:ea typeface="Arial" pitchFamily="34" charset="-122"/>
                <a:cs typeface="Arial" pitchFamily="34" charset="-120"/>
              </a:rPr>
              <a:t>We removed the four most “predictive” columns on purpose — their power was fake.</a:t>
            </a:r>
            <a:endParaRPr lang="en-US" sz="1950" dirty="0"/>
          </a:p>
        </p:txBody>
      </p:sp>
      <p:sp>
        <p:nvSpPr>
          <p:cNvPr id="20" name="Shape 18"/>
          <p:cNvSpPr/>
          <p:nvPr/>
        </p:nvSpPr>
        <p:spPr>
          <a:xfrm>
            <a:off x="952500" y="9239250"/>
            <a:ext cx="16383000" cy="9525"/>
          </a:xfrm>
          <a:prstGeom prst="rect">
            <a:avLst/>
          </a:prstGeom>
          <a:solidFill>
            <a:srgbClr val="D2E6DD"/>
          </a:solidFill>
          <a:ln/>
        </p:spPr>
      </p:sp>
      <p:sp>
        <p:nvSpPr>
          <p:cNvPr id="21" name="Text 19"/>
          <p:cNvSpPr/>
          <p:nvPr/>
        </p:nvSpPr>
        <p:spPr>
          <a:xfrm>
            <a:off x="952500" y="9458325"/>
            <a:ext cx="16874490" cy="295275"/>
          </a:xfrm>
          <a:prstGeom prst="rect">
            <a:avLst/>
          </a:prstGeom>
          <a:noFill/>
          <a:ln/>
        </p:spPr>
        <p:txBody>
          <a:bodyPr wrap="square" lIns="25400" tIns="25400" rIns="25400" bIns="25400" rtlCol="0" anchor="t">
            <a:normAutofit/>
          </a:bodyPr>
          <a:lstStyle/>
          <a:p>
            <a:pPr algn="l" indent="0" marL="0">
              <a:buNone/>
            </a:pPr>
            <a:r>
              <a:rPr lang="en-US" sz="1800" dirty="0">
                <a:solidFill>
                  <a:srgbClr val="5C7268"/>
                </a:solidFill>
                <a:latin typeface="Courier New" pitchFamily="34" charset="0"/>
                <a:ea typeface="Courier New" pitchFamily="34" charset="-122"/>
                <a:cs typeface="Courier New" pitchFamily="34" charset="-120"/>
              </a:rPr>
              <a:t>Source: team retrospective</a:t>
            </a:r>
            <a:endParaRPr lang="en-US" sz="1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sp>
      <p:sp>
        <p:nvSpPr>
          <p:cNvPr id="3" name="Text 1"/>
          <p:cNvSpPr/>
          <p:nvPr/>
        </p:nvSpPr>
        <p:spPr>
          <a:xfrm>
            <a:off x="952500" y="742950"/>
            <a:ext cx="18021300" cy="295275"/>
          </a:xfrm>
          <a:prstGeom prst="rect">
            <a:avLst/>
          </a:prstGeom>
          <a:noFill/>
          <a:ln/>
        </p:spPr>
        <p:txBody>
          <a:bodyPr wrap="square" lIns="25400" tIns="25400" rIns="25400" bIns="25400" rtlCol="0" anchor="t">
            <a:normAutofit/>
          </a:bodyPr>
          <a:lstStyle/>
          <a:p>
            <a:pPr algn="l" indent="0" marL="0">
              <a:buNone/>
            </a:pPr>
            <a:r>
              <a:rPr lang="en-US" sz="1800" spc="225" kern="0" dirty="0">
                <a:solidFill>
                  <a:srgbClr val="007A33"/>
                </a:solidFill>
                <a:latin typeface="Courier New" pitchFamily="34" charset="0"/>
                <a:ea typeface="Courier New" pitchFamily="34" charset="-122"/>
                <a:cs typeface="Courier New" pitchFamily="34" charset="-120"/>
              </a:rPr>
              <a:t>11 · WHAT COMES NEXT</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a:bodyPr>
          <a:lstStyle/>
          <a:p>
            <a:pPr algn="l" indent="0" marL="0">
              <a:lnSpc>
                <a:spcPct val="112000"/>
              </a:lnSpc>
              <a:buNone/>
            </a:pPr>
            <a:r>
              <a:rPr lang="en-US" sz="3600" b="1" spc="-37" kern="0" dirty="0">
                <a:solidFill>
                  <a:srgbClr val="063D22"/>
                </a:solidFill>
                <a:latin typeface="Arial" pitchFamily="34" charset="0"/>
                <a:ea typeface="Arial" pitchFamily="34" charset="-122"/>
                <a:cs typeface="Arial" pitchFamily="34" charset="-120"/>
              </a:rPr>
              <a:t>Four steps would make this ready for a real bank</a:t>
            </a:r>
            <a:endParaRPr lang="en-US" sz="3600" dirty="0"/>
          </a:p>
        </p:txBody>
      </p:sp>
      <p:sp>
        <p:nvSpPr>
          <p:cNvPr id="5" name="Shape 3"/>
          <p:cNvSpPr/>
          <p:nvPr/>
        </p:nvSpPr>
        <p:spPr>
          <a:xfrm>
            <a:off x="952500" y="2388468"/>
            <a:ext cx="8058150" cy="3292004"/>
          </a:xfrm>
          <a:prstGeom prst="roundRect">
            <a:avLst>
              <a:gd name="adj" fmla="val 3472"/>
            </a:avLst>
          </a:prstGeom>
          <a:solidFill>
            <a:srgbClr val="E6F5EF"/>
          </a:solidFill>
          <a:ln/>
        </p:spPr>
      </p:sp>
      <p:sp>
        <p:nvSpPr>
          <p:cNvPr id="6" name="Text 4"/>
          <p:cNvSpPr/>
          <p:nvPr/>
        </p:nvSpPr>
        <p:spPr>
          <a:xfrm>
            <a:off x="1314450" y="2712318"/>
            <a:ext cx="8067675" cy="295275"/>
          </a:xfrm>
          <a:prstGeom prst="rect">
            <a:avLst/>
          </a:prstGeom>
          <a:noFill/>
          <a:ln/>
        </p:spPr>
        <p:txBody>
          <a:bodyPr wrap="square" lIns="25400" tIns="25400" rIns="25400" bIns="25400" rtlCol="0" anchor="t">
            <a:normAutofit/>
          </a:bodyPr>
          <a:lstStyle/>
          <a:p>
            <a:pPr algn="l" indent="0" marL="0">
              <a:buNone/>
            </a:pPr>
            <a:r>
              <a:rPr lang="en-US" sz="1800" dirty="0">
                <a:solidFill>
                  <a:srgbClr val="007A33"/>
                </a:solidFill>
                <a:latin typeface="Courier New" pitchFamily="34" charset="0"/>
                <a:ea typeface="Courier New" pitchFamily="34" charset="-122"/>
                <a:cs typeface="Courier New" pitchFamily="34" charset="-120"/>
              </a:rPr>
              <a:t>01</a:t>
            </a:r>
            <a:endParaRPr lang="en-US" sz="1800" dirty="0"/>
          </a:p>
        </p:txBody>
      </p:sp>
      <p:sp>
        <p:nvSpPr>
          <p:cNvPr id="7" name="Text 5"/>
          <p:cNvSpPr/>
          <p:nvPr/>
        </p:nvSpPr>
        <p:spPr>
          <a:xfrm>
            <a:off x="1314450" y="3102843"/>
            <a:ext cx="8067675" cy="409575"/>
          </a:xfrm>
          <a:prstGeom prst="rect">
            <a:avLst/>
          </a:prstGeom>
          <a:noFill/>
          <a:ln/>
        </p:spPr>
        <p:txBody>
          <a:bodyPr wrap="square" lIns="25400" tIns="25400" rIns="25400" bIns="25400" rtlCol="0" anchor="t">
            <a:normAutofit/>
          </a:bodyPr>
          <a:lstStyle/>
          <a:p>
            <a:pPr algn="l" indent="0" marL="0">
              <a:buNone/>
            </a:pPr>
            <a:r>
              <a:rPr lang="en-US" sz="2400" b="1" dirty="0">
                <a:solidFill>
                  <a:srgbClr val="063D22"/>
                </a:solidFill>
                <a:latin typeface="Arial" pitchFamily="34" charset="0"/>
                <a:ea typeface="Arial" pitchFamily="34" charset="-122"/>
                <a:cs typeface="Arial" pitchFamily="34" charset="-120"/>
              </a:rPr>
              <a:t>Decide by cost, not accuracy</a:t>
            </a:r>
            <a:endParaRPr lang="en-US" sz="2400" dirty="0"/>
          </a:p>
        </p:txBody>
      </p:sp>
      <p:sp>
        <p:nvSpPr>
          <p:cNvPr id="8" name="Text 6"/>
          <p:cNvSpPr/>
          <p:nvPr/>
        </p:nvSpPr>
        <p:spPr>
          <a:xfrm>
            <a:off x="1314450" y="3569568"/>
            <a:ext cx="7554278" cy="756196"/>
          </a:xfrm>
          <a:prstGeom prst="rect">
            <a:avLst/>
          </a:prstGeom>
          <a:noFill/>
          <a:ln/>
        </p:spPr>
        <p:txBody>
          <a:bodyPr wrap="square" lIns="25400" tIns="25400" rIns="25400" bIns="25400" rtlCol="0" anchor="t">
            <a:normAutofit/>
          </a:bodyPr>
          <a:lstStyle/>
          <a:p>
            <a:pPr algn="l" indent="0" marL="0">
              <a:lnSpc>
                <a:spcPct val="145000"/>
              </a:lnSpc>
              <a:buNone/>
            </a:pPr>
            <a:r>
              <a:rPr lang="en-US" sz="1950" dirty="0">
                <a:solidFill>
                  <a:srgbClr val="5C7268"/>
                </a:solidFill>
                <a:latin typeface="Arial" pitchFamily="34" charset="0"/>
                <a:ea typeface="Arial" pitchFamily="34" charset="-122"/>
                <a:cs typeface="Arial" pitchFamily="34" charset="-120"/>
              </a:rPr>
              <a:t>A default costs far more than a lost customer — weigh the two mistakes differently.</a:t>
            </a:r>
            <a:endParaRPr lang="en-US" sz="1950" dirty="0"/>
          </a:p>
        </p:txBody>
      </p:sp>
      <p:sp>
        <p:nvSpPr>
          <p:cNvPr id="9" name="Shape 7"/>
          <p:cNvSpPr/>
          <p:nvPr/>
        </p:nvSpPr>
        <p:spPr>
          <a:xfrm>
            <a:off x="9277350" y="2388468"/>
            <a:ext cx="8058150" cy="3292004"/>
          </a:xfrm>
          <a:prstGeom prst="roundRect">
            <a:avLst>
              <a:gd name="adj" fmla="val 3472"/>
            </a:avLst>
          </a:prstGeom>
          <a:solidFill>
            <a:srgbClr val="E6F5EF"/>
          </a:solidFill>
          <a:ln/>
        </p:spPr>
      </p:sp>
      <p:sp>
        <p:nvSpPr>
          <p:cNvPr id="10" name="Text 8"/>
          <p:cNvSpPr/>
          <p:nvPr/>
        </p:nvSpPr>
        <p:spPr>
          <a:xfrm>
            <a:off x="9639300" y="2712318"/>
            <a:ext cx="8067675" cy="295275"/>
          </a:xfrm>
          <a:prstGeom prst="rect">
            <a:avLst/>
          </a:prstGeom>
          <a:noFill/>
          <a:ln/>
        </p:spPr>
        <p:txBody>
          <a:bodyPr wrap="square" lIns="25400" tIns="25400" rIns="25400" bIns="25400" rtlCol="0" anchor="t">
            <a:normAutofit/>
          </a:bodyPr>
          <a:lstStyle/>
          <a:p>
            <a:pPr algn="l" indent="0" marL="0">
              <a:buNone/>
            </a:pPr>
            <a:r>
              <a:rPr lang="en-US" sz="1800" dirty="0">
                <a:solidFill>
                  <a:srgbClr val="007A33"/>
                </a:solidFill>
                <a:latin typeface="Courier New" pitchFamily="34" charset="0"/>
                <a:ea typeface="Courier New" pitchFamily="34" charset="-122"/>
                <a:cs typeface="Courier New" pitchFamily="34" charset="-120"/>
              </a:rPr>
              <a:t>02</a:t>
            </a:r>
            <a:endParaRPr lang="en-US" sz="1800" dirty="0"/>
          </a:p>
        </p:txBody>
      </p:sp>
      <p:sp>
        <p:nvSpPr>
          <p:cNvPr id="11" name="Text 9"/>
          <p:cNvSpPr/>
          <p:nvPr/>
        </p:nvSpPr>
        <p:spPr>
          <a:xfrm>
            <a:off x="9639300" y="3102843"/>
            <a:ext cx="8067675" cy="409575"/>
          </a:xfrm>
          <a:prstGeom prst="rect">
            <a:avLst/>
          </a:prstGeom>
          <a:noFill/>
          <a:ln/>
        </p:spPr>
        <p:txBody>
          <a:bodyPr wrap="square" lIns="25400" tIns="25400" rIns="25400" bIns="25400" rtlCol="0" anchor="t">
            <a:normAutofit/>
          </a:bodyPr>
          <a:lstStyle/>
          <a:p>
            <a:pPr algn="l" indent="0" marL="0">
              <a:buNone/>
            </a:pPr>
            <a:r>
              <a:rPr lang="en-US" sz="2400" b="1" dirty="0">
                <a:solidFill>
                  <a:srgbClr val="063D22"/>
                </a:solidFill>
                <a:latin typeface="Arial" pitchFamily="34" charset="0"/>
                <a:ea typeface="Arial" pitchFamily="34" charset="-122"/>
                <a:cs typeface="Arial" pitchFamily="34" charset="-120"/>
              </a:rPr>
              <a:t>Calibrate the probabilities</a:t>
            </a:r>
            <a:endParaRPr lang="en-US" sz="2400" dirty="0"/>
          </a:p>
        </p:txBody>
      </p:sp>
      <p:sp>
        <p:nvSpPr>
          <p:cNvPr id="12" name="Text 10"/>
          <p:cNvSpPr/>
          <p:nvPr/>
        </p:nvSpPr>
        <p:spPr>
          <a:xfrm>
            <a:off x="9639300" y="3569568"/>
            <a:ext cx="7554278" cy="756196"/>
          </a:xfrm>
          <a:prstGeom prst="rect">
            <a:avLst/>
          </a:prstGeom>
          <a:noFill/>
          <a:ln/>
        </p:spPr>
        <p:txBody>
          <a:bodyPr wrap="square" lIns="25400" tIns="25400" rIns="25400" bIns="25400" rtlCol="0" anchor="t">
            <a:normAutofit/>
          </a:bodyPr>
          <a:lstStyle/>
          <a:p>
            <a:pPr algn="l" indent="0" marL="0">
              <a:lnSpc>
                <a:spcPct val="145000"/>
              </a:lnSpc>
              <a:buNone/>
            </a:pPr>
            <a:r>
              <a:rPr lang="en-US" sz="1950" dirty="0">
                <a:solidFill>
                  <a:srgbClr val="5C7268"/>
                </a:solidFill>
                <a:latin typeface="Arial" pitchFamily="34" charset="0"/>
                <a:ea typeface="Arial" pitchFamily="34" charset="-122"/>
                <a:cs typeface="Arial" pitchFamily="34" charset="-120"/>
              </a:rPr>
              <a:t>Real lenders need trustworthy risk percentages for pricing and capital, not just a yes/no.</a:t>
            </a:r>
            <a:endParaRPr lang="en-US" sz="1950" dirty="0"/>
          </a:p>
        </p:txBody>
      </p:sp>
      <p:sp>
        <p:nvSpPr>
          <p:cNvPr id="13" name="Shape 11"/>
          <p:cNvSpPr/>
          <p:nvPr/>
        </p:nvSpPr>
        <p:spPr>
          <a:xfrm>
            <a:off x="952500" y="5947172"/>
            <a:ext cx="8058150" cy="3292078"/>
          </a:xfrm>
          <a:prstGeom prst="roundRect">
            <a:avLst>
              <a:gd name="adj" fmla="val 3472"/>
            </a:avLst>
          </a:prstGeom>
          <a:solidFill>
            <a:srgbClr val="E6F5EF"/>
          </a:solidFill>
          <a:ln/>
        </p:spPr>
      </p:sp>
      <p:sp>
        <p:nvSpPr>
          <p:cNvPr id="14" name="Text 12"/>
          <p:cNvSpPr/>
          <p:nvPr/>
        </p:nvSpPr>
        <p:spPr>
          <a:xfrm>
            <a:off x="1314450" y="6271022"/>
            <a:ext cx="8067675" cy="295275"/>
          </a:xfrm>
          <a:prstGeom prst="rect">
            <a:avLst/>
          </a:prstGeom>
          <a:noFill/>
          <a:ln/>
        </p:spPr>
        <p:txBody>
          <a:bodyPr wrap="square" lIns="25400" tIns="25400" rIns="25400" bIns="25400" rtlCol="0" anchor="t">
            <a:normAutofit/>
          </a:bodyPr>
          <a:lstStyle/>
          <a:p>
            <a:pPr algn="l" indent="0" marL="0">
              <a:buNone/>
            </a:pPr>
            <a:r>
              <a:rPr lang="en-US" sz="1800" dirty="0">
                <a:solidFill>
                  <a:srgbClr val="007A33"/>
                </a:solidFill>
                <a:latin typeface="Courier New" pitchFamily="34" charset="0"/>
                <a:ea typeface="Courier New" pitchFamily="34" charset="-122"/>
                <a:cs typeface="Courier New" pitchFamily="34" charset="-120"/>
              </a:rPr>
              <a:t>03</a:t>
            </a:r>
            <a:endParaRPr lang="en-US" sz="1800" dirty="0"/>
          </a:p>
        </p:txBody>
      </p:sp>
      <p:sp>
        <p:nvSpPr>
          <p:cNvPr id="15" name="Text 13"/>
          <p:cNvSpPr/>
          <p:nvPr/>
        </p:nvSpPr>
        <p:spPr>
          <a:xfrm>
            <a:off x="1314450" y="6661547"/>
            <a:ext cx="8067675" cy="409575"/>
          </a:xfrm>
          <a:prstGeom prst="rect">
            <a:avLst/>
          </a:prstGeom>
          <a:noFill/>
          <a:ln/>
        </p:spPr>
        <p:txBody>
          <a:bodyPr wrap="square" lIns="25400" tIns="25400" rIns="25400" bIns="25400" rtlCol="0" anchor="t">
            <a:normAutofit/>
          </a:bodyPr>
          <a:lstStyle/>
          <a:p>
            <a:pPr algn="l" indent="0" marL="0">
              <a:buNone/>
            </a:pPr>
            <a:r>
              <a:rPr lang="en-US" sz="2400" b="1" dirty="0">
                <a:solidFill>
                  <a:srgbClr val="063D22"/>
                </a:solidFill>
                <a:latin typeface="Arial" pitchFamily="34" charset="0"/>
                <a:ea typeface="Arial" pitchFamily="34" charset="-122"/>
                <a:cs typeface="Arial" pitchFamily="34" charset="-120"/>
              </a:rPr>
              <a:t>Explain every decision</a:t>
            </a:r>
            <a:endParaRPr lang="en-US" sz="2400" dirty="0"/>
          </a:p>
        </p:txBody>
      </p:sp>
      <p:sp>
        <p:nvSpPr>
          <p:cNvPr id="16" name="Text 14"/>
          <p:cNvSpPr/>
          <p:nvPr/>
        </p:nvSpPr>
        <p:spPr>
          <a:xfrm>
            <a:off x="1314450" y="7128272"/>
            <a:ext cx="7554278" cy="756196"/>
          </a:xfrm>
          <a:prstGeom prst="rect">
            <a:avLst/>
          </a:prstGeom>
          <a:noFill/>
          <a:ln/>
        </p:spPr>
        <p:txBody>
          <a:bodyPr wrap="square" lIns="25400" tIns="25400" rIns="25400" bIns="25400" rtlCol="0" anchor="t">
            <a:normAutofit/>
          </a:bodyPr>
          <a:lstStyle/>
          <a:p>
            <a:pPr algn="l" indent="0" marL="0">
              <a:lnSpc>
                <a:spcPct val="145000"/>
              </a:lnSpc>
              <a:buNone/>
            </a:pPr>
            <a:r>
              <a:rPr lang="en-US" sz="1950" dirty="0">
                <a:solidFill>
                  <a:srgbClr val="5C7268"/>
                </a:solidFill>
                <a:latin typeface="Arial" pitchFamily="34" charset="0"/>
                <a:ea typeface="Arial" pitchFamily="34" charset="-122"/>
                <a:cs typeface="Arial" pitchFamily="34" charset="-120"/>
              </a:rPr>
              <a:t>Show why each application was approved or rejected, so the credit team can defend it.</a:t>
            </a:r>
            <a:endParaRPr lang="en-US" sz="1950" dirty="0"/>
          </a:p>
        </p:txBody>
      </p:sp>
      <p:sp>
        <p:nvSpPr>
          <p:cNvPr id="17" name="Shape 15"/>
          <p:cNvSpPr/>
          <p:nvPr/>
        </p:nvSpPr>
        <p:spPr>
          <a:xfrm>
            <a:off x="9277350" y="5947172"/>
            <a:ext cx="8058150" cy="3292078"/>
          </a:xfrm>
          <a:prstGeom prst="roundRect">
            <a:avLst>
              <a:gd name="adj" fmla="val 3472"/>
            </a:avLst>
          </a:prstGeom>
          <a:solidFill>
            <a:srgbClr val="E6F5EF"/>
          </a:solidFill>
          <a:ln/>
        </p:spPr>
      </p:sp>
      <p:sp>
        <p:nvSpPr>
          <p:cNvPr id="18" name="Text 16"/>
          <p:cNvSpPr/>
          <p:nvPr/>
        </p:nvSpPr>
        <p:spPr>
          <a:xfrm>
            <a:off x="9639300" y="6271022"/>
            <a:ext cx="8067675" cy="295275"/>
          </a:xfrm>
          <a:prstGeom prst="rect">
            <a:avLst/>
          </a:prstGeom>
          <a:noFill/>
          <a:ln/>
        </p:spPr>
        <p:txBody>
          <a:bodyPr wrap="square" lIns="25400" tIns="25400" rIns="25400" bIns="25400" rtlCol="0" anchor="t">
            <a:normAutofit/>
          </a:bodyPr>
          <a:lstStyle/>
          <a:p>
            <a:pPr algn="l" indent="0" marL="0">
              <a:buNone/>
            </a:pPr>
            <a:r>
              <a:rPr lang="en-US" sz="1800" dirty="0">
                <a:solidFill>
                  <a:srgbClr val="007A33"/>
                </a:solidFill>
                <a:latin typeface="Courier New" pitchFamily="34" charset="0"/>
                <a:ea typeface="Courier New" pitchFamily="34" charset="-122"/>
                <a:cs typeface="Courier New" pitchFamily="34" charset="-120"/>
              </a:rPr>
              <a:t>04</a:t>
            </a:r>
            <a:endParaRPr lang="en-US" sz="1800" dirty="0"/>
          </a:p>
        </p:txBody>
      </p:sp>
      <p:sp>
        <p:nvSpPr>
          <p:cNvPr id="19" name="Text 17"/>
          <p:cNvSpPr/>
          <p:nvPr/>
        </p:nvSpPr>
        <p:spPr>
          <a:xfrm>
            <a:off x="9639300" y="6661547"/>
            <a:ext cx="8067675" cy="409575"/>
          </a:xfrm>
          <a:prstGeom prst="rect">
            <a:avLst/>
          </a:prstGeom>
          <a:noFill/>
          <a:ln/>
        </p:spPr>
        <p:txBody>
          <a:bodyPr wrap="square" lIns="25400" tIns="25400" rIns="25400" bIns="25400" rtlCol="0" anchor="t">
            <a:normAutofit/>
          </a:bodyPr>
          <a:lstStyle/>
          <a:p>
            <a:pPr algn="l" indent="0" marL="0">
              <a:buNone/>
            </a:pPr>
            <a:r>
              <a:rPr lang="en-US" sz="2400" b="1" dirty="0">
                <a:solidFill>
                  <a:srgbClr val="063D22"/>
                </a:solidFill>
                <a:latin typeface="Arial" pitchFamily="34" charset="0"/>
                <a:ea typeface="Arial" pitchFamily="34" charset="-122"/>
                <a:cs typeface="Arial" pitchFamily="34" charset="-120"/>
              </a:rPr>
              <a:t>Monitor fairness &amp; drift</a:t>
            </a:r>
            <a:endParaRPr lang="en-US" sz="2400" dirty="0"/>
          </a:p>
        </p:txBody>
      </p:sp>
      <p:sp>
        <p:nvSpPr>
          <p:cNvPr id="20" name="Text 18"/>
          <p:cNvSpPr/>
          <p:nvPr/>
        </p:nvSpPr>
        <p:spPr>
          <a:xfrm>
            <a:off x="9639300" y="7128272"/>
            <a:ext cx="7554278" cy="756196"/>
          </a:xfrm>
          <a:prstGeom prst="rect">
            <a:avLst/>
          </a:prstGeom>
          <a:noFill/>
          <a:ln/>
        </p:spPr>
        <p:txBody>
          <a:bodyPr wrap="square" lIns="25400" tIns="25400" rIns="25400" bIns="25400" rtlCol="0" anchor="t">
            <a:normAutofit/>
          </a:bodyPr>
          <a:lstStyle/>
          <a:p>
            <a:pPr algn="l" indent="0" marL="0">
              <a:lnSpc>
                <a:spcPct val="145000"/>
              </a:lnSpc>
              <a:buNone/>
            </a:pPr>
            <a:r>
              <a:rPr lang="en-US" sz="1950" dirty="0">
                <a:solidFill>
                  <a:srgbClr val="5C7268"/>
                </a:solidFill>
                <a:latin typeface="Arial" pitchFamily="34" charset="0"/>
                <a:ea typeface="Arial" pitchFamily="34" charset="-122"/>
                <a:cs typeface="Arial" pitchFamily="34" charset="-120"/>
              </a:rPr>
              <a:t>Keep checking for bias and for months that look different from training, then retrain.</a:t>
            </a:r>
            <a:endParaRPr lang="en-US" sz="1950" dirty="0"/>
          </a:p>
        </p:txBody>
      </p:sp>
      <p:sp>
        <p:nvSpPr>
          <p:cNvPr id="21" name="Shape 19"/>
          <p:cNvSpPr/>
          <p:nvPr/>
        </p:nvSpPr>
        <p:spPr>
          <a:xfrm>
            <a:off x="952500" y="9239250"/>
            <a:ext cx="16383000" cy="9525"/>
          </a:xfrm>
          <a:prstGeom prst="rect">
            <a:avLst/>
          </a:prstGeom>
          <a:solidFill>
            <a:srgbClr val="D2E6DD"/>
          </a:solidFill>
          <a:ln/>
        </p:spPr>
      </p:sp>
      <p:sp>
        <p:nvSpPr>
          <p:cNvPr id="22" name="Text 20"/>
          <p:cNvSpPr/>
          <p:nvPr/>
        </p:nvSpPr>
        <p:spPr>
          <a:xfrm>
            <a:off x="952500" y="9458325"/>
            <a:ext cx="16874490" cy="295275"/>
          </a:xfrm>
          <a:prstGeom prst="rect">
            <a:avLst/>
          </a:prstGeom>
          <a:noFill/>
          <a:ln/>
        </p:spPr>
        <p:txBody>
          <a:bodyPr wrap="square" lIns="25400" tIns="25400" rIns="25400" bIns="25400" rtlCol="0" anchor="t">
            <a:normAutofit/>
          </a:bodyPr>
          <a:lstStyle/>
          <a:p>
            <a:pPr algn="l" indent="0" marL="0">
              <a:buNone/>
            </a:pPr>
            <a:r>
              <a:rPr lang="en-US" sz="1800" dirty="0">
                <a:solidFill>
                  <a:srgbClr val="5C7268"/>
                </a:solidFill>
                <a:latin typeface="Courier New" pitchFamily="34" charset="0"/>
                <a:ea typeface="Courier New" pitchFamily="34" charset="-122"/>
                <a:cs typeface="Courier New" pitchFamily="34" charset="-120"/>
              </a:rPr>
              <a:t>Source: team roadmap</a:t>
            </a:r>
            <a:endParaRPr lang="en-US" sz="1800" dirty="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hape 0"/>
          <p:cNvSpPr/>
          <p:nvPr/>
        </p:nvSpPr>
        <p:spPr>
          <a:xfrm>
            <a:off x="952500" y="1912218"/>
            <a:ext cx="16383000" cy="19050"/>
          </a:xfrm>
          <a:prstGeom prst="rect">
            <a:avLst/>
          </a:prstGeom>
          <a:solidFill>
            <a:srgbClr val="1A7A57"/>
          </a:solidFill>
          <a:ln/>
        </p:spPr>
        <p:txBody>
          <a:bodyPr/>
          <a:p>
            <a:pPr algn="l"/>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a:bodyPr>
          <a:lstStyle/>
          <a:p>
            <a:pPr algn="l" indent="0" marL="0">
              <a:buNone/>
            </a:pPr>
            <a:r>
              <a:rPr lang="en-US" sz="1800" spc="225" kern="0" dirty="0">
                <a:solidFill>
                  <a:srgbClr val="007A33"/>
                </a:solidFill>
                <a:latin typeface="Courier New" pitchFamily="34" charset="0"/>
                <a:ea typeface="Courier New" pitchFamily="34" charset="-122"/>
                <a:cs typeface="Courier New" pitchFamily="34" charset="-120"/>
              </a:rPr>
              <a:t>12 · KEY CODE</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a:bodyPr>
          <a:lstStyle/>
          <a:p>
            <a:pPr algn="l" indent="0" marL="0">
              <a:lnSpc>
                <a:spcPct val="112000"/>
              </a:lnSpc>
              <a:buNone/>
            </a:pPr>
            <a:r>
              <a:rPr lang="en-US" sz="3600" b="1" spc="-37" kern="0" dirty="0">
                <a:solidFill>
                  <a:srgbClr val="063D22"/>
                </a:solidFill>
                <a:latin typeface="Arial" pitchFamily="34" charset="0"/>
                <a:ea typeface="Arial" pitchFamily="34" charset="-122"/>
                <a:cs typeface="Arial" pitchFamily="34" charset="-120"/>
              </a:rPr>
              <a:t>The code behind the method</a:t>
            </a:r>
            <a:endParaRPr lang="en-US" sz="3600" dirty="0"/>
          </a:p>
        </p:txBody>
      </p:sp>
      <p:sp>
        <p:nvSpPr>
          <p:cNvPr id="20" name="Shape 18"/>
          <p:cNvSpPr/>
          <p:nvPr/>
        </p:nvSpPr>
        <p:spPr>
          <a:xfrm>
            <a:off x="952500" y="9239250"/>
            <a:ext cx="16383000" cy="9525"/>
          </a:xfrm>
          <a:prstGeom prst="rect">
            <a:avLst/>
          </a:prstGeom>
          <a:solidFill>
            <a:srgbClr val="D2E6DD"/>
          </a:solidFill>
          <a:ln/>
        </p:spPr>
        <p:txBody>
          <a:bodyPr/>
          <a:p>
            <a:pPr algn="l"/>
          </a:p>
        </p:txBody>
      </p:sp>
      <p:sp>
        <p:nvSpPr>
          <p:cNvPr id="21" name="Text 19"/>
          <p:cNvSpPr/>
          <p:nvPr/>
        </p:nvSpPr>
        <p:spPr>
          <a:xfrm>
            <a:off x="952500" y="9458325"/>
            <a:ext cx="16874490" cy="295275"/>
          </a:xfrm>
          <a:prstGeom prst="rect">
            <a:avLst/>
          </a:prstGeom>
          <a:noFill/>
          <a:ln/>
        </p:spPr>
        <p:txBody>
          <a:bodyPr wrap="square" lIns="25400" tIns="25400" rIns="25400" bIns="25400" rtlCol="0" anchor="t">
            <a:normAutofit/>
          </a:bodyPr>
          <a:lstStyle/>
          <a:p>
            <a:pPr algn="l" indent="0" marL="0">
              <a:buNone/>
            </a:pPr>
            <a:r>
              <a:rPr lang="en-US" sz="1800" dirty="0">
                <a:solidFill>
                  <a:srgbClr val="5C7268"/>
                </a:solidFill>
                <a:latin typeface="Courier New" pitchFamily="34" charset="0"/>
                <a:ea typeface="Courier New" pitchFamily="34" charset="-122"/>
                <a:cs typeface="Courier New" pitchFamily="34" charset="-120"/>
              </a:rPr>
              <a:t>Source: src/prep.py · src/model_v10.py · full notebook in repo</a:t>
            </a:r>
            <a:endParaRPr lang="en-US" sz="1800" dirty="0"/>
          </a:p>
        </p:txBody>
      </p:sp>
      <p:sp>
        <p:nvSpPr>
          <p:cNvPr id="22" name="TextBox 21"/>
          <p:cNvSpPr txBox="1"/>
          <p:nvPr/>
        </p:nvSpPr>
        <p:spPr>
          <a:xfrm>
            <a:off x="950976" y="2395728"/>
            <a:ext cx="10058400" cy="365760"/>
          </a:xfrm>
          <a:prstGeom prst="rect">
            <a:avLst/>
          </a:prstGeom>
          <a:noFill/>
        </p:spPr>
        <p:txBody>
          <a:bodyPr wrap="none">
            <a:spAutoFit/>
          </a:bodyPr>
          <a:lstStyle/>
          <a:p>
            <a:r>
              <a:rPr sz="2100" b="1">
                <a:solidFill>
                  <a:srgbClr val="063D22"/>
                </a:solidFill>
                <a:latin typeface="Arial"/>
              </a:rPr>
              <a:t>Catching the planted leak</a:t>
            </a:r>
          </a:p>
        </p:txBody>
      </p:sp>
      <p:sp>
        <p:nvSpPr>
          <p:cNvPr id="23" name="Rounded Rectangle 22"/>
          <p:cNvSpPr/>
          <p:nvPr/>
        </p:nvSpPr>
        <p:spPr>
          <a:xfrm>
            <a:off x="950976" y="2807208"/>
            <a:ext cx="9692640" cy="1344168"/>
          </a:xfrm>
          <a:prstGeom prst="roundRect">
            <a:avLst/>
          </a:prstGeom>
          <a:solidFill>
            <a:srgbClr val="EA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137160" tIns="137160" bIns="109728"/>
          <a:lstStyle/>
          <a:p>
            <a:pPr algn="l">
              <a:spcAft>
                <a:spcPts val="400"/>
              </a:spcAft>
            </a:pPr>
            <a:r>
              <a:rPr sz="1500">
                <a:solidFill>
                  <a:srgbClr val="14533B"/>
                </a:solidFill>
                <a:latin typeface="Courier New"/>
              </a:rPr>
              <a:t>tr_op = train.analyst_opinion.map(approval_rate)</a:t>
            </a:r>
          </a:p>
          <a:p>
            <a:pPr algn="l">
              <a:spcAft>
                <a:spcPts val="400"/>
              </a:spcAft>
            </a:pPr>
            <a:r>
              <a:rPr sz="1500">
                <a:solidFill>
                  <a:srgbClr val="14533B"/>
                </a:solidFill>
                <a:latin typeface="Courier New"/>
              </a:rPr>
              <a:t>train.internal_code.corr(tr_op)</a:t>
            </a:r>
            <a:r>
              <a:rPr sz="1500">
                <a:solidFill>
                  <a:srgbClr val="8A9A93"/>
                </a:solidFill>
                <a:latin typeface="Courier New"/>
              </a:rPr>
              <a:t>   # +0.46  real signal</a:t>
            </a:r>
          </a:p>
          <a:p>
            <a:pPr algn="l">
              <a:spcAft>
                <a:spcPts val="400"/>
              </a:spcAft>
            </a:pPr>
            <a:r>
              <a:rPr sz="1500">
                <a:solidFill>
                  <a:srgbClr val="14533B"/>
                </a:solidFill>
                <a:latin typeface="Courier New"/>
              </a:rPr>
              <a:t>test.internal_code.corr(te_op)</a:t>
            </a:r>
            <a:r>
              <a:rPr sz="1500">
                <a:solidFill>
                  <a:srgbClr val="8A9A93"/>
                </a:solidFill>
                <a:latin typeface="Courier New"/>
              </a:rPr>
              <a:t>    # -0.02  noise -&gt; DROP</a:t>
            </a:r>
          </a:p>
        </p:txBody>
      </p:sp>
      <p:sp>
        <p:nvSpPr>
          <p:cNvPr id="24" name="TextBox 23"/>
          <p:cNvSpPr txBox="1"/>
          <p:nvPr/>
        </p:nvSpPr>
        <p:spPr>
          <a:xfrm>
            <a:off x="11338560" y="2852928"/>
            <a:ext cx="6400800" cy="1371600"/>
          </a:xfrm>
          <a:prstGeom prst="rect">
            <a:avLst/>
          </a:prstGeom>
          <a:noFill/>
        </p:spPr>
        <p:txBody>
          <a:bodyPr wrap="square">
            <a:spAutoFit/>
          </a:bodyPr>
          <a:lstStyle/>
          <a:p>
            <a:r>
              <a:rPr sz="1700">
                <a:solidFill>
                  <a:srgbClr val="5C7268"/>
                </a:solidFill>
                <a:latin typeface="Arial"/>
              </a:rPr>
              <a:t>The column that predicts in training is random noise in test — proof it was scrambled on purpose.</a:t>
            </a:r>
          </a:p>
        </p:txBody>
      </p:sp>
      <p:sp>
        <p:nvSpPr>
          <p:cNvPr id="25" name="TextBox 24"/>
          <p:cNvSpPr txBox="1"/>
          <p:nvPr/>
        </p:nvSpPr>
        <p:spPr>
          <a:xfrm>
            <a:off x="950976" y="4681728"/>
            <a:ext cx="10058400" cy="365760"/>
          </a:xfrm>
          <a:prstGeom prst="rect">
            <a:avLst/>
          </a:prstGeom>
          <a:noFill/>
        </p:spPr>
        <p:txBody>
          <a:bodyPr wrap="none">
            <a:spAutoFit/>
          </a:bodyPr>
          <a:lstStyle/>
          <a:p>
            <a:r>
              <a:rPr sz="2100" b="1">
                <a:solidFill>
                  <a:srgbClr val="063D22"/>
                </a:solidFill>
                <a:latin typeface="Arial"/>
              </a:rPr>
              <a:t>Fixing the legacy mess</a:t>
            </a:r>
          </a:p>
        </p:txBody>
      </p:sp>
      <p:sp>
        <p:nvSpPr>
          <p:cNvPr id="26" name="Rounded Rectangle 25"/>
          <p:cNvSpPr/>
          <p:nvPr/>
        </p:nvSpPr>
        <p:spPr>
          <a:xfrm>
            <a:off x="950976" y="5093208"/>
            <a:ext cx="9692640" cy="1344168"/>
          </a:xfrm>
          <a:prstGeom prst="roundRect">
            <a:avLst/>
          </a:prstGeom>
          <a:solidFill>
            <a:srgbClr val="EA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137160" tIns="137160" bIns="109728"/>
          <a:lstStyle/>
          <a:p>
            <a:pPr algn="l">
              <a:spcAft>
                <a:spcPts val="400"/>
              </a:spcAft>
            </a:pPr>
            <a:r>
              <a:rPr sz="1500">
                <a:solidFill>
                  <a:srgbClr val="14533B"/>
                </a:solidFill>
                <a:latin typeface="Courier New"/>
              </a:rPr>
              <a:t>ann_income = np.where(inc &lt; 700, inc*1000, inc)</a:t>
            </a:r>
            <a:r>
              <a:rPr sz="1500">
                <a:solidFill>
                  <a:srgbClr val="8A9A93"/>
                </a:solidFill>
                <a:latin typeface="Courier New"/>
              </a:rPr>
              <a:t>  # units</a:t>
            </a:r>
          </a:p>
          <a:p>
            <a:pPr algn="l">
              <a:spcAft>
                <a:spcPts val="400"/>
              </a:spcAft>
            </a:pPr>
            <a:r>
              <a:rPr sz="1500">
                <a:solidFill>
                  <a:srgbClr val="14533B"/>
                </a:solidFill>
                <a:latin typeface="Courier New"/>
              </a:rPr>
              <a:t>risk12 = risk_1.fillna(risk_2)</a:t>
            </a:r>
            <a:r>
              <a:rPr sz="1500">
                <a:solidFill>
                  <a:srgbClr val="8A9A93"/>
                </a:solidFill>
                <a:latin typeface="Courier New"/>
              </a:rPr>
              <a:t>                  # r1 == r2</a:t>
            </a:r>
          </a:p>
          <a:p>
            <a:pPr algn="l">
              <a:spcAft>
                <a:spcPts val="400"/>
              </a:spcAft>
            </a:pPr>
            <a:r>
              <a:rPr sz="1500">
                <a:solidFill>
                  <a:srgbClr val="14533B"/>
                </a:solidFill>
                <a:latin typeface="Courier New"/>
              </a:rPr>
              <a:t>risk_dev = (risk - 55).abs()</a:t>
            </a:r>
            <a:r>
              <a:rPr sz="1500">
                <a:solidFill>
                  <a:srgbClr val="8A9A93"/>
                </a:solidFill>
                <a:latin typeface="Courier New"/>
              </a:rPr>
              <a:t>                    # inverted-U</a:t>
            </a:r>
          </a:p>
        </p:txBody>
      </p:sp>
      <p:sp>
        <p:nvSpPr>
          <p:cNvPr id="27" name="TextBox 26"/>
          <p:cNvSpPr txBox="1"/>
          <p:nvPr/>
        </p:nvSpPr>
        <p:spPr>
          <a:xfrm>
            <a:off x="11338560" y="5138928"/>
            <a:ext cx="6400800" cy="1371600"/>
          </a:xfrm>
          <a:prstGeom prst="rect">
            <a:avLst/>
          </a:prstGeom>
          <a:noFill/>
        </p:spPr>
        <p:txBody>
          <a:bodyPr wrap="square">
            <a:spAutoFit/>
          </a:bodyPr>
          <a:lstStyle/>
          <a:p>
            <a:r>
              <a:rPr sz="1700">
                <a:solidFill>
                  <a:srgbClr val="5C7268"/>
                </a:solidFill>
                <a:latin typeface="Arial"/>
              </a:rPr>
              <a:t>Three of the highest-value fixes: unit rescaling, one duplicate column, and the risk-shape feature.</a:t>
            </a:r>
          </a:p>
        </p:txBody>
      </p:sp>
      <p:sp>
        <p:nvSpPr>
          <p:cNvPr id="28" name="TextBox 27"/>
          <p:cNvSpPr txBox="1"/>
          <p:nvPr/>
        </p:nvSpPr>
        <p:spPr>
          <a:xfrm>
            <a:off x="950976" y="6967728"/>
            <a:ext cx="10058400" cy="365760"/>
          </a:xfrm>
          <a:prstGeom prst="rect">
            <a:avLst/>
          </a:prstGeom>
          <a:noFill/>
        </p:spPr>
        <p:txBody>
          <a:bodyPr wrap="none">
            <a:spAutoFit/>
          </a:bodyPr>
          <a:lstStyle/>
          <a:p>
            <a:r>
              <a:rPr sz="2100" b="1">
                <a:solidFill>
                  <a:srgbClr val="063D22"/>
                </a:solidFill>
                <a:latin typeface="Arial"/>
              </a:rPr>
              <a:t>Honest validation + robust cutoff</a:t>
            </a:r>
          </a:p>
        </p:txBody>
      </p:sp>
      <p:sp>
        <p:nvSpPr>
          <p:cNvPr id="29" name="Rounded Rectangle 28"/>
          <p:cNvSpPr/>
          <p:nvPr/>
        </p:nvSpPr>
        <p:spPr>
          <a:xfrm>
            <a:off x="950976" y="7379208"/>
            <a:ext cx="9692640" cy="1033272"/>
          </a:xfrm>
          <a:prstGeom prst="roundRect">
            <a:avLst/>
          </a:prstGeom>
          <a:solidFill>
            <a:srgbClr val="EA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137160" tIns="137160" bIns="109728"/>
          <a:lstStyle/>
          <a:p>
            <a:pPr algn="l">
              <a:spcAft>
                <a:spcPts val="400"/>
              </a:spcAft>
            </a:pPr>
            <a:r>
              <a:rPr sz="1500">
                <a:solidFill>
                  <a:srgbClr val="14533B"/>
                </a:solidFill>
                <a:latin typeface="Courier New"/>
              </a:rPr>
              <a:t>oof[val] = model.predict_proba(X.iloc[val])[:,1]</a:t>
            </a:r>
            <a:r>
              <a:rPr sz="1500">
                <a:solidFill>
                  <a:srgbClr val="8A9A93"/>
                </a:solidFill>
                <a:latin typeface="Courier New"/>
              </a:rPr>
              <a:t>  # 5-fold OOF</a:t>
            </a:r>
          </a:p>
          <a:p>
            <a:pPr algn="l">
              <a:spcAft>
                <a:spcPts val="400"/>
              </a:spcAft>
            </a:pPr>
            <a:r>
              <a:rPr sz="1500">
                <a:solidFill>
                  <a:srgbClr val="14533B"/>
                </a:solidFill>
                <a:latin typeface="Courier New"/>
              </a:rPr>
              <a:t>t = thresholds[acc.argsort()[-6:]].mean()</a:t>
            </a:r>
            <a:r>
              <a:rPr sz="1500">
                <a:solidFill>
                  <a:srgbClr val="8A9A93"/>
                </a:solidFill>
                <a:latin typeface="Courier New"/>
              </a:rPr>
              <a:t>         # smooth cutoff</a:t>
            </a:r>
          </a:p>
        </p:txBody>
      </p:sp>
      <p:sp>
        <p:nvSpPr>
          <p:cNvPr id="30" name="TextBox 29"/>
          <p:cNvSpPr txBox="1"/>
          <p:nvPr/>
        </p:nvSpPr>
        <p:spPr>
          <a:xfrm>
            <a:off x="11338560" y="7424928"/>
            <a:ext cx="6400800" cy="1371600"/>
          </a:xfrm>
          <a:prstGeom prst="rect">
            <a:avLst/>
          </a:prstGeom>
          <a:noFill/>
        </p:spPr>
        <p:txBody>
          <a:bodyPr wrap="square">
            <a:spAutoFit/>
          </a:bodyPr>
          <a:lstStyle/>
          <a:p>
            <a:r>
              <a:rPr sz="1700">
                <a:solidFill>
                  <a:srgbClr val="5C7268"/>
                </a:solidFill>
                <a:latin typeface="Arial"/>
              </a:rPr>
              <a:t>Every row scored out-of-fold; the decision cutoff is averaged over the top-1% to avoid overfitting noise.</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2">
    <p:bg>
      <p:bgPr>
        <a:solidFill>
          <a:srgbClr val="1A7A57"/>
        </a:solidFill>
      </p:bgPr>
    </p:bg>
    <p:spTree>
      <p:nvGrpSpPr>
        <p:cNvPr id="1" name=""/>
        <p:cNvGrpSpPr/>
        <p:nvPr/>
      </p:nvGrpSpPr>
      <p:grpSpPr>
        <a:xfrm>
          <a:off x="0" y="0"/>
          <a:ext cx="0" cy="0"/>
          <a:chOff x="0" y="0"/>
          <a:chExt cx="0" cy="0"/>
        </a:xfrm>
      </p:grpSpPr>
      <p:sp>
        <p:nvSpPr>
          <p:cNvPr id="2" name="Text 0"/>
          <p:cNvSpPr/>
          <p:nvPr/>
        </p:nvSpPr>
        <p:spPr>
          <a:xfrm>
            <a:off x="990600" y="876300"/>
            <a:ext cx="17937480" cy="295275"/>
          </a:xfrm>
          <a:prstGeom prst="rect">
            <a:avLst/>
          </a:prstGeom>
          <a:noFill/>
          <a:ln/>
        </p:spPr>
        <p:txBody>
          <a:bodyPr wrap="square" lIns="25400" tIns="25400" rIns="25400" bIns="25400" rtlCol="0" anchor="t">
            <a:normAutofit/>
          </a:bodyPr>
          <a:lstStyle/>
          <a:p>
            <a:pPr algn="l" indent="0" marL="0">
              <a:buNone/>
            </a:pPr>
            <a:r>
              <a:rPr lang="en-US" sz="1800" spc="225" kern="0" dirty="0">
                <a:solidFill>
                  <a:srgbClr val="B2E0D4"/>
                </a:solidFill>
                <a:latin typeface="Courier New" pitchFamily="34" charset="0"/>
                <a:ea typeface="Courier New" pitchFamily="34" charset="-122"/>
                <a:cs typeface="Courier New" pitchFamily="34" charset="-120"/>
              </a:rPr>
              <a:t>13 · QUESTIONS</a:t>
            </a:r>
            <a:endParaRPr lang="en-US" sz="1800" dirty="0"/>
          </a:p>
        </p:txBody>
      </p:sp>
      <p:sp>
        <p:nvSpPr>
          <p:cNvPr id="3" name="Text 1"/>
          <p:cNvSpPr/>
          <p:nvPr/>
        </p:nvSpPr>
        <p:spPr>
          <a:xfrm>
            <a:off x="990600" y="3398044"/>
            <a:ext cx="17937480" cy="1028700"/>
          </a:xfrm>
          <a:prstGeom prst="rect">
            <a:avLst/>
          </a:prstGeom>
          <a:noFill/>
          <a:ln/>
        </p:spPr>
        <p:txBody>
          <a:bodyPr wrap="square" lIns="25400" tIns="25400" rIns="25400" bIns="25400" rtlCol="0" anchor="t">
            <a:normAutofit/>
          </a:bodyPr>
          <a:lstStyle/>
          <a:p>
            <a:pPr algn="l" indent="0" marL="0">
              <a:lnSpc>
                <a:spcPct val="100000"/>
              </a:lnSpc>
              <a:buNone/>
            </a:pPr>
            <a:r>
              <a:rPr lang="en-US" sz="7800" b="1" dirty="0">
                <a:solidFill>
                  <a:srgbClr val="FFFFFF"/>
                </a:solidFill>
                <a:latin typeface="Georgia" pitchFamily="34" charset="0"/>
                <a:ea typeface="Georgia" pitchFamily="34" charset="-122"/>
                <a:cs typeface="Georgia" pitchFamily="34" charset="-120"/>
              </a:rPr>
              <a:t>Thank you.</a:t>
            </a:r>
            <a:endParaRPr lang="en-US" sz="7800" dirty="0"/>
          </a:p>
        </p:txBody>
      </p:sp>
      <p:sp>
        <p:nvSpPr>
          <p:cNvPr id="4" name="Text 2"/>
          <p:cNvSpPr/>
          <p:nvPr/>
        </p:nvSpPr>
        <p:spPr>
          <a:xfrm>
            <a:off x="990600" y="4617244"/>
            <a:ext cx="17937480" cy="409575"/>
          </a:xfrm>
          <a:prstGeom prst="rect">
            <a:avLst/>
          </a:prstGeom>
          <a:noFill/>
          <a:ln/>
        </p:spPr>
        <p:txBody>
          <a:bodyPr wrap="square" lIns="25400" tIns="25400" rIns="25400" bIns="25400" rtlCol="0" anchor="t">
            <a:normAutofit/>
          </a:bodyPr>
          <a:lstStyle/>
          <a:p>
            <a:pPr algn="l" indent="0" marL="0">
              <a:buNone/>
            </a:pPr>
            <a:r>
              <a:rPr lang="en-US" sz="2550" dirty="0">
                <a:solidFill>
                  <a:srgbClr val="B2E0D4"/>
                </a:solidFill>
                <a:latin typeface="Arial" pitchFamily="34" charset="0"/>
                <a:ea typeface="Arial" pitchFamily="34" charset="-122"/>
                <a:cs typeface="Arial" pitchFamily="34" charset="-120"/>
              </a:rPr>
              <a:t>We’re happy to take questions.</a:t>
            </a:r>
            <a:endParaRPr lang="en-US" sz="2550" dirty="0"/>
          </a:p>
        </p:txBody>
      </p:sp>
      <p:sp>
        <p:nvSpPr>
          <p:cNvPr id="5" name="Shape 3"/>
          <p:cNvSpPr/>
          <p:nvPr/>
        </p:nvSpPr>
        <p:spPr>
          <a:xfrm>
            <a:off x="990600" y="5522119"/>
            <a:ext cx="3759175" cy="19050"/>
          </a:xfrm>
          <a:prstGeom prst="rect">
            <a:avLst/>
          </a:prstGeom>
          <a:solidFill>
            <a:srgbClr val="B2E0D4"/>
          </a:solidFill>
          <a:ln/>
        </p:spPr>
        <p:txBody>
          <a:bodyPr/>
          <a:p/>
        </p:txBody>
      </p:sp>
      <p:sp>
        <p:nvSpPr>
          <p:cNvPr id="6" name="Text 4"/>
          <p:cNvSpPr/>
          <p:nvPr/>
        </p:nvSpPr>
        <p:spPr>
          <a:xfrm>
            <a:off x="990600" y="5712619"/>
            <a:ext cx="4135093" cy="338138"/>
          </a:xfrm>
          <a:prstGeom prst="rect">
            <a:avLst/>
          </a:prstGeom>
          <a:noFill/>
          <a:ln/>
        </p:spPr>
        <p:txBody>
          <a:bodyPr wrap="square" lIns="25400" tIns="25400" rIns="25400" bIns="25400" rtlCol="0" anchor="t">
            <a:normAutofit/>
          </a:bodyPr>
          <a:lstStyle/>
          <a:p>
            <a:pPr algn="l" indent="0" marL="0">
              <a:buNone/>
            </a:pPr>
            <a:r>
              <a:rPr lang="en-US" sz="1950" b="1" dirty="0">
                <a:solidFill>
                  <a:srgbClr val="FFFFFF"/>
                </a:solidFill>
                <a:latin typeface="Arial" pitchFamily="34" charset="0"/>
                <a:ea typeface="Arial" pitchFamily="34" charset="-122"/>
                <a:cs typeface="Arial" pitchFamily="34" charset="-120"/>
              </a:rPr>
              <a:t>Built clean</a:t>
            </a:r>
            <a:endParaRPr lang="en-US" sz="1950" dirty="0"/>
          </a:p>
        </p:txBody>
      </p:sp>
      <p:sp>
        <p:nvSpPr>
          <p:cNvPr id="7" name="Text 5"/>
          <p:cNvSpPr/>
          <p:nvPr/>
        </p:nvSpPr>
        <p:spPr>
          <a:xfrm>
            <a:off x="990600" y="6088856"/>
            <a:ext cx="3871950" cy="704850"/>
          </a:xfrm>
          <a:prstGeom prst="rect">
            <a:avLst/>
          </a:prstGeom>
          <a:noFill/>
          <a:ln/>
        </p:spPr>
        <p:txBody>
          <a:bodyPr wrap="square" lIns="25400" tIns="25400" rIns="25400" bIns="25400" rtlCol="0" anchor="t">
            <a:normAutofit/>
          </a:bodyPr>
          <a:lstStyle/>
          <a:p>
            <a:pPr algn="l" indent="0" marL="0">
              <a:lnSpc>
                <a:spcPct val="140000"/>
              </a:lnSpc>
              <a:buNone/>
            </a:pPr>
            <a:r>
              <a:rPr lang="en-US" sz="1875" dirty="0">
                <a:solidFill>
                  <a:srgbClr val="E0F7F1"/>
                </a:solidFill>
                <a:latin typeface="Arial" pitchFamily="34" charset="0"/>
                <a:ea typeface="Arial" pitchFamily="34" charset="-122"/>
                <a:cs typeface="Arial" pitchFamily="34" charset="-120"/>
              </a:rPr>
              <a:t>no planted trap, no protected data.</a:t>
            </a:r>
            <a:endParaRPr lang="en-US" sz="1875" dirty="0"/>
          </a:p>
        </p:txBody>
      </p:sp>
      <p:sp>
        <p:nvSpPr>
          <p:cNvPr id="8" name="Shape 6"/>
          <p:cNvSpPr/>
          <p:nvPr/>
        </p:nvSpPr>
        <p:spPr>
          <a:xfrm>
            <a:off x="5016475" y="5522119"/>
            <a:ext cx="3759250" cy="19050"/>
          </a:xfrm>
          <a:prstGeom prst="rect">
            <a:avLst/>
          </a:prstGeom>
          <a:solidFill>
            <a:srgbClr val="B2E0D4"/>
          </a:solidFill>
          <a:ln/>
        </p:spPr>
        <p:txBody>
          <a:bodyPr/>
          <a:p/>
        </p:txBody>
      </p:sp>
      <p:sp>
        <p:nvSpPr>
          <p:cNvPr id="9" name="Text 7"/>
          <p:cNvSpPr/>
          <p:nvPr/>
        </p:nvSpPr>
        <p:spPr>
          <a:xfrm>
            <a:off x="5016475" y="5712619"/>
            <a:ext cx="4135175" cy="338138"/>
          </a:xfrm>
          <a:prstGeom prst="rect">
            <a:avLst/>
          </a:prstGeom>
          <a:noFill/>
          <a:ln/>
        </p:spPr>
        <p:txBody>
          <a:bodyPr wrap="square" lIns="25400" tIns="25400" rIns="25400" bIns="25400" rtlCol="0" anchor="t">
            <a:normAutofit/>
          </a:bodyPr>
          <a:lstStyle/>
          <a:p>
            <a:pPr algn="l" indent="0" marL="0">
              <a:buNone/>
            </a:pPr>
            <a:r>
              <a:rPr lang="en-US" sz="1950" b="1" dirty="0">
                <a:solidFill>
                  <a:srgbClr val="FFFFFF"/>
                </a:solidFill>
                <a:latin typeface="Arial" pitchFamily="34" charset="0"/>
                <a:ea typeface="Arial" pitchFamily="34" charset="-122"/>
                <a:cs typeface="Arial" pitchFamily="34" charset="-120"/>
              </a:rPr>
              <a:t>We caught the traps first</a:t>
            </a:r>
            <a:endParaRPr lang="en-US" sz="1950" dirty="0"/>
          </a:p>
        </p:txBody>
      </p:sp>
      <p:sp>
        <p:nvSpPr>
          <p:cNvPr id="10" name="Text 8"/>
          <p:cNvSpPr/>
          <p:nvPr/>
        </p:nvSpPr>
        <p:spPr>
          <a:xfrm>
            <a:off x="5016475" y="6088856"/>
            <a:ext cx="3872027" cy="704850"/>
          </a:xfrm>
          <a:prstGeom prst="rect">
            <a:avLst/>
          </a:prstGeom>
          <a:noFill/>
          <a:ln/>
        </p:spPr>
        <p:txBody>
          <a:bodyPr wrap="square" lIns="25400" tIns="25400" rIns="25400" bIns="25400" rtlCol="0" anchor="t">
            <a:normAutofit/>
          </a:bodyPr>
          <a:lstStyle/>
          <a:p>
            <a:pPr algn="l" indent="0" marL="0">
              <a:lnSpc>
                <a:spcPct val="140000"/>
              </a:lnSpc>
              <a:buNone/>
            </a:pPr>
            <a:r>
              <a:rPr lang="en-US" sz="1875" dirty="0">
                <a:solidFill>
                  <a:srgbClr val="E0F7F1"/>
                </a:solidFill>
                <a:latin typeface="Arial" pitchFamily="34" charset="0"/>
                <a:ea typeface="Arial" pitchFamily="34" charset="-122"/>
                <a:cs typeface="Arial" pitchFamily="34" charset="-120"/>
              </a:rPr>
              <a:t>forensics mattered more than the algorithm.</a:t>
            </a:r>
            <a:endParaRPr lang="en-US" sz="1875" dirty="0"/>
          </a:p>
        </p:txBody>
      </p:sp>
      <p:sp>
        <p:nvSpPr>
          <p:cNvPr id="11" name="Shape 9"/>
          <p:cNvSpPr/>
          <p:nvPr/>
        </p:nvSpPr>
        <p:spPr>
          <a:xfrm>
            <a:off x="9042425" y="5522119"/>
            <a:ext cx="3759175" cy="19050"/>
          </a:xfrm>
          <a:prstGeom prst="rect">
            <a:avLst/>
          </a:prstGeom>
          <a:solidFill>
            <a:srgbClr val="B2E0D4"/>
          </a:solidFill>
          <a:ln/>
        </p:spPr>
        <p:txBody>
          <a:bodyPr/>
          <a:p/>
        </p:txBody>
      </p:sp>
      <p:sp>
        <p:nvSpPr>
          <p:cNvPr id="12" name="Text 10"/>
          <p:cNvSpPr/>
          <p:nvPr/>
        </p:nvSpPr>
        <p:spPr>
          <a:xfrm>
            <a:off x="9042425" y="5712619"/>
            <a:ext cx="4135093" cy="338138"/>
          </a:xfrm>
          <a:prstGeom prst="rect">
            <a:avLst/>
          </a:prstGeom>
          <a:noFill/>
          <a:ln/>
        </p:spPr>
        <p:txBody>
          <a:bodyPr wrap="square" lIns="25400" tIns="25400" rIns="25400" bIns="25400" rtlCol="0" anchor="t">
            <a:normAutofit/>
          </a:bodyPr>
          <a:lstStyle/>
          <a:p>
            <a:pPr algn="l" indent="0" marL="0">
              <a:buNone/>
            </a:pPr>
            <a:r>
              <a:rPr lang="en-US" sz="1950" b="1" dirty="0">
                <a:solidFill>
                  <a:srgbClr val="FFFFFF"/>
                </a:solidFill>
                <a:latin typeface="Arial" pitchFamily="34" charset="0"/>
                <a:ea typeface="Arial" pitchFamily="34" charset="-122"/>
                <a:cs typeface="Arial" pitchFamily="34" charset="-120"/>
              </a:rPr>
              <a:t>We measured our ethics</a:t>
            </a:r>
            <a:endParaRPr lang="en-US" sz="1950" dirty="0"/>
          </a:p>
        </p:txBody>
      </p:sp>
      <p:sp>
        <p:nvSpPr>
          <p:cNvPr id="13" name="Text 11"/>
          <p:cNvSpPr/>
          <p:nvPr/>
        </p:nvSpPr>
        <p:spPr>
          <a:xfrm>
            <a:off x="9042425" y="6088856"/>
            <a:ext cx="4135093" cy="371475"/>
          </a:xfrm>
          <a:prstGeom prst="rect">
            <a:avLst/>
          </a:prstGeom>
          <a:noFill/>
          <a:ln/>
        </p:spPr>
        <p:txBody>
          <a:bodyPr wrap="square" lIns="25400" tIns="25400" rIns="25400" bIns="25400" rtlCol="0" anchor="t">
            <a:normAutofit/>
          </a:bodyPr>
          <a:lstStyle/>
          <a:p>
            <a:pPr algn="l" indent="0" marL="0">
              <a:lnSpc>
                <a:spcPct val="140000"/>
              </a:lnSpc>
              <a:buNone/>
            </a:pPr>
            <a:r>
              <a:rPr lang="en-US" sz="1875" dirty="0">
                <a:solidFill>
                  <a:srgbClr val="E0F7F1"/>
                </a:solidFill>
                <a:latin typeface="Arial" pitchFamily="34" charset="0"/>
                <a:ea typeface="Arial" pitchFamily="34" charset="-122"/>
                <a:cs typeface="Arial" pitchFamily="34" charset="-120"/>
              </a:rPr>
              <a:t>refusing +0.7pt of pure bias.</a:t>
            </a:r>
            <a:endParaRPr lang="en-US" sz="1875" dirty="0"/>
          </a:p>
        </p:txBody>
      </p:sp>
      <p:sp>
        <p:nvSpPr>
          <p:cNvPr id="14" name="Shape 12"/>
          <p:cNvSpPr/>
          <p:nvPr/>
        </p:nvSpPr>
        <p:spPr>
          <a:xfrm>
            <a:off x="990600" y="9020175"/>
            <a:ext cx="16306800" cy="9525"/>
          </a:xfrm>
          <a:prstGeom prst="rect">
            <a:avLst/>
          </a:prstGeom>
          <a:solidFill>
            <a:srgbClr val="E0F7F1">
              <a:alpha val="25000"/>
            </a:srgbClr>
          </a:solidFill>
          <a:ln/>
        </p:spPr>
        <p:txBody>
          <a:bodyPr/>
          <a:p/>
        </p:txBody>
      </p:sp>
      <p:sp>
        <p:nvSpPr>
          <p:cNvPr id="15" name="Text 13"/>
          <p:cNvSpPr/>
          <p:nvPr/>
        </p:nvSpPr>
        <p:spPr>
          <a:xfrm>
            <a:off x="990600" y="9277350"/>
            <a:ext cx="4676730" cy="361950"/>
          </a:xfrm>
          <a:prstGeom prst="rect">
            <a:avLst/>
          </a:prstGeom>
          <a:noFill/>
          <a:ln/>
        </p:spPr>
        <p:txBody>
          <a:bodyPr wrap="square" lIns="25400" tIns="25400" rIns="25400" bIns="25400" rtlCol="0" anchor="t">
            <a:normAutofit/>
          </a:bodyPr>
          <a:lstStyle/>
          <a:p>
            <a:pPr algn="l" indent="0" marL="0">
              <a:buNone/>
            </a:pPr>
            <a:r>
              <a:rPr lang="en-US" sz="2100" dirty="0">
                <a:solidFill>
                  <a:srgbClr val="FFFFFF"/>
                </a:solidFill>
                <a:latin typeface="Arial" pitchFamily="34" charset="0"/>
                <a:ea typeface="Arial" pitchFamily="34" charset="-122"/>
                <a:cs typeface="Arial" pitchFamily="34" charset="-120"/>
              </a:rPr>
              <a:t>Gianluca Bavelloni · Riwad Irshied</a:t>
            </a:r>
            <a:endParaRPr lang="en-US" sz="2100" dirty="0"/>
          </a:p>
        </p:txBody>
      </p:sp>
      <p:sp>
        <p:nvSpPr>
          <p:cNvPr id="16" name="Text 14"/>
          <p:cNvSpPr/>
          <p:nvPr/>
        </p:nvSpPr>
        <p:spPr>
          <a:xfrm>
            <a:off x="11535742" y="9310688"/>
            <a:ext cx="6337823" cy="295275"/>
          </a:xfrm>
          <a:prstGeom prst="rect">
            <a:avLst/>
          </a:prstGeom>
          <a:noFill/>
          <a:ln/>
        </p:spPr>
        <p:txBody>
          <a:bodyPr wrap="square" lIns="25400" tIns="25400" rIns="25400" bIns="25400" rtlCol="0" anchor="t">
            <a:normAutofit/>
          </a:bodyPr>
          <a:lstStyle/>
          <a:p>
            <a:pPr algn="l" indent="0" marL="0">
              <a:buNone/>
            </a:pPr>
            <a:r>
              <a:rPr lang="en-US" sz="1800" dirty="0">
                <a:solidFill>
                  <a:srgbClr val="B2E0D4"/>
                </a:solidFill>
                <a:latin typeface="Courier New" pitchFamily="34" charset="0"/>
                <a:ea typeface="Courier New" pitchFamily="34" charset="-122"/>
                <a:cs typeface="Courier New" pitchFamily="34" charset="-120"/>
              </a:rPr>
              <a:t>github.com/GianlucaBave/final-data-finance</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2026-06-16T18:58:41Z</dcterms:created>
  <dcterms:modified xsi:type="dcterms:W3CDTF">2026-06-16T18:58:41Z</dcterms:modified>
</cp:coreProperties>
</file>