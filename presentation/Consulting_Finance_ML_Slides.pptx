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9" r:id="rId10"/>
    <p:sldId id="264" r:id="rId11"/>
    <p:sldId id="268" r:id="rId12"/>
    <p:sldId id="267" r:id="rId13"/>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How our model turns features into a decision</a:t>
            </a:r>
            <a:endParaRPr lang="en-US" sz="36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src/model_v10.py · 16-model ensemble (9 LGBM + 3 XGB + 4 CatBoost)</a:t>
            </a:r>
            <a:endParaRPr lang="en-US" sz="1800" dirty="0"/>
          </a:p>
        </p:txBody>
      </p:sp>
      <p:sp>
        <p:nvSpPr>
          <p:cNvPr id="41" name="Rounded Rectangle 40"/>
          <p:cNvSpPr/>
          <p:nvPr/>
        </p:nvSpPr>
        <p:spPr>
          <a:xfrm>
            <a:off x="950976" y="2697480"/>
            <a:ext cx="2743200" cy="1280160"/>
          </a:xfrm>
          <a:prstGeom prst="roundRect">
            <a:avLst/>
          </a:prstGeom>
          <a:solidFill>
            <a:srgbClr val="EAF3E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63D22"/>
                </a:solidFill>
                <a:latin typeface="Arial"/>
              </a:rPr>
              <a:t>clean X</a:t>
            </a:r>
          </a:p>
          <a:p>
            <a:pPr algn="ctr"/>
            <a:r>
              <a:rPr sz="1300" b="0">
                <a:solidFill>
                  <a:srgbClr val="5C7268"/>
                </a:solidFill>
                <a:latin typeface="Arial"/>
              </a:rPr>
              <a:t>20 features</a:t>
            </a:r>
          </a:p>
        </p:txBody>
      </p:sp>
      <p:sp>
        <p:nvSpPr>
          <p:cNvPr id="45" name="Rounded Rectangle 44"/>
          <p:cNvSpPr/>
          <p:nvPr/>
        </p:nvSpPr>
        <p:spPr>
          <a:xfrm>
            <a:off x="10424160" y="2697480"/>
            <a:ext cx="3108960" cy="1280160"/>
          </a:xfrm>
          <a:prstGeom prst="roundRect">
            <a:avLst/>
          </a:prstGeom>
          <a:solidFill>
            <a:srgbClr val="2E8B6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de-DE" sz="1800" b="1" dirty="0" err="1">
                <a:solidFill>
                  <a:srgbClr val="FFFFFF"/>
                </a:solidFill>
                <a:latin typeface="Arial"/>
              </a:rPr>
              <a:t>Weighted</a:t>
            </a:r>
            <a:r>
              <a:rPr lang="de-DE" sz="1800" b="1" dirty="0">
                <a:solidFill>
                  <a:srgbClr val="FFFFFF"/>
                </a:solidFill>
                <a:latin typeface="Arial"/>
              </a:rPr>
              <a:t> </a:t>
            </a:r>
            <a:r>
              <a:rPr lang="de-DE" sz="1800" b="1" dirty="0" err="1">
                <a:solidFill>
                  <a:srgbClr val="FFFFFF"/>
                </a:solidFill>
                <a:latin typeface="Arial"/>
              </a:rPr>
              <a:t>tuned</a:t>
            </a:r>
            <a:r>
              <a:rPr lang="de-DE" sz="1800" b="1" dirty="0">
                <a:solidFill>
                  <a:srgbClr val="FFFFFF"/>
                </a:solidFill>
                <a:latin typeface="Arial"/>
              </a:rPr>
              <a:t> </a:t>
            </a:r>
            <a:r>
              <a:rPr sz="1800" b="1" dirty="0">
                <a:solidFill>
                  <a:srgbClr val="FFFFFF"/>
                </a:solidFill>
                <a:latin typeface="Arial"/>
              </a:rPr>
              <a:t>blend</a:t>
            </a:r>
          </a:p>
          <a:p>
            <a:pPr algn="ctr"/>
            <a:r>
              <a:rPr sz="1300" b="0" dirty="0">
                <a:solidFill>
                  <a:srgbClr val="EAF3EF"/>
                </a:solidFill>
                <a:latin typeface="Arial"/>
              </a:rPr>
              <a:t>16 → 1 probability</a:t>
            </a:r>
          </a:p>
        </p:txBody>
      </p:sp>
      <p:sp>
        <p:nvSpPr>
          <p:cNvPr id="46" name="Rounded Rectangle 45"/>
          <p:cNvSpPr/>
          <p:nvPr/>
        </p:nvSpPr>
        <p:spPr>
          <a:xfrm>
            <a:off x="14630400" y="2834640"/>
            <a:ext cx="2651760" cy="1005840"/>
          </a:xfrm>
          <a:prstGeom prst="roundRect">
            <a:avLst/>
          </a:prstGeom>
          <a:solidFill>
            <a:srgbClr val="063D2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Arial"/>
              </a:rPr>
              <a:t>smooth cutoff</a:t>
            </a:r>
          </a:p>
          <a:p>
            <a:pPr algn="ctr"/>
            <a:r>
              <a:rPr sz="1300" b="0">
                <a:solidFill>
                  <a:srgbClr val="BCDDCE"/>
                </a:solidFill>
                <a:latin typeface="Arial"/>
              </a:rPr>
              <a:t>approve if p &gt; 0.527</a:t>
            </a:r>
          </a:p>
        </p:txBody>
      </p:sp>
      <p:cxnSp>
        <p:nvCxnSpPr>
          <p:cNvPr id="53" name="Connector 52"/>
          <p:cNvCxnSpPr/>
          <p:nvPr/>
        </p:nvCxnSpPr>
        <p:spPr>
          <a:xfrm>
            <a:off x="13533120" y="3337560"/>
            <a:ext cx="109728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950976" y="6446520"/>
            <a:ext cx="10972800" cy="365760"/>
          </a:xfrm>
          <a:prstGeom prst="rect">
            <a:avLst/>
          </a:prstGeom>
          <a:noFill/>
        </p:spPr>
        <p:txBody>
          <a:bodyPr wrap="none">
            <a:spAutoFit/>
          </a:bodyPr>
          <a:lstStyle/>
          <a:p>
            <a:r>
              <a:rPr sz="2000" b="1">
                <a:solidFill>
                  <a:srgbClr val="063D22"/>
                </a:solidFill>
                <a:latin typeface="Arial"/>
              </a:rPr>
              <a:t>What drives the model - top features by gain</a:t>
            </a:r>
          </a:p>
        </p:txBody>
      </p:sp>
      <p:pic>
        <p:nvPicPr>
          <p:cNvPr id="57" name="Picture 56" descr="deck_importance_wide.png"/>
          <p:cNvPicPr>
            <a:picLocks noChangeAspect="1"/>
          </p:cNvPicPr>
          <p:nvPr/>
        </p:nvPicPr>
        <p:blipFill>
          <a:blip r:embed="rId3"/>
          <a:stretch>
            <a:fillRect/>
          </a:stretch>
        </p:blipFill>
        <p:spPr>
          <a:xfrm>
            <a:off x="950976" y="6858000"/>
            <a:ext cx="10058400" cy="2286000"/>
          </a:xfrm>
          <a:prstGeom prst="rect">
            <a:avLst/>
          </a:prstGeom>
        </p:spPr>
      </p:pic>
      <p:sp>
        <p:nvSpPr>
          <p:cNvPr id="58" name="Rounded Rectangle 57"/>
          <p:cNvSpPr/>
          <p:nvPr/>
        </p:nvSpPr>
        <p:spPr>
          <a:xfrm>
            <a:off x="11475720" y="6766560"/>
            <a:ext cx="5852160" cy="2057400"/>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56032" tIns="182880" rIns="219456" bIns="128016" rtlCol="0" anchor="t"/>
          <a:lstStyle/>
          <a:p>
            <a:pPr algn="l"/>
            <a:r>
              <a:rPr sz="1700" b="1">
                <a:solidFill>
                  <a:srgbClr val="063D22"/>
                </a:solidFill>
                <a:latin typeface="Arial"/>
              </a:rPr>
              <a:t>Why blend 16 models?</a:t>
            </a:r>
          </a:p>
          <a:p>
            <a:pPr algn="l">
              <a:spcBef>
                <a:spcPts val="600"/>
              </a:spcBef>
            </a:pPr>
            <a:r>
              <a:rPr sz="1400">
                <a:solidFill>
                  <a:srgbClr val="5C7268"/>
                </a:solidFill>
                <a:latin typeface="Arial"/>
              </a:rPr>
              <a:t>Different model families make different mistakes. Averaging their predictions cancels the random part of each model's error and leaves the genuine signal - so the ensemble beats any single model.</a:t>
            </a:r>
          </a:p>
        </p:txBody>
      </p:sp>
      <p:sp>
        <p:nvSpPr>
          <p:cNvPr id="59" name="TextBox 58"/>
          <p:cNvSpPr txBox="1"/>
          <p:nvPr/>
        </p:nvSpPr>
        <p:spPr>
          <a:xfrm>
            <a:off x="11475720" y="8869680"/>
            <a:ext cx="5852160" cy="320040"/>
          </a:xfrm>
          <a:prstGeom prst="rect">
            <a:avLst/>
          </a:prstGeom>
          <a:noFill/>
        </p:spPr>
        <p:txBody>
          <a:bodyPr wrap="none">
            <a:spAutoFit/>
          </a:bodyPr>
          <a:lstStyle/>
          <a:p>
            <a:r>
              <a:rPr sz="1300" dirty="0">
                <a:solidFill>
                  <a:srgbClr val="007A33"/>
                </a:solidFill>
                <a:latin typeface="Arial"/>
              </a:rPr>
              <a:t>What each feature is → slide 9</a:t>
            </a:r>
          </a:p>
        </p:txBody>
      </p:sp>
      <p:sp>
        <p:nvSpPr>
          <p:cNvPr id="60" name="Rounded Rectangle 59"/>
          <p:cNvSpPr/>
          <p:nvPr/>
        </p:nvSpPr>
        <p:spPr>
          <a:xfrm>
            <a:off x="5029200" y="20116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9 × </a:t>
            </a:r>
            <a:r>
              <a:rPr sz="1500" b="1" i="0" dirty="0" err="1">
                <a:solidFill>
                  <a:srgbClr val="063D22"/>
                </a:solidFill>
                <a:latin typeface="Arial"/>
              </a:rPr>
              <a:t>LightGBM</a:t>
            </a:r>
            <a:endParaRPr sz="1500" b="1" i="0" dirty="0">
              <a:solidFill>
                <a:srgbClr val="063D22"/>
              </a:solidFill>
              <a:latin typeface="Arial"/>
            </a:endParaRPr>
          </a:p>
          <a:p>
            <a:pPr algn="ctr"/>
            <a:r>
              <a:rPr sz="1150" b="0" i="0" dirty="0">
                <a:solidFill>
                  <a:srgbClr val="2E8B62"/>
                </a:solidFill>
                <a:latin typeface="Arial"/>
              </a:rPr>
              <a:t>Fast · native missing-value handling</a:t>
            </a:r>
            <a:r>
              <a:rPr lang="de-DE" sz="1150" b="0" i="0" dirty="0">
                <a:solidFill>
                  <a:srgbClr val="2E8B62"/>
                </a:solidFill>
                <a:latin typeface="Arial"/>
              </a:rPr>
              <a:t> </a:t>
            </a:r>
            <a:endParaRPr sz="1150" b="0" i="0" dirty="0">
              <a:solidFill>
                <a:srgbClr val="2E8B62"/>
              </a:solidFill>
              <a:latin typeface="Arial"/>
            </a:endParaRPr>
          </a:p>
          <a:p>
            <a:pPr algn="ctr"/>
            <a:r>
              <a:rPr sz="1000" b="0" i="0" dirty="0">
                <a:solidFill>
                  <a:srgbClr val="5C7268"/>
                </a:solidFill>
                <a:latin typeface="Arial"/>
              </a:rPr>
              <a:t>3 configs × 3 seeds</a:t>
            </a:r>
          </a:p>
        </p:txBody>
      </p:sp>
      <p:sp>
        <p:nvSpPr>
          <p:cNvPr id="61" name="Rounded Rectangle 60"/>
          <p:cNvSpPr/>
          <p:nvPr/>
        </p:nvSpPr>
        <p:spPr>
          <a:xfrm>
            <a:off x="5029200" y="29260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dirty="0">
                <a:solidFill>
                  <a:srgbClr val="063D22"/>
                </a:solidFill>
                <a:latin typeface="Arial"/>
              </a:rPr>
              <a:t>3 × </a:t>
            </a:r>
            <a:r>
              <a:rPr sz="1500" b="1" i="0" dirty="0" err="1">
                <a:solidFill>
                  <a:srgbClr val="063D22"/>
                </a:solidFill>
                <a:latin typeface="Arial"/>
              </a:rPr>
              <a:t>XGBoost</a:t>
            </a:r>
            <a:endParaRPr sz="1500" b="1" i="0" dirty="0">
              <a:solidFill>
                <a:srgbClr val="063D22"/>
              </a:solidFill>
              <a:latin typeface="Arial"/>
            </a:endParaRPr>
          </a:p>
          <a:p>
            <a:pPr algn="ctr"/>
            <a:r>
              <a:rPr sz="1150" b="0" i="0" dirty="0">
                <a:solidFill>
                  <a:srgbClr val="2E8B62"/>
                </a:solidFill>
                <a:latin typeface="Arial"/>
              </a:rPr>
              <a:t>Different algorithm → adds diversity</a:t>
            </a:r>
          </a:p>
          <a:p>
            <a:pPr algn="ctr"/>
            <a:r>
              <a:rPr sz="1000" b="0" i="0" dirty="0">
                <a:solidFill>
                  <a:srgbClr val="5C7268"/>
                </a:solidFill>
                <a:latin typeface="Arial"/>
              </a:rPr>
              <a:t>3 seeds</a:t>
            </a:r>
          </a:p>
        </p:txBody>
      </p:sp>
      <p:sp>
        <p:nvSpPr>
          <p:cNvPr id="62" name="Rounded Rectangle 61"/>
          <p:cNvSpPr/>
          <p:nvPr/>
        </p:nvSpPr>
        <p:spPr>
          <a:xfrm>
            <a:off x="5029200" y="3840480"/>
            <a:ext cx="4114800" cy="822960"/>
          </a:xfrm>
          <a:prstGeom prst="roundRect">
            <a:avLst/>
          </a:prstGeom>
          <a:solidFill>
            <a:srgbClr val="FFFFFF"/>
          </a:solidFill>
          <a:ln w="19050">
            <a:solidFill>
              <a:srgbClr val="2E8B62"/>
            </a:solid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lstStyle/>
          <a:p>
            <a:pPr algn="ctr"/>
            <a:r>
              <a:rPr sz="1500" b="1" i="0">
                <a:solidFill>
                  <a:srgbClr val="063D22"/>
                </a:solidFill>
                <a:latin typeface="Arial"/>
              </a:rPr>
              <a:t>4 × CatBoost</a:t>
            </a:r>
          </a:p>
          <a:p>
            <a:pPr algn="ctr"/>
            <a:r>
              <a:rPr sz="1150" b="0" i="0">
                <a:solidFill>
                  <a:srgbClr val="2E8B62"/>
                </a:solidFill>
                <a:latin typeface="Arial"/>
              </a:rPr>
              <a:t>Best on categoricals (the analyst note)</a:t>
            </a:r>
          </a:p>
          <a:p>
            <a:pPr algn="ctr"/>
            <a:r>
              <a:rPr sz="1000" b="0" i="0">
                <a:solidFill>
                  <a:srgbClr val="5C7268"/>
                </a:solidFill>
                <a:latin typeface="Arial"/>
              </a:rPr>
              <a:t>2 configs × 2 seeds</a:t>
            </a:r>
          </a:p>
        </p:txBody>
      </p:sp>
      <p:cxnSp>
        <p:nvCxnSpPr>
          <p:cNvPr id="63" name="Connector 62"/>
          <p:cNvCxnSpPr/>
          <p:nvPr/>
        </p:nvCxnSpPr>
        <p:spPr>
          <a:xfrm flipV="1">
            <a:off x="3694176" y="24231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694176" y="3337560"/>
            <a:ext cx="1335024"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694176" y="3337560"/>
            <a:ext cx="1335024"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144000" y="24231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144000" y="3337560"/>
            <a:ext cx="1280160" cy="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9144000" y="3337560"/>
            <a:ext cx="1280160" cy="914400"/>
          </a:xfrm>
          <a:prstGeom prst="line">
            <a:avLst/>
          </a:prstGeom>
          <a:ln w="28575">
            <a:solidFill>
              <a:srgbClr val="063D2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950976" y="4846320"/>
            <a:ext cx="16367759" cy="1417320"/>
          </a:xfrm>
          <a:prstGeom prst="roundRect">
            <a:avLst/>
          </a:prstGeom>
          <a:solidFill>
            <a:srgbClr val="F4F8F6"/>
          </a:solidFill>
          <a:ln w="12700">
            <a:solidFill>
              <a:srgbClr val="C8D4CF"/>
            </a:solidFill>
          </a:ln>
          <a:effectLst/>
        </p:spPr>
        <p:style>
          <a:lnRef idx="1">
            <a:schemeClr val="accent1"/>
          </a:lnRef>
          <a:fillRef idx="3">
            <a:schemeClr val="accent1"/>
          </a:fillRef>
          <a:effectRef idx="2">
            <a:schemeClr val="accent1"/>
          </a:effectRef>
          <a:fontRef idx="minor">
            <a:schemeClr val="lt1"/>
          </a:fontRef>
        </p:style>
        <p:txBody>
          <a:bodyPr wrap="square" lIns="365760" tIns="109728" rIns="365760" bIns="109728" rtlCol="0" anchor="ctr"/>
          <a:lstStyle/>
          <a:p>
            <a:pPr algn="ctr">
              <a:spcAft>
                <a:spcPts val="300"/>
              </a:spcAft>
            </a:pPr>
            <a:r>
              <a:rPr sz="1600" b="1" i="0">
                <a:solidFill>
                  <a:srgbClr val="063D22"/>
                </a:solidFill>
                <a:latin typeface="Arial"/>
              </a:rPr>
              <a:t>Pseudo-labeling  -  learning from the new month</a:t>
            </a:r>
          </a:p>
          <a:p>
            <a:pPr algn="ctr">
              <a:spcAft>
                <a:spcPts val="300"/>
              </a:spcAft>
            </a:pPr>
            <a:r>
              <a:rPr sz="1400" b="0" i="0">
                <a:solidFill>
                  <a:srgbClr val="5C7268"/>
                </a:solidFill>
                <a:latin typeface="Arial"/>
              </a:rPr>
              <a:t>The ensemble's most confident test predictions (≥ 0.97) are added back into training as extra examples, at half weight, so the model adapts to the May-2026 patterns it has to predict.</a:t>
            </a:r>
          </a:p>
          <a:p>
            <a:pPr algn="ctr">
              <a:spcAft>
                <a:spcPts val="300"/>
              </a:spcAft>
            </a:pPr>
            <a:r>
              <a:rPr sz="1300" b="0" i="1">
                <a:solidFill>
                  <a:srgbClr val="5C7268"/>
                </a:solidFill>
                <a:latin typeface="Arial"/>
              </a:rPr>
              <a:t>Kept safe - only very confident rows, down-weighted - and the gain is measured, not assumed:  +0.14 pt on rolling validation.</a:t>
            </a:r>
          </a:p>
        </p:txBody>
      </p:sp>
      <p:sp>
        <p:nvSpPr>
          <p:cNvPr id="6" name="TextBox 5">
            <a:extLst>
              <a:ext uri="{FF2B5EF4-FFF2-40B4-BE49-F238E27FC236}">
                <a16:creationId xmlns:a16="http://schemas.microsoft.com/office/drawing/2014/main" id="{F0C4F650-6F9E-2C83-CF82-59BC68D8AEB7}"/>
              </a:ext>
            </a:extLst>
          </p:cNvPr>
          <p:cNvSpPr txBox="1"/>
          <p:nvPr/>
        </p:nvSpPr>
        <p:spPr>
          <a:xfrm>
            <a:off x="3590986" y="1952625"/>
            <a:ext cx="1438214" cy="292388"/>
          </a:xfrm>
          <a:prstGeom prst="rect">
            <a:avLst/>
          </a:prstGeom>
          <a:noFill/>
        </p:spPr>
        <p:txBody>
          <a:bodyPr wrap="none">
            <a:spAutoFit/>
          </a:bodyPr>
          <a:lstStyle/>
          <a:p>
            <a:r>
              <a:rPr lang="de-DE" sz="1300" b="1" dirty="0">
                <a:solidFill>
                  <a:srgbClr val="007A33"/>
                </a:solidFill>
                <a:latin typeface="Arial"/>
              </a:rPr>
              <a:t>Random </a:t>
            </a:r>
            <a:r>
              <a:rPr lang="de-DE" sz="1300" b="1" dirty="0" err="1">
                <a:solidFill>
                  <a:srgbClr val="007A33"/>
                </a:solidFill>
                <a:latin typeface="Arial"/>
              </a:rPr>
              <a:t>search</a:t>
            </a:r>
            <a:endParaRPr sz="1300" b="1" dirty="0">
              <a:solidFill>
                <a:srgbClr val="007A33"/>
              </a:solidFill>
              <a:latin typeface="Arial"/>
            </a:endParaRPr>
          </a:p>
        </p:txBody>
      </p:sp>
      <p:sp>
        <p:nvSpPr>
          <p:cNvPr id="7" name="TextBox 6">
            <a:extLst>
              <a:ext uri="{FF2B5EF4-FFF2-40B4-BE49-F238E27FC236}">
                <a16:creationId xmlns:a16="http://schemas.microsoft.com/office/drawing/2014/main" id="{27C5012B-4219-D21C-1146-55198B6A3D05}"/>
              </a:ext>
            </a:extLst>
          </p:cNvPr>
          <p:cNvSpPr txBox="1"/>
          <p:nvPr/>
        </p:nvSpPr>
        <p:spPr>
          <a:xfrm>
            <a:off x="9144000" y="1924786"/>
            <a:ext cx="1326004" cy="338554"/>
          </a:xfrm>
          <a:prstGeom prst="rect">
            <a:avLst/>
          </a:prstGeom>
          <a:noFill/>
        </p:spPr>
        <p:txBody>
          <a:bodyPr wrap="none">
            <a:spAutoFit/>
          </a:bodyPr>
          <a:lstStyle/>
          <a:p>
            <a:r>
              <a:rPr lang="de-DE" sz="1600" b="1" dirty="0" err="1">
                <a:solidFill>
                  <a:srgbClr val="007A33"/>
                </a:solidFill>
                <a:latin typeface="Arial"/>
              </a:rPr>
              <a:t>Grid</a:t>
            </a:r>
            <a:r>
              <a:rPr lang="de-DE" sz="1600" b="1" dirty="0">
                <a:solidFill>
                  <a:srgbClr val="007A33"/>
                </a:solidFill>
                <a:latin typeface="Arial"/>
              </a:rPr>
              <a:t> </a:t>
            </a:r>
            <a:r>
              <a:rPr lang="de-DE" sz="1600" b="1" dirty="0" err="1">
                <a:solidFill>
                  <a:srgbClr val="007A33"/>
                </a:solidFill>
                <a:latin typeface="Arial"/>
              </a:rPr>
              <a:t>search</a:t>
            </a:r>
            <a:endParaRPr sz="1600" b="1" dirty="0">
              <a:solidFill>
                <a:srgbClr val="007A33"/>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600" b="1">
                          <a:solidFill>
                            <a:srgbClr val="FFFFFF"/>
                          </a:solidFill>
                          <a:latin typeface="Arial"/>
                        </a:rPr>
                        <a:t>Feature</a:t>
                      </a:r>
                    </a:p>
                  </a:txBody>
                  <a:tcPr marL="164592" marT="54864" marB="54864" anchor="ctr">
                    <a:solidFill>
                      <a:srgbClr val="063D22"/>
                    </a:solidFill>
                  </a:tcPr>
                </a:tc>
                <a:tc>
                  <a:txBody>
                    <a:bodyPr/>
                    <a:lstStyle/>
                    <a:p>
                      <a:pPr algn="l"/>
                      <a:r>
                        <a:rPr sz="1600" b="1">
                          <a:solidFill>
                            <a:srgbClr val="FFFFFF"/>
                          </a:solidFill>
                          <a:latin typeface="Arial"/>
                        </a:rPr>
                        <a:t>What it is</a:t>
                      </a:r>
                    </a:p>
                  </a:txBody>
                  <a:tcPr marL="164592" marT="54864" marB="54864" anchor="ctr">
                    <a:solidFill>
                      <a:srgbClr val="063D22"/>
                    </a:solidFill>
                  </a:tcPr>
                </a:tc>
                <a:tc>
                  <a:txBody>
                    <a:bodyPr/>
                    <a:lstStyle/>
                    <a:p>
                      <a:pPr algn="l"/>
                      <a:r>
                        <a:rPr sz="1600" b="1">
                          <a:solidFill>
                            <a:srgbClr val="FFFFFF"/>
                          </a:solidFill>
                          <a:latin typeface="Arial"/>
                        </a:rPr>
                        <a:t>Why we made it</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400">
                          <a:solidFill>
                            <a:srgbClr val="14533B"/>
                          </a:solidFill>
                          <a:latin typeface="Courier New"/>
                        </a:rPr>
                        <a:t>risk_mean · risk_max</a:t>
                      </a:r>
                    </a:p>
                  </a:txBody>
                  <a:tcPr marL="164592" marT="54864" marB="54864" anchor="ctr">
                    <a:solidFill>
                      <a:srgbClr val="EAF3EF"/>
                    </a:solidFill>
                  </a:tcPr>
                </a:tc>
                <a:tc>
                  <a:txBody>
                    <a:bodyPr/>
                    <a:lstStyle/>
                    <a:p>
                      <a:pPr algn="l"/>
                      <a:r>
                        <a:rPr sz="1400">
                          <a:solidFill>
                            <a:srgbClr val="143A2B"/>
                          </a:solidFill>
                          <a:latin typeface="Arial"/>
                        </a:rPr>
                        <a:t>Average, and the higher (worse), of the two risk scores</a:t>
                      </a:r>
                    </a:p>
                  </a:txBody>
                  <a:tcPr marL="164592" marT="54864" marB="54864" anchor="ctr">
                    <a:solidFill>
                      <a:srgbClr val="EAF3EF"/>
                    </a:solidFill>
                  </a:tcPr>
                </a:tc>
                <a:tc>
                  <a:txBody>
                    <a:bodyPr/>
                    <a:lstStyle/>
                    <a:p>
                      <a:pPr algn="l"/>
                      <a:r>
                        <a:rPr sz="1400">
                          <a:solidFill>
                            <a:srgbClr val="5C7268"/>
                          </a:solidFill>
                          <a:latin typeface="Arial"/>
                        </a:rPr>
                        <a:t>One combined risk level - plus a flag when either source is high</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400">
                          <a:solidFill>
                            <a:srgbClr val="14533B"/>
                          </a:solidFill>
                          <a:latin typeface="Courier New"/>
                        </a:rPr>
                        <a:t>risk_dev</a:t>
                      </a:r>
                    </a:p>
                  </a:txBody>
                  <a:tcPr marL="164592" marT="54864" marB="54864" anchor="ctr">
                    <a:solidFill>
                      <a:srgbClr val="FFFFFF"/>
                    </a:solidFill>
                  </a:tcPr>
                </a:tc>
                <a:tc>
                  <a:txBody>
                    <a:bodyPr/>
                    <a:lstStyle/>
                    <a:p>
                      <a:pPr algn="l"/>
                      <a:r>
                        <a:rPr sz="1400">
                          <a:solidFill>
                            <a:srgbClr val="143A2B"/>
                          </a:solidFill>
                          <a:latin typeface="Arial"/>
                        </a:rPr>
                        <a:t>How far the risk score sits from the safe middle  (|risk − 55|)</a:t>
                      </a:r>
                    </a:p>
                  </a:txBody>
                  <a:tcPr marL="164592" marT="54864" marB="54864" anchor="ctr">
                    <a:solidFill>
                      <a:srgbClr val="FFFFFF"/>
                    </a:solidFill>
                  </a:tcPr>
                </a:tc>
                <a:tc>
                  <a:txBody>
                    <a:bodyPr/>
                    <a:lstStyle/>
                    <a:p>
                      <a:pPr algn="l"/>
                      <a:r>
                        <a:rPr sz="1400">
                          <a:solidFill>
                            <a:srgbClr val="5C7268"/>
                          </a:solidFill>
                          <a:latin typeface="Arial"/>
                        </a:rPr>
                        <a:t>Approval peaks mid-scale and drops at both ends - this captures that hump</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400">
                          <a:solidFill>
                            <a:srgbClr val="14533B"/>
                          </a:solidFill>
                          <a:latin typeface="Courier New"/>
                        </a:rPr>
                        <a:t>amt_to_income</a:t>
                      </a:r>
                    </a:p>
                  </a:txBody>
                  <a:tcPr marL="164592" marT="54864" marB="54864" anchor="ctr">
                    <a:solidFill>
                      <a:srgbClr val="EAF3EF"/>
                    </a:solidFill>
                  </a:tcPr>
                </a:tc>
                <a:tc>
                  <a:txBody>
                    <a:bodyPr/>
                    <a:lstStyle/>
                    <a:p>
                      <a:pPr algn="l"/>
                      <a:r>
                        <a:rPr sz="1400">
                          <a:solidFill>
                            <a:srgbClr val="143A2B"/>
                          </a:solidFill>
                          <a:latin typeface="Arial"/>
                        </a:rPr>
                        <a:t>Loan amount ÷ total income</a:t>
                      </a:r>
                    </a:p>
                  </a:txBody>
                  <a:tcPr marL="164592" marT="54864" marB="54864" anchor="ctr">
                    <a:solidFill>
                      <a:srgbClr val="EAF3EF"/>
                    </a:solidFill>
                  </a:tcPr>
                </a:tc>
                <a:tc>
                  <a:txBody>
                    <a:bodyPr/>
                    <a:lstStyle/>
                    <a:p>
                      <a:pPr algn="l"/>
                      <a:r>
                        <a:rPr sz="1400">
                          <a:solidFill>
                            <a:srgbClr val="5C7268"/>
                          </a:solidFill>
                          <a:latin typeface="Arial"/>
                        </a:rPr>
                        <a:t>Affordability - loan size vs. what they earn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400">
                          <a:solidFill>
                            <a:srgbClr val="14533B"/>
                          </a:solidFill>
                          <a:latin typeface="Courier New"/>
                        </a:rPr>
                        <a:t>total_income · log_income</a:t>
                      </a:r>
                    </a:p>
                  </a:txBody>
                  <a:tcPr marL="164592" marT="54864" marB="54864" anchor="ctr">
                    <a:solidFill>
                      <a:srgbClr val="FFFFFF"/>
                    </a:solidFill>
                  </a:tcPr>
                </a:tc>
                <a:tc>
                  <a:txBody>
                    <a:bodyPr/>
                    <a:lstStyle/>
                    <a:p>
                      <a:pPr algn="l"/>
                      <a:r>
                        <a:rPr sz="1400">
                          <a:solidFill>
                            <a:srgbClr val="143A2B"/>
                          </a:solidFill>
                          <a:latin typeface="Arial"/>
                        </a:rPr>
                        <a:t>Annual + other income combined (and its log)</a:t>
                      </a:r>
                    </a:p>
                  </a:txBody>
                  <a:tcPr marL="164592" marT="54864" marB="54864" anchor="ctr">
                    <a:solidFill>
                      <a:srgbClr val="FFFFFF"/>
                    </a:solidFill>
                  </a:tcPr>
                </a:tc>
                <a:tc>
                  <a:txBody>
                    <a:bodyPr/>
                    <a:lstStyle/>
                    <a:p>
                      <a:pPr algn="l"/>
                      <a:r>
                        <a:rPr sz="1400">
                          <a:solidFill>
                            <a:srgbClr val="5C7268"/>
                          </a:solidFill>
                          <a:latin typeface="Arial"/>
                        </a:rPr>
                        <a:t>Real disposable income; the log tames very large values</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400">
                          <a:solidFill>
                            <a:srgbClr val="14533B"/>
                          </a:solidFill>
                          <a:latin typeface="Courier New"/>
                        </a:rPr>
                        <a:t>credit_z</a:t>
                      </a:r>
                    </a:p>
                  </a:txBody>
                  <a:tcPr marL="164592" marT="54864" marB="54864" anchor="ctr">
                    <a:solidFill>
                      <a:srgbClr val="EAF3EF"/>
                    </a:solidFill>
                  </a:tcPr>
                </a:tc>
                <a:tc>
                  <a:txBody>
                    <a:bodyPr/>
                    <a:lstStyle/>
                    <a:p>
                      <a:pPr algn="l"/>
                      <a:r>
                        <a:rPr sz="1400">
                          <a:solidFill>
                            <a:srgbClr val="143A2B"/>
                          </a:solidFill>
                          <a:latin typeface="Arial"/>
                        </a:rPr>
                        <a:t>The 3 bureau scores put on one scale and merged</a:t>
                      </a:r>
                    </a:p>
                  </a:txBody>
                  <a:tcPr marL="164592" marT="54864" marB="54864" anchor="ctr">
                    <a:solidFill>
                      <a:srgbClr val="EAF3EF"/>
                    </a:solidFill>
                  </a:tcPr>
                </a:tc>
                <a:tc>
                  <a:txBody>
                    <a:bodyPr/>
                    <a:lstStyle/>
                    <a:p>
                      <a:pPr algn="l"/>
                      <a:r>
                        <a:rPr sz="1400">
                          <a:solidFill>
                            <a:srgbClr val="5C7268"/>
                          </a:solidFill>
                          <a:latin typeface="Arial"/>
                        </a:rPr>
                        <a:t>Each person has one score on a different scale - makes them comparable</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400">
                          <a:solidFill>
                            <a:srgbClr val="14533B"/>
                          </a:solidFill>
                          <a:latin typeface="Courier New"/>
                        </a:rPr>
                        <a:t>has_score · *_missing</a:t>
                      </a:r>
                    </a:p>
                  </a:txBody>
                  <a:tcPr marL="164592" marT="54864" marB="54864" anchor="ctr">
                    <a:solidFill>
                      <a:srgbClr val="FFFFFF"/>
                    </a:solidFill>
                  </a:tcPr>
                </a:tc>
                <a:tc>
                  <a:txBody>
                    <a:bodyPr/>
                    <a:lstStyle/>
                    <a:p>
                      <a:pPr algn="l"/>
                      <a:r>
                        <a:rPr sz="1400">
                          <a:solidFill>
                            <a:srgbClr val="143A2B"/>
                          </a:solidFill>
                          <a:latin typeface="Arial"/>
                        </a:rPr>
                        <a:t>Flags for whether a value is present</a:t>
                      </a:r>
                    </a:p>
                  </a:txBody>
                  <a:tcPr marL="164592" marT="54864" marB="54864" anchor="ctr">
                    <a:solidFill>
                      <a:srgbClr val="FFFFFF"/>
                    </a:solidFill>
                  </a:tcPr>
                </a:tc>
                <a:tc>
                  <a:txBody>
                    <a:bodyPr/>
                    <a:lstStyle/>
                    <a:p>
                      <a:pPr algn="l"/>
                      <a:r>
                        <a:rPr sz="1400">
                          <a:solidFill>
                            <a:srgbClr val="5C7268"/>
                          </a:solidFill>
                          <a:latin typeface="Arial"/>
                        </a:rPr>
                        <a:t>Whether a field is missing is itself a useful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400">
                          <a:solidFill>
                            <a:srgbClr val="14533B"/>
                          </a:solidFill>
                          <a:latin typeface="Courier New"/>
                        </a:rPr>
                        <a:t>year · month</a:t>
                      </a:r>
                    </a:p>
                  </a:txBody>
                  <a:tcPr marL="164592" marT="54864" marB="54864" anchor="ctr">
                    <a:solidFill>
                      <a:srgbClr val="EAF3EF"/>
                    </a:solidFill>
                  </a:tcPr>
                </a:tc>
                <a:tc>
                  <a:txBody>
                    <a:bodyPr/>
                    <a:lstStyle/>
                    <a:p>
                      <a:pPr algn="l"/>
                      <a:r>
                        <a:rPr sz="1400">
                          <a:solidFill>
                            <a:srgbClr val="143A2B"/>
                          </a:solidFill>
                          <a:latin typeface="Arial"/>
                        </a:rPr>
                        <a:t>Taken from the application date</a:t>
                      </a:r>
                    </a:p>
                  </a:txBody>
                  <a:tcPr marL="164592" marT="54864" marB="54864" anchor="ctr">
                    <a:solidFill>
                      <a:srgbClr val="EAF3EF"/>
                    </a:solidFill>
                  </a:tcPr>
                </a:tc>
                <a:tc>
                  <a:txBody>
                    <a:bodyPr/>
                    <a:lstStyle/>
                    <a:p>
                      <a:pPr algn="l"/>
                      <a:r>
                        <a:rPr sz="1400">
                          <a:solidFill>
                            <a:srgbClr val="5C7268"/>
                          </a:solidFill>
                          <a:latin typeface="Arial"/>
                        </a:rPr>
                        <a:t>Captures the approval-rate trend over time (down toward 2026)</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822343" y="5067858"/>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822343" y="6383290"/>
            <a:ext cx="704627" cy="19050"/>
          </a:xfrm>
          <a:prstGeom prst="rect">
            <a:avLst/>
          </a:prstGeom>
          <a:solidFill>
            <a:srgbClr val="1A7A57"/>
          </a:solidFill>
          <a:ln/>
        </p:spPr>
        <p:txBody>
          <a:bodyPr/>
          <a:lstStyle/>
          <a:p>
            <a:endParaRPr/>
          </a:p>
        </p:txBody>
      </p:sp>
      <p:sp>
        <p:nvSpPr>
          <p:cNvPr id="7" name="Text 5"/>
          <p:cNvSpPr/>
          <p:nvPr/>
        </p:nvSpPr>
        <p:spPr>
          <a:xfrm>
            <a:off x="936643" y="6011815"/>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526970" y="6383290"/>
            <a:ext cx="5770736" cy="19050"/>
          </a:xfrm>
          <a:prstGeom prst="rect">
            <a:avLst/>
          </a:prstGeom>
          <a:solidFill>
            <a:srgbClr val="1A7A57"/>
          </a:solidFill>
          <a:ln/>
        </p:spPr>
        <p:txBody>
          <a:bodyPr/>
          <a:lstStyle/>
          <a:p>
            <a:endParaRPr/>
          </a:p>
        </p:txBody>
      </p:sp>
      <p:sp>
        <p:nvSpPr>
          <p:cNvPr id="9" name="Text 7"/>
          <p:cNvSpPr/>
          <p:nvPr/>
        </p:nvSpPr>
        <p:spPr>
          <a:xfrm>
            <a:off x="1641270" y="6011815"/>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297706" y="6383290"/>
            <a:ext cx="1164357" cy="19050"/>
          </a:xfrm>
          <a:prstGeom prst="rect">
            <a:avLst/>
          </a:prstGeom>
          <a:solidFill>
            <a:srgbClr val="1A7A57"/>
          </a:solidFill>
          <a:ln/>
        </p:spPr>
        <p:txBody>
          <a:bodyPr/>
          <a:lstStyle/>
          <a:p>
            <a:endParaRPr/>
          </a:p>
        </p:txBody>
      </p:sp>
      <p:sp>
        <p:nvSpPr>
          <p:cNvPr id="11" name="Text 9"/>
          <p:cNvSpPr/>
          <p:nvPr/>
        </p:nvSpPr>
        <p:spPr>
          <a:xfrm>
            <a:off x="7335806" y="6011815"/>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462063" y="6383290"/>
            <a:ext cx="1394520" cy="19050"/>
          </a:xfrm>
          <a:prstGeom prst="rect">
            <a:avLst/>
          </a:prstGeom>
          <a:solidFill>
            <a:srgbClr val="1A7A57"/>
          </a:solidFill>
          <a:ln/>
        </p:spPr>
        <p:txBody>
          <a:bodyPr/>
          <a:lstStyle/>
          <a:p>
            <a:endParaRPr/>
          </a:p>
        </p:txBody>
      </p:sp>
      <p:sp>
        <p:nvSpPr>
          <p:cNvPr id="13" name="Text 11"/>
          <p:cNvSpPr/>
          <p:nvPr/>
        </p:nvSpPr>
        <p:spPr>
          <a:xfrm>
            <a:off x="8500163" y="6011815"/>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856582" y="6383290"/>
            <a:ext cx="1011287" cy="19050"/>
          </a:xfrm>
          <a:prstGeom prst="rect">
            <a:avLst/>
          </a:prstGeom>
          <a:solidFill>
            <a:srgbClr val="1A7A57"/>
          </a:solidFill>
          <a:ln/>
        </p:spPr>
        <p:txBody>
          <a:bodyPr/>
          <a:lstStyle/>
          <a:p>
            <a:endParaRPr/>
          </a:p>
        </p:txBody>
      </p:sp>
      <p:sp>
        <p:nvSpPr>
          <p:cNvPr id="15" name="Text 13"/>
          <p:cNvSpPr/>
          <p:nvPr/>
        </p:nvSpPr>
        <p:spPr>
          <a:xfrm>
            <a:off x="9894682" y="6011815"/>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822343" y="6892877"/>
            <a:ext cx="704627" cy="9525"/>
          </a:xfrm>
          <a:prstGeom prst="rect">
            <a:avLst/>
          </a:prstGeom>
          <a:solidFill>
            <a:srgbClr val="D2E6DD"/>
          </a:solidFill>
          <a:ln/>
        </p:spPr>
        <p:txBody>
          <a:bodyPr/>
          <a:lstStyle/>
          <a:p>
            <a:endParaRPr/>
          </a:p>
        </p:txBody>
      </p:sp>
      <p:sp>
        <p:nvSpPr>
          <p:cNvPr id="17" name="Text 15"/>
          <p:cNvSpPr/>
          <p:nvPr/>
        </p:nvSpPr>
        <p:spPr>
          <a:xfrm>
            <a:off x="936643" y="6507115"/>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526970" y="6892877"/>
            <a:ext cx="5770736" cy="9525"/>
          </a:xfrm>
          <a:prstGeom prst="rect">
            <a:avLst/>
          </a:prstGeom>
          <a:solidFill>
            <a:srgbClr val="D2E6DD"/>
          </a:solidFill>
          <a:ln/>
        </p:spPr>
        <p:txBody>
          <a:bodyPr/>
          <a:lstStyle/>
          <a:p>
            <a:endParaRPr/>
          </a:p>
        </p:txBody>
      </p:sp>
      <p:sp>
        <p:nvSpPr>
          <p:cNvPr id="19" name="Text 17"/>
          <p:cNvSpPr/>
          <p:nvPr/>
        </p:nvSpPr>
        <p:spPr>
          <a:xfrm>
            <a:off x="1641270" y="6507115"/>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297706" y="6892877"/>
            <a:ext cx="1164357" cy="9525"/>
          </a:xfrm>
          <a:prstGeom prst="rect">
            <a:avLst/>
          </a:prstGeom>
          <a:solidFill>
            <a:srgbClr val="D2E6DD"/>
          </a:solidFill>
          <a:ln/>
        </p:spPr>
        <p:txBody>
          <a:bodyPr/>
          <a:lstStyle/>
          <a:p>
            <a:endParaRPr/>
          </a:p>
        </p:txBody>
      </p:sp>
      <p:sp>
        <p:nvSpPr>
          <p:cNvPr id="21" name="Text 19"/>
          <p:cNvSpPr/>
          <p:nvPr/>
        </p:nvSpPr>
        <p:spPr>
          <a:xfrm>
            <a:off x="7335806" y="6507115"/>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462063" y="6892877"/>
            <a:ext cx="1394520" cy="9525"/>
          </a:xfrm>
          <a:prstGeom prst="rect">
            <a:avLst/>
          </a:prstGeom>
          <a:solidFill>
            <a:srgbClr val="D2E6DD"/>
          </a:solidFill>
          <a:ln/>
        </p:spPr>
        <p:txBody>
          <a:bodyPr/>
          <a:lstStyle/>
          <a:p>
            <a:endParaRPr/>
          </a:p>
        </p:txBody>
      </p:sp>
      <p:sp>
        <p:nvSpPr>
          <p:cNvPr id="23" name="Text 21"/>
          <p:cNvSpPr/>
          <p:nvPr/>
        </p:nvSpPr>
        <p:spPr>
          <a:xfrm>
            <a:off x="8500163" y="6507115"/>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856582" y="6892877"/>
            <a:ext cx="1011287" cy="9525"/>
          </a:xfrm>
          <a:prstGeom prst="rect">
            <a:avLst/>
          </a:prstGeom>
          <a:solidFill>
            <a:srgbClr val="D2E6DD"/>
          </a:solidFill>
          <a:ln/>
        </p:spPr>
        <p:txBody>
          <a:bodyPr/>
          <a:lstStyle/>
          <a:p>
            <a:endParaRPr/>
          </a:p>
        </p:txBody>
      </p:sp>
      <p:sp>
        <p:nvSpPr>
          <p:cNvPr id="25" name="Text 23"/>
          <p:cNvSpPr/>
          <p:nvPr/>
        </p:nvSpPr>
        <p:spPr>
          <a:xfrm>
            <a:off x="9894682" y="6507115"/>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822343" y="6902402"/>
            <a:ext cx="10045526" cy="528638"/>
          </a:xfrm>
          <a:prstGeom prst="rect">
            <a:avLst/>
          </a:prstGeom>
          <a:solidFill>
            <a:srgbClr val="E6F5EF"/>
          </a:solidFill>
          <a:ln/>
        </p:spPr>
        <p:txBody>
          <a:bodyPr/>
          <a:lstStyle/>
          <a:p>
            <a:endParaRPr/>
          </a:p>
        </p:txBody>
      </p:sp>
      <p:sp>
        <p:nvSpPr>
          <p:cNvPr id="27" name="Shape 25"/>
          <p:cNvSpPr/>
          <p:nvPr/>
        </p:nvSpPr>
        <p:spPr>
          <a:xfrm>
            <a:off x="822343" y="7421515"/>
            <a:ext cx="704627" cy="9525"/>
          </a:xfrm>
          <a:prstGeom prst="rect">
            <a:avLst/>
          </a:prstGeom>
          <a:solidFill>
            <a:srgbClr val="D2E6DD"/>
          </a:solidFill>
          <a:ln/>
        </p:spPr>
        <p:txBody>
          <a:bodyPr/>
          <a:lstStyle/>
          <a:p>
            <a:endParaRPr/>
          </a:p>
        </p:txBody>
      </p:sp>
      <p:sp>
        <p:nvSpPr>
          <p:cNvPr id="28" name="Text 26"/>
          <p:cNvSpPr/>
          <p:nvPr/>
        </p:nvSpPr>
        <p:spPr>
          <a:xfrm>
            <a:off x="936643" y="7007177"/>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526970" y="7421515"/>
            <a:ext cx="5770736" cy="9525"/>
          </a:xfrm>
          <a:prstGeom prst="rect">
            <a:avLst/>
          </a:prstGeom>
          <a:solidFill>
            <a:srgbClr val="D2E6DD"/>
          </a:solidFill>
          <a:ln/>
        </p:spPr>
        <p:txBody>
          <a:bodyPr/>
          <a:lstStyle/>
          <a:p>
            <a:endParaRPr/>
          </a:p>
        </p:txBody>
      </p:sp>
      <p:sp>
        <p:nvSpPr>
          <p:cNvPr id="30" name="Text 28"/>
          <p:cNvSpPr/>
          <p:nvPr/>
        </p:nvSpPr>
        <p:spPr>
          <a:xfrm>
            <a:off x="1641270" y="7007177"/>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297706" y="7421515"/>
            <a:ext cx="1164357" cy="9525"/>
          </a:xfrm>
          <a:prstGeom prst="rect">
            <a:avLst/>
          </a:prstGeom>
          <a:solidFill>
            <a:srgbClr val="D2E6DD"/>
          </a:solidFill>
          <a:ln/>
        </p:spPr>
        <p:txBody>
          <a:bodyPr/>
          <a:lstStyle/>
          <a:p>
            <a:endParaRPr/>
          </a:p>
        </p:txBody>
      </p:sp>
      <p:sp>
        <p:nvSpPr>
          <p:cNvPr id="32" name="Text 30"/>
          <p:cNvSpPr/>
          <p:nvPr/>
        </p:nvSpPr>
        <p:spPr>
          <a:xfrm>
            <a:off x="7335806" y="7007177"/>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462063" y="7421515"/>
            <a:ext cx="1394520" cy="9525"/>
          </a:xfrm>
          <a:prstGeom prst="rect">
            <a:avLst/>
          </a:prstGeom>
          <a:solidFill>
            <a:srgbClr val="D2E6DD"/>
          </a:solidFill>
          <a:ln/>
        </p:spPr>
        <p:txBody>
          <a:bodyPr/>
          <a:lstStyle/>
          <a:p>
            <a:endParaRPr/>
          </a:p>
        </p:txBody>
      </p:sp>
      <p:sp>
        <p:nvSpPr>
          <p:cNvPr id="34" name="Text 32"/>
          <p:cNvSpPr/>
          <p:nvPr/>
        </p:nvSpPr>
        <p:spPr>
          <a:xfrm>
            <a:off x="8500163" y="7007177"/>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856582" y="7421515"/>
            <a:ext cx="1011287" cy="9525"/>
          </a:xfrm>
          <a:prstGeom prst="rect">
            <a:avLst/>
          </a:prstGeom>
          <a:solidFill>
            <a:srgbClr val="D2E6DD"/>
          </a:solidFill>
          <a:ln/>
        </p:spPr>
        <p:txBody>
          <a:bodyPr/>
          <a:lstStyle/>
          <a:p>
            <a:endParaRPr/>
          </a:p>
        </p:txBody>
      </p:sp>
      <p:sp>
        <p:nvSpPr>
          <p:cNvPr id="36" name="Text 34"/>
          <p:cNvSpPr/>
          <p:nvPr/>
        </p:nvSpPr>
        <p:spPr>
          <a:xfrm>
            <a:off x="9894682" y="7007177"/>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822343" y="7431040"/>
            <a:ext cx="10045526" cy="523875"/>
          </a:xfrm>
          <a:prstGeom prst="rect">
            <a:avLst/>
          </a:prstGeom>
          <a:solidFill>
            <a:srgbClr val="E6F5EF"/>
          </a:solidFill>
          <a:ln/>
        </p:spPr>
        <p:txBody>
          <a:bodyPr/>
          <a:lstStyle/>
          <a:p>
            <a:endParaRPr/>
          </a:p>
        </p:txBody>
      </p:sp>
      <p:sp>
        <p:nvSpPr>
          <p:cNvPr id="38" name="Text 36"/>
          <p:cNvSpPr/>
          <p:nvPr/>
        </p:nvSpPr>
        <p:spPr>
          <a:xfrm>
            <a:off x="936643" y="7535815"/>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641270" y="7535815"/>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335806" y="7535815"/>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500163" y="7535815"/>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9894682" y="7535815"/>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56" name="Text 54"/>
          <p:cNvSpPr/>
          <p:nvPr/>
        </p:nvSpPr>
        <p:spPr>
          <a:xfrm>
            <a:off x="11442509" y="5016365"/>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442509" y="6227666"/>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442509" y="7189691"/>
            <a:ext cx="5978196" cy="12049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822343" y="2694776"/>
            <a:ext cx="15361920" cy="16322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12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938</TotalTime>
  <Words>2242</Words>
  <Application>Microsoft Macintosh PowerPoint</Application>
  <PresentationFormat>Custom</PresentationFormat>
  <Paragraphs>223</Paragraphs>
  <Slides>12</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6</cp:revision>
  <dcterms:created xsi:type="dcterms:W3CDTF">2026-06-16T18:58:41Z</dcterms:created>
  <dcterms:modified xsi:type="dcterms:W3CDTF">2026-06-17T12:19:40Z</dcterms:modified>
</cp:coreProperties>
</file>