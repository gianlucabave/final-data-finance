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9" r:id="rId10"/>
    <p:sldId id="264" r:id="rId11"/>
    <p:sldId id="268" r:id="rId12"/>
    <p:sldId id="267" r:id="rId1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600" b="1">
                          <a:solidFill>
                            <a:srgbClr val="FFFFFF"/>
                          </a:solidFill>
                          <a:latin typeface="Arial"/>
                        </a:rPr>
                        <a:t>Feature</a:t>
                      </a:r>
                    </a:p>
                  </a:txBody>
                  <a:tcPr marL="164592" marT="54864" marB="54864" anchor="ctr">
                    <a:solidFill>
                      <a:srgbClr val="063D22"/>
                    </a:solidFill>
                  </a:tcPr>
                </a:tc>
                <a:tc>
                  <a:txBody>
                    <a:bodyPr/>
                    <a:lstStyle/>
                    <a:p>
                      <a:pPr algn="l"/>
                      <a:r>
                        <a:rPr sz="1600" b="1">
                          <a:solidFill>
                            <a:srgbClr val="FFFFFF"/>
                          </a:solidFill>
                          <a:latin typeface="Arial"/>
                        </a:rPr>
                        <a:t>What it is</a:t>
                      </a:r>
                    </a:p>
                  </a:txBody>
                  <a:tcPr marL="164592" marT="54864" marB="54864" anchor="ctr">
                    <a:solidFill>
                      <a:srgbClr val="063D22"/>
                    </a:solidFill>
                  </a:tcPr>
                </a:tc>
                <a:tc>
                  <a:txBody>
                    <a:bodyPr/>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400">
                          <a:solidFill>
                            <a:srgbClr val="14533B"/>
                          </a:solidFill>
                          <a:latin typeface="Courier New"/>
                        </a:rPr>
                        <a:t>risk_mean · risk_max</a:t>
                      </a:r>
                    </a:p>
                  </a:txBody>
                  <a:tcPr marL="164592" marT="54864" marB="54864" anchor="ctr">
                    <a:solidFill>
                      <a:srgbClr val="EAF3EF"/>
                    </a:solidFill>
                  </a:tcPr>
                </a:tc>
                <a:tc>
                  <a:txBody>
                    <a:bodyPr/>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400">
                          <a:solidFill>
                            <a:srgbClr val="14533B"/>
                          </a:solidFill>
                          <a:latin typeface="Courier New"/>
                        </a:rPr>
                        <a:t>risk_dev</a:t>
                      </a:r>
                    </a:p>
                  </a:txBody>
                  <a:tcPr marL="164592" marT="54864" marB="54864" anchor="ctr">
                    <a:solidFill>
                      <a:srgbClr val="FFFFFF"/>
                    </a:solidFill>
                  </a:tcPr>
                </a:tc>
                <a:tc>
                  <a:txBody>
                    <a:bodyPr/>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400">
                          <a:solidFill>
                            <a:srgbClr val="14533B"/>
                          </a:solidFill>
                          <a:latin typeface="Courier New"/>
                        </a:rPr>
                        <a:t>amt_to_income</a:t>
                      </a:r>
                    </a:p>
                  </a:txBody>
                  <a:tcPr marL="164592" marT="54864" marB="54864" anchor="ctr">
                    <a:solidFill>
                      <a:srgbClr val="EAF3EF"/>
                    </a:solidFill>
                  </a:tcPr>
                </a:tc>
                <a:tc>
                  <a:txBody>
                    <a:bodyPr/>
                    <a:lstStyle/>
                    <a:p>
                      <a:pPr algn="l"/>
                      <a:r>
                        <a:rPr sz="1400">
                          <a:solidFill>
                            <a:srgbClr val="143A2B"/>
                          </a:solidFill>
                          <a:latin typeface="Arial"/>
                        </a:rPr>
                        <a:t>Loan amount ÷ total income</a:t>
                      </a:r>
                    </a:p>
                  </a:txBody>
                  <a:tcPr marL="164592" marT="54864" marB="54864" anchor="ctr">
                    <a:solidFill>
                      <a:srgbClr val="EAF3EF"/>
                    </a:solidFill>
                  </a:tcPr>
                </a:tc>
                <a:tc>
                  <a:txBody>
                    <a:bodyPr/>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400">
                          <a:solidFill>
                            <a:srgbClr val="14533B"/>
                          </a:solidFill>
                          <a:latin typeface="Courier New"/>
                        </a:rPr>
                        <a:t>total_income · log_income</a:t>
                      </a:r>
                    </a:p>
                  </a:txBody>
                  <a:tcPr marL="164592" marT="54864" marB="54864" anchor="ctr">
                    <a:solidFill>
                      <a:srgbClr val="FFFFFF"/>
                    </a:solidFill>
                  </a:tcPr>
                </a:tc>
                <a:tc>
                  <a:txBody>
                    <a:bodyPr/>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400">
                          <a:solidFill>
                            <a:srgbClr val="14533B"/>
                          </a:solidFill>
                          <a:latin typeface="Courier New"/>
                        </a:rPr>
                        <a:t>credit_z</a:t>
                      </a:r>
                    </a:p>
                  </a:txBody>
                  <a:tcPr marL="164592" marT="54864" marB="54864" anchor="ctr">
                    <a:solidFill>
                      <a:srgbClr val="EAF3EF"/>
                    </a:solidFill>
                  </a:tcPr>
                </a:tc>
                <a:tc>
                  <a:txBody>
                    <a:bodyPr/>
                    <a:lstStyle/>
                    <a:p>
                      <a:pPr algn="l"/>
                      <a:r>
                        <a:rPr sz="1400">
                          <a:solidFill>
                            <a:srgbClr val="143A2B"/>
                          </a:solidFill>
                          <a:latin typeface="Arial"/>
                        </a:rPr>
                        <a:t>The 3 bureau scores put on one scale and merged</a:t>
                      </a:r>
                    </a:p>
                  </a:txBody>
                  <a:tcPr marL="164592" marT="54864" marB="54864" anchor="ctr">
                    <a:solidFill>
                      <a:srgbClr val="EAF3EF"/>
                    </a:solidFill>
                  </a:tcPr>
                </a:tc>
                <a:tc>
                  <a:txBody>
                    <a:bodyPr/>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400">
                          <a:solidFill>
                            <a:srgbClr val="14533B"/>
                          </a:solidFill>
                          <a:latin typeface="Courier New"/>
                        </a:rPr>
                        <a:t>has_score · *_missing</a:t>
                      </a:r>
                    </a:p>
                  </a:txBody>
                  <a:tcPr marL="164592" marT="54864" marB="54864" anchor="ctr">
                    <a:solidFill>
                      <a:srgbClr val="FFFFFF"/>
                    </a:solidFill>
                  </a:tcPr>
                </a:tc>
                <a:tc>
                  <a:txBody>
                    <a:bodyPr/>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400">
                          <a:solidFill>
                            <a:srgbClr val="14533B"/>
                          </a:solidFill>
                          <a:latin typeface="Courier New"/>
                        </a:rPr>
                        <a:t>year · month</a:t>
                      </a:r>
                    </a:p>
                  </a:txBody>
                  <a:tcPr marL="164592" marT="54864" marB="54864" anchor="ctr">
                    <a:solidFill>
                      <a:srgbClr val="EAF3EF"/>
                    </a:solidFill>
                  </a:tcPr>
                </a:tc>
                <a:tc>
                  <a:txBody>
                    <a:bodyPr/>
                    <a:lstStyle/>
                    <a:p>
                      <a:pPr algn="l"/>
                      <a:r>
                        <a:rPr sz="1400">
                          <a:solidFill>
                            <a:srgbClr val="143A2B"/>
                          </a:solidFill>
                          <a:latin typeface="Arial"/>
                        </a:rPr>
                        <a:t>Taken from the application date</a:t>
                      </a:r>
                    </a:p>
                  </a:txBody>
                  <a:tcPr marL="164592" marT="54864" marB="54864" anchor="ctr">
                    <a:solidFill>
                      <a:srgbClr val="EAF3EF"/>
                    </a:solidFill>
                  </a:tcPr>
                </a:tc>
                <a:tc>
                  <a:txBody>
                    <a:bodyPr/>
                    <a:lstStyle/>
                    <a:p>
                      <a:pPr algn="l"/>
                      <a:r>
                        <a:rPr sz="140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822343" y="5067858"/>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822343" y="6383290"/>
            <a:ext cx="704627" cy="19050"/>
          </a:xfrm>
          <a:prstGeom prst="rect">
            <a:avLst/>
          </a:prstGeom>
          <a:solidFill>
            <a:srgbClr val="1A7A57"/>
          </a:solidFill>
          <a:ln/>
        </p:spPr>
        <p:txBody>
          <a:bodyPr/>
          <a:lstStyle/>
          <a:p>
            <a:endParaRPr/>
          </a:p>
        </p:txBody>
      </p:sp>
      <p:sp>
        <p:nvSpPr>
          <p:cNvPr id="7" name="Text 5"/>
          <p:cNvSpPr/>
          <p:nvPr/>
        </p:nvSpPr>
        <p:spPr>
          <a:xfrm>
            <a:off x="936643" y="6011815"/>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526970" y="6383290"/>
            <a:ext cx="5770736" cy="19050"/>
          </a:xfrm>
          <a:prstGeom prst="rect">
            <a:avLst/>
          </a:prstGeom>
          <a:solidFill>
            <a:srgbClr val="1A7A57"/>
          </a:solidFill>
          <a:ln/>
        </p:spPr>
        <p:txBody>
          <a:bodyPr/>
          <a:lstStyle/>
          <a:p>
            <a:endParaRPr/>
          </a:p>
        </p:txBody>
      </p:sp>
      <p:sp>
        <p:nvSpPr>
          <p:cNvPr id="9" name="Text 7"/>
          <p:cNvSpPr/>
          <p:nvPr/>
        </p:nvSpPr>
        <p:spPr>
          <a:xfrm>
            <a:off x="1641270" y="6011815"/>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297706" y="6383290"/>
            <a:ext cx="1164357" cy="19050"/>
          </a:xfrm>
          <a:prstGeom prst="rect">
            <a:avLst/>
          </a:prstGeom>
          <a:solidFill>
            <a:srgbClr val="1A7A57"/>
          </a:solidFill>
          <a:ln/>
        </p:spPr>
        <p:txBody>
          <a:bodyPr/>
          <a:lstStyle/>
          <a:p>
            <a:endParaRPr/>
          </a:p>
        </p:txBody>
      </p:sp>
      <p:sp>
        <p:nvSpPr>
          <p:cNvPr id="11" name="Text 9"/>
          <p:cNvSpPr/>
          <p:nvPr/>
        </p:nvSpPr>
        <p:spPr>
          <a:xfrm>
            <a:off x="7335806" y="6011815"/>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462063" y="6383290"/>
            <a:ext cx="1394520" cy="19050"/>
          </a:xfrm>
          <a:prstGeom prst="rect">
            <a:avLst/>
          </a:prstGeom>
          <a:solidFill>
            <a:srgbClr val="1A7A57"/>
          </a:solidFill>
          <a:ln/>
        </p:spPr>
        <p:txBody>
          <a:bodyPr/>
          <a:lstStyle/>
          <a:p>
            <a:endParaRPr/>
          </a:p>
        </p:txBody>
      </p:sp>
      <p:sp>
        <p:nvSpPr>
          <p:cNvPr id="13" name="Text 11"/>
          <p:cNvSpPr/>
          <p:nvPr/>
        </p:nvSpPr>
        <p:spPr>
          <a:xfrm>
            <a:off x="8500163" y="6011815"/>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856582" y="6383290"/>
            <a:ext cx="1011287" cy="19050"/>
          </a:xfrm>
          <a:prstGeom prst="rect">
            <a:avLst/>
          </a:prstGeom>
          <a:solidFill>
            <a:srgbClr val="1A7A57"/>
          </a:solidFill>
          <a:ln/>
        </p:spPr>
        <p:txBody>
          <a:bodyPr/>
          <a:lstStyle/>
          <a:p>
            <a:endParaRPr/>
          </a:p>
        </p:txBody>
      </p:sp>
      <p:sp>
        <p:nvSpPr>
          <p:cNvPr id="15" name="Text 13"/>
          <p:cNvSpPr/>
          <p:nvPr/>
        </p:nvSpPr>
        <p:spPr>
          <a:xfrm>
            <a:off x="9894682" y="6011815"/>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822343" y="6892877"/>
            <a:ext cx="704627" cy="9525"/>
          </a:xfrm>
          <a:prstGeom prst="rect">
            <a:avLst/>
          </a:prstGeom>
          <a:solidFill>
            <a:srgbClr val="D2E6DD"/>
          </a:solidFill>
          <a:ln/>
        </p:spPr>
        <p:txBody>
          <a:bodyPr/>
          <a:lstStyle/>
          <a:p>
            <a:endParaRPr/>
          </a:p>
        </p:txBody>
      </p:sp>
      <p:sp>
        <p:nvSpPr>
          <p:cNvPr id="17" name="Text 15"/>
          <p:cNvSpPr/>
          <p:nvPr/>
        </p:nvSpPr>
        <p:spPr>
          <a:xfrm>
            <a:off x="936643" y="6507115"/>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526970" y="6892877"/>
            <a:ext cx="5770736" cy="9525"/>
          </a:xfrm>
          <a:prstGeom prst="rect">
            <a:avLst/>
          </a:prstGeom>
          <a:solidFill>
            <a:srgbClr val="D2E6DD"/>
          </a:solidFill>
          <a:ln/>
        </p:spPr>
        <p:txBody>
          <a:bodyPr/>
          <a:lstStyle/>
          <a:p>
            <a:endParaRPr/>
          </a:p>
        </p:txBody>
      </p:sp>
      <p:sp>
        <p:nvSpPr>
          <p:cNvPr id="19" name="Text 17"/>
          <p:cNvSpPr/>
          <p:nvPr/>
        </p:nvSpPr>
        <p:spPr>
          <a:xfrm>
            <a:off x="1641270" y="6507115"/>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297706" y="6892877"/>
            <a:ext cx="1164357" cy="9525"/>
          </a:xfrm>
          <a:prstGeom prst="rect">
            <a:avLst/>
          </a:prstGeom>
          <a:solidFill>
            <a:srgbClr val="D2E6DD"/>
          </a:solidFill>
          <a:ln/>
        </p:spPr>
        <p:txBody>
          <a:bodyPr/>
          <a:lstStyle/>
          <a:p>
            <a:endParaRPr/>
          </a:p>
        </p:txBody>
      </p:sp>
      <p:sp>
        <p:nvSpPr>
          <p:cNvPr id="21" name="Text 19"/>
          <p:cNvSpPr/>
          <p:nvPr/>
        </p:nvSpPr>
        <p:spPr>
          <a:xfrm>
            <a:off x="7335806" y="6507115"/>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462063" y="6892877"/>
            <a:ext cx="1394520" cy="9525"/>
          </a:xfrm>
          <a:prstGeom prst="rect">
            <a:avLst/>
          </a:prstGeom>
          <a:solidFill>
            <a:srgbClr val="D2E6DD"/>
          </a:solidFill>
          <a:ln/>
        </p:spPr>
        <p:txBody>
          <a:bodyPr/>
          <a:lstStyle/>
          <a:p>
            <a:endParaRPr/>
          </a:p>
        </p:txBody>
      </p:sp>
      <p:sp>
        <p:nvSpPr>
          <p:cNvPr id="23" name="Text 21"/>
          <p:cNvSpPr/>
          <p:nvPr/>
        </p:nvSpPr>
        <p:spPr>
          <a:xfrm>
            <a:off x="8500163" y="6507115"/>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856582" y="6892877"/>
            <a:ext cx="1011287" cy="9525"/>
          </a:xfrm>
          <a:prstGeom prst="rect">
            <a:avLst/>
          </a:prstGeom>
          <a:solidFill>
            <a:srgbClr val="D2E6DD"/>
          </a:solidFill>
          <a:ln/>
        </p:spPr>
        <p:txBody>
          <a:bodyPr/>
          <a:lstStyle/>
          <a:p>
            <a:endParaRPr/>
          </a:p>
        </p:txBody>
      </p:sp>
      <p:sp>
        <p:nvSpPr>
          <p:cNvPr id="25" name="Text 23"/>
          <p:cNvSpPr/>
          <p:nvPr/>
        </p:nvSpPr>
        <p:spPr>
          <a:xfrm>
            <a:off x="9894682" y="6507115"/>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822343" y="6902402"/>
            <a:ext cx="10045526" cy="528638"/>
          </a:xfrm>
          <a:prstGeom prst="rect">
            <a:avLst/>
          </a:prstGeom>
          <a:solidFill>
            <a:srgbClr val="E6F5EF"/>
          </a:solidFill>
          <a:ln/>
        </p:spPr>
        <p:txBody>
          <a:bodyPr/>
          <a:lstStyle/>
          <a:p>
            <a:endParaRPr/>
          </a:p>
        </p:txBody>
      </p:sp>
      <p:sp>
        <p:nvSpPr>
          <p:cNvPr id="27" name="Shape 25"/>
          <p:cNvSpPr/>
          <p:nvPr/>
        </p:nvSpPr>
        <p:spPr>
          <a:xfrm>
            <a:off x="822343" y="7421515"/>
            <a:ext cx="704627" cy="9525"/>
          </a:xfrm>
          <a:prstGeom prst="rect">
            <a:avLst/>
          </a:prstGeom>
          <a:solidFill>
            <a:srgbClr val="D2E6DD"/>
          </a:solidFill>
          <a:ln/>
        </p:spPr>
        <p:txBody>
          <a:bodyPr/>
          <a:lstStyle/>
          <a:p>
            <a:endParaRPr/>
          </a:p>
        </p:txBody>
      </p:sp>
      <p:sp>
        <p:nvSpPr>
          <p:cNvPr id="28" name="Text 26"/>
          <p:cNvSpPr/>
          <p:nvPr/>
        </p:nvSpPr>
        <p:spPr>
          <a:xfrm>
            <a:off x="936643" y="7007177"/>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526970" y="7421515"/>
            <a:ext cx="5770736" cy="9525"/>
          </a:xfrm>
          <a:prstGeom prst="rect">
            <a:avLst/>
          </a:prstGeom>
          <a:solidFill>
            <a:srgbClr val="D2E6DD"/>
          </a:solidFill>
          <a:ln/>
        </p:spPr>
        <p:txBody>
          <a:bodyPr/>
          <a:lstStyle/>
          <a:p>
            <a:endParaRPr/>
          </a:p>
        </p:txBody>
      </p:sp>
      <p:sp>
        <p:nvSpPr>
          <p:cNvPr id="30" name="Text 28"/>
          <p:cNvSpPr/>
          <p:nvPr/>
        </p:nvSpPr>
        <p:spPr>
          <a:xfrm>
            <a:off x="1641270" y="7007177"/>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297706" y="7421515"/>
            <a:ext cx="1164357" cy="9525"/>
          </a:xfrm>
          <a:prstGeom prst="rect">
            <a:avLst/>
          </a:prstGeom>
          <a:solidFill>
            <a:srgbClr val="D2E6DD"/>
          </a:solidFill>
          <a:ln/>
        </p:spPr>
        <p:txBody>
          <a:bodyPr/>
          <a:lstStyle/>
          <a:p>
            <a:endParaRPr/>
          </a:p>
        </p:txBody>
      </p:sp>
      <p:sp>
        <p:nvSpPr>
          <p:cNvPr id="32" name="Text 30"/>
          <p:cNvSpPr/>
          <p:nvPr/>
        </p:nvSpPr>
        <p:spPr>
          <a:xfrm>
            <a:off x="7335806" y="7007177"/>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462063" y="7421515"/>
            <a:ext cx="1394520" cy="9525"/>
          </a:xfrm>
          <a:prstGeom prst="rect">
            <a:avLst/>
          </a:prstGeom>
          <a:solidFill>
            <a:srgbClr val="D2E6DD"/>
          </a:solidFill>
          <a:ln/>
        </p:spPr>
        <p:txBody>
          <a:bodyPr/>
          <a:lstStyle/>
          <a:p>
            <a:endParaRPr/>
          </a:p>
        </p:txBody>
      </p:sp>
      <p:sp>
        <p:nvSpPr>
          <p:cNvPr id="34" name="Text 32"/>
          <p:cNvSpPr/>
          <p:nvPr/>
        </p:nvSpPr>
        <p:spPr>
          <a:xfrm>
            <a:off x="8500163" y="7007177"/>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856582" y="7421515"/>
            <a:ext cx="1011287" cy="9525"/>
          </a:xfrm>
          <a:prstGeom prst="rect">
            <a:avLst/>
          </a:prstGeom>
          <a:solidFill>
            <a:srgbClr val="D2E6DD"/>
          </a:solidFill>
          <a:ln/>
        </p:spPr>
        <p:txBody>
          <a:bodyPr/>
          <a:lstStyle/>
          <a:p>
            <a:endParaRPr/>
          </a:p>
        </p:txBody>
      </p:sp>
      <p:sp>
        <p:nvSpPr>
          <p:cNvPr id="36" name="Text 34"/>
          <p:cNvSpPr/>
          <p:nvPr/>
        </p:nvSpPr>
        <p:spPr>
          <a:xfrm>
            <a:off x="9894682" y="7007177"/>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822343" y="7431040"/>
            <a:ext cx="10045526" cy="523875"/>
          </a:xfrm>
          <a:prstGeom prst="rect">
            <a:avLst/>
          </a:prstGeom>
          <a:solidFill>
            <a:srgbClr val="E6F5EF"/>
          </a:solidFill>
          <a:ln/>
        </p:spPr>
        <p:txBody>
          <a:bodyPr/>
          <a:lstStyle/>
          <a:p>
            <a:endParaRPr/>
          </a:p>
        </p:txBody>
      </p:sp>
      <p:sp>
        <p:nvSpPr>
          <p:cNvPr id="38" name="Text 36"/>
          <p:cNvSpPr/>
          <p:nvPr/>
        </p:nvSpPr>
        <p:spPr>
          <a:xfrm>
            <a:off x="936643" y="7535815"/>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641270" y="7535815"/>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335806" y="7535815"/>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500163" y="7535815"/>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9894682" y="7535815"/>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56" name="Text 54"/>
          <p:cNvSpPr/>
          <p:nvPr/>
        </p:nvSpPr>
        <p:spPr>
          <a:xfrm>
            <a:off x="11442509" y="5016365"/>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442509" y="6227666"/>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442509" y="7189691"/>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822343" y="2694776"/>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12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938</TotalTime>
  <Words>2242</Words>
  <Application>Microsoft Macintosh PowerPoint</Application>
  <PresentationFormat>Custom</PresentationFormat>
  <Paragraphs>223</Paragraphs>
  <Slides>12</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6</cp:revision>
  <dcterms:created xsi:type="dcterms:W3CDTF">2026-06-16T18:58:41Z</dcterms:created>
  <dcterms:modified xsi:type="dcterms:W3CDTF">2026-06-17T12:19:40Z</dcterms:modified>
</cp:coreProperties>
</file>