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2" name="Rounded Rectangle 41"/>
          <p:cNvSpPr/>
          <p:nvPr/>
        </p:nvSpPr>
        <p:spPr>
          <a:xfrm>
            <a:off x="5029200" y="2148840"/>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9 × LightGBM</a:t>
            </a:r>
          </a:p>
        </p:txBody>
      </p:sp>
      <p:sp>
        <p:nvSpPr>
          <p:cNvPr id="43" name="Rounded Rectangle 42"/>
          <p:cNvSpPr/>
          <p:nvPr/>
        </p:nvSpPr>
        <p:spPr>
          <a:xfrm>
            <a:off x="5029200" y="2962656"/>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3 × XGBoost</a:t>
            </a:r>
          </a:p>
        </p:txBody>
      </p:sp>
      <p:sp>
        <p:nvSpPr>
          <p:cNvPr id="44" name="Rounded Rectangle 43"/>
          <p:cNvSpPr/>
          <p:nvPr/>
        </p:nvSpPr>
        <p:spPr>
          <a:xfrm>
            <a:off x="5029200" y="3776472"/>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4 × CatBoost</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 0.527</a:t>
            </a:r>
          </a:p>
        </p:txBody>
      </p:sp>
      <p:cxnSp>
        <p:nvCxnSpPr>
          <p:cNvPr id="47" name="Connector 46"/>
          <p:cNvCxnSpPr/>
          <p:nvPr/>
        </p:nvCxnSpPr>
        <p:spPr>
          <a:xfrm flipV="1">
            <a:off x="3694176" y="2523744"/>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694176" y="3337560"/>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144000" y="2523744"/>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144000" y="3337560"/>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0976" y="4983480"/>
            <a:ext cx="16367759" cy="868680"/>
          </a:xfrm>
          <a:prstGeom prst="roundRect">
            <a:avLst/>
          </a:prstGeom>
          <a:solidFill>
            <a:srgbClr val="F4F8F6"/>
          </a:solidFill>
          <a:ln w="1905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063D22"/>
                </a:solidFill>
                <a:latin typeface="Arial"/>
              </a:rPr>
              <a:t>Pseudo-labeling pass (v8 / v10)</a:t>
            </a:r>
          </a:p>
          <a:p>
            <a:pPr algn="ctr"/>
            <a:r>
              <a:rPr sz="1300" b="0">
                <a:solidFill>
                  <a:srgbClr val="5C7268"/>
                </a:solidFill>
                <a:latin typeface="Arial"/>
              </a:rPr>
              <a:t>confident test rows (≥ 0.97) added at weight 0.5  —  +0.14 pt on rolling validation</a:t>
            </a:r>
          </a:p>
        </p:txBody>
      </p:sp>
      <p:sp>
        <p:nvSpPr>
          <p:cNvPr id="55" name="TextBox 54"/>
          <p:cNvSpPr txBox="1"/>
          <p:nvPr/>
        </p:nvSpPr>
        <p:spPr>
          <a:xfrm>
            <a:off x="950976" y="5943600"/>
            <a:ext cx="16367759" cy="365760"/>
          </a:xfrm>
          <a:prstGeom prst="rect">
            <a:avLst/>
          </a:prstGeom>
          <a:noFill/>
        </p:spPr>
        <p:txBody>
          <a:bodyPr wrap="none">
            <a:spAutoFit/>
          </a:bodyPr>
          <a:lstStyle/>
          <a:p>
            <a:pPr algn="ctr"/>
            <a:r>
              <a:rPr sz="1400" i="1">
                <a:solidFill>
                  <a:srgbClr val="5C7268"/>
                </a:solidFill>
                <a:latin typeface="Arial"/>
              </a:rPr>
              <a:t>From clean features to a single approve / reject decision per applicant.</a:t>
            </a:r>
          </a:p>
        </p:txBody>
      </p: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TextBox 57"/>
          <p:cNvSpPr txBox="1"/>
          <p:nvPr/>
        </p:nvSpPr>
        <p:spPr>
          <a:xfrm>
            <a:off x="11521440" y="7223760"/>
            <a:ext cx="5760720" cy="1463040"/>
          </a:xfrm>
          <a:prstGeom prst="rect">
            <a:avLst/>
          </a:prstGeom>
          <a:noFill/>
        </p:spPr>
        <p:txBody>
          <a:bodyPr wrap="square">
            <a:spAutoFit/>
          </a:bodyPr>
          <a:lstStyle/>
          <a:p>
            <a:r>
              <a:rPr sz="1500">
                <a:solidFill>
                  <a:srgbClr val="5C7268"/>
                </a:solidFill>
                <a:latin typeface="Arial"/>
              </a:rPr>
              <a:t>The risk-shape and affordability features carry the model.</a:t>
            </a:r>
          </a:p>
          <a:p>
            <a:r>
              <a:rPr sz="1500">
                <a:solidFill>
                  <a:srgbClr val="007A33"/>
                </a:solidFill>
                <a:latin typeface="Arial"/>
              </a:rPr>
              <a:t>What each feature is → slide 9.</a:t>
            </a:r>
          </a:p>
        </p:txBody>
      </p:sp>
      <p:pic>
        <p:nvPicPr>
          <p:cNvPr id="5" name="Picture 4">
            <a:extLst>
              <a:ext uri="{FF2B5EF4-FFF2-40B4-BE49-F238E27FC236}">
                <a16:creationId xmlns:a16="http://schemas.microsoft.com/office/drawing/2014/main" id="{B4E6C54B-8C83-317D-1AF4-3605A7D7896A}"/>
              </a:ext>
            </a:extLst>
          </p:cNvPr>
          <p:cNvPicPr>
            <a:picLocks noChangeAspect="1"/>
          </p:cNvPicPr>
          <p:nvPr/>
        </p:nvPicPr>
        <p:blipFill>
          <a:blip r:embed="rId4"/>
          <a:stretch>
            <a:fillRect/>
          </a:stretch>
        </p:blipFill>
        <p:spPr>
          <a:xfrm>
            <a:off x="5112256" y="2635767"/>
            <a:ext cx="2503936" cy="196590"/>
          </a:xfrm>
          <a:prstGeom prst="rect">
            <a:avLst/>
          </a:prstGeom>
        </p:spPr>
      </p:pic>
      <p:pic>
        <p:nvPicPr>
          <p:cNvPr id="6" name="Picture 5">
            <a:extLst>
              <a:ext uri="{FF2B5EF4-FFF2-40B4-BE49-F238E27FC236}">
                <a16:creationId xmlns:a16="http://schemas.microsoft.com/office/drawing/2014/main" id="{A27ABDAD-6D53-63BC-51E5-B5ADDE84859C}"/>
              </a:ext>
            </a:extLst>
          </p:cNvPr>
          <p:cNvPicPr>
            <a:picLocks noChangeAspect="1"/>
          </p:cNvPicPr>
          <p:nvPr/>
        </p:nvPicPr>
        <p:blipFill>
          <a:blip r:embed="rId5"/>
          <a:stretch>
            <a:fillRect/>
          </a:stretch>
        </p:blipFill>
        <p:spPr>
          <a:xfrm>
            <a:off x="6472367" y="3463731"/>
            <a:ext cx="1228465" cy="206382"/>
          </a:xfrm>
          <a:prstGeom prst="rect">
            <a:avLst/>
          </a:prstGeom>
        </p:spPr>
      </p:pic>
      <p:pic>
        <p:nvPicPr>
          <p:cNvPr id="7" name="Picture 6">
            <a:extLst>
              <a:ext uri="{FF2B5EF4-FFF2-40B4-BE49-F238E27FC236}">
                <a16:creationId xmlns:a16="http://schemas.microsoft.com/office/drawing/2014/main" id="{7951B2C4-E38E-FCB5-A933-51BC39E6D62E}"/>
              </a:ext>
            </a:extLst>
          </p:cNvPr>
          <p:cNvPicPr>
            <a:picLocks noChangeAspect="1"/>
          </p:cNvPicPr>
          <p:nvPr/>
        </p:nvPicPr>
        <p:blipFill>
          <a:blip r:embed="rId6"/>
          <a:stretch>
            <a:fillRect/>
          </a:stretch>
        </p:blipFill>
        <p:spPr>
          <a:xfrm>
            <a:off x="6219251" y="4276858"/>
            <a:ext cx="1734695" cy="173470"/>
          </a:xfrm>
          <a:prstGeom prst="rect">
            <a:avLst/>
          </a:prstGeom>
        </p:spPr>
      </p:pic>
      <p:pic>
        <p:nvPicPr>
          <p:cNvPr id="8" name="Picture 7">
            <a:extLst>
              <a:ext uri="{FF2B5EF4-FFF2-40B4-BE49-F238E27FC236}">
                <a16:creationId xmlns:a16="http://schemas.microsoft.com/office/drawing/2014/main" id="{096898CC-70E5-622C-2E42-FC0208C0771A}"/>
              </a:ext>
            </a:extLst>
          </p:cNvPr>
          <p:cNvPicPr>
            <a:picLocks noChangeAspect="1"/>
          </p:cNvPicPr>
          <p:nvPr/>
        </p:nvPicPr>
        <p:blipFill>
          <a:blip r:embed="rId5"/>
          <a:stretch>
            <a:fillRect/>
          </a:stretch>
        </p:blipFill>
        <p:spPr>
          <a:xfrm>
            <a:off x="7765863" y="2643940"/>
            <a:ext cx="1228465" cy="20638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891</TotalTime>
  <Words>2449</Words>
  <Application>Microsoft Macintosh PowerPoint</Application>
  <PresentationFormat>Custom</PresentationFormat>
  <Paragraphs>262</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4</cp:revision>
  <dcterms:created xsi:type="dcterms:W3CDTF">2026-06-16T18:58:41Z</dcterms:created>
  <dcterms:modified xsi:type="dcterms:W3CDTF">2026-06-17T11:08:43Z</dcterms:modified>
</cp:coreProperties>
</file>