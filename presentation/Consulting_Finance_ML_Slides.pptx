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9" r:id="rId10"/>
    <p:sldId id="264" r:id="rId11"/>
    <p:sldId id="265" r:id="rId12"/>
    <p:sldId id="266" r:id="rId13"/>
    <p:sldId id="268" r:id="rId14"/>
    <p:sldId id="267" r:id="rId1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we understood the problem, not just ran a library. The hardest part was the forensics, the validation against the real task, and quantifying the ethics rather than hand-waving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B2E0D4"/>
                </a:solidFill>
                <a:latin typeface="Arial" pitchFamily="34" charset="0"/>
                <a:ea typeface="Arial" pitchFamily="34" charset="-122"/>
                <a:cs typeface="Arial" pitchFamily="34" charset="-120"/>
              </a:rPr>
              <a:t>Built clean — we caught the planted data trap and used no race or religion data.</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How our model turns features into a decision</a:t>
            </a:r>
            <a:endParaRPr lang="en-US" sz="36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src/model_v10.py · 16-model ensemble (9 LGBM + 3 XGB + 4 CatBoost)</a:t>
            </a:r>
            <a:endParaRPr lang="en-US" sz="1800" dirty="0"/>
          </a:p>
        </p:txBody>
      </p:sp>
      <p:sp>
        <p:nvSpPr>
          <p:cNvPr id="41" name="Rounded Rectangle 40"/>
          <p:cNvSpPr/>
          <p:nvPr/>
        </p:nvSpPr>
        <p:spPr>
          <a:xfrm>
            <a:off x="950976" y="2697480"/>
            <a:ext cx="2743200" cy="1280160"/>
          </a:xfrm>
          <a:prstGeom prst="roundRect">
            <a:avLst/>
          </a:prstGeom>
          <a:solidFill>
            <a:srgbClr val="EAF3E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63D22"/>
                </a:solidFill>
                <a:latin typeface="Arial"/>
              </a:rPr>
              <a:t>clean X</a:t>
            </a:r>
          </a:p>
          <a:p>
            <a:pPr algn="ctr"/>
            <a:r>
              <a:rPr sz="1300" b="0">
                <a:solidFill>
                  <a:srgbClr val="5C7268"/>
                </a:solidFill>
                <a:latin typeface="Arial"/>
              </a:rPr>
              <a:t>20 features</a:t>
            </a:r>
          </a:p>
        </p:txBody>
      </p:sp>
      <p:sp>
        <p:nvSpPr>
          <p:cNvPr id="45" name="Rounded Rectangle 44"/>
          <p:cNvSpPr/>
          <p:nvPr/>
        </p:nvSpPr>
        <p:spPr>
          <a:xfrm>
            <a:off x="10424160" y="2697480"/>
            <a:ext cx="3108960" cy="1280160"/>
          </a:xfrm>
          <a:prstGeom prst="roundRect">
            <a:avLst/>
          </a:prstGeom>
          <a:solidFill>
            <a:srgbClr val="2E8B6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Arial"/>
              </a:rPr>
              <a:t>mean blend</a:t>
            </a:r>
          </a:p>
          <a:p>
            <a:pPr algn="ctr"/>
            <a:r>
              <a:rPr sz="1300" b="0">
                <a:solidFill>
                  <a:srgbClr val="EAF3EF"/>
                </a:solidFill>
                <a:latin typeface="Arial"/>
              </a:rPr>
              <a:t>16 → 1 probability</a:t>
            </a:r>
          </a:p>
        </p:txBody>
      </p:sp>
      <p:sp>
        <p:nvSpPr>
          <p:cNvPr id="46" name="Rounded Rectangle 45"/>
          <p:cNvSpPr/>
          <p:nvPr/>
        </p:nvSpPr>
        <p:spPr>
          <a:xfrm>
            <a:off x="14630400" y="2834640"/>
            <a:ext cx="2651760" cy="1005840"/>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Arial"/>
              </a:rPr>
              <a:t>smooth cutoff</a:t>
            </a:r>
          </a:p>
          <a:p>
            <a:pPr algn="ctr"/>
            <a:r>
              <a:rPr sz="1300" b="0">
                <a:solidFill>
                  <a:srgbClr val="BCDDCE"/>
                </a:solidFill>
                <a:latin typeface="Arial"/>
              </a:rPr>
              <a:t>≈ 0.527</a:t>
            </a:r>
          </a:p>
        </p:txBody>
      </p:sp>
      <p:cxnSp>
        <p:nvCxnSpPr>
          <p:cNvPr id="53" name="Connector 52"/>
          <p:cNvCxnSpPr/>
          <p:nvPr/>
        </p:nvCxnSpPr>
        <p:spPr>
          <a:xfrm>
            <a:off x="13533120" y="3337560"/>
            <a:ext cx="109728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950976" y="4983480"/>
            <a:ext cx="16367759" cy="868680"/>
          </a:xfrm>
          <a:prstGeom prst="roundRect">
            <a:avLst/>
          </a:prstGeom>
          <a:solidFill>
            <a:srgbClr val="F4F8F6"/>
          </a:solidFill>
          <a:ln w="19050">
            <a:solidFill>
              <a:srgbClr val="C8D4C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063D22"/>
                </a:solidFill>
                <a:latin typeface="Arial"/>
              </a:rPr>
              <a:t>Pseudo-labeling pass (v8 / v10)</a:t>
            </a:r>
          </a:p>
          <a:p>
            <a:pPr algn="ctr"/>
            <a:r>
              <a:rPr sz="1300" b="0">
                <a:solidFill>
                  <a:srgbClr val="5C7268"/>
                </a:solidFill>
                <a:latin typeface="Arial"/>
              </a:rPr>
              <a:t>confident test rows (≥ 0.97) added at weight 0.5  —  +0.14 pt on rolling validation</a:t>
            </a:r>
          </a:p>
        </p:txBody>
      </p:sp>
      <p:sp>
        <p:nvSpPr>
          <p:cNvPr id="55" name="TextBox 54"/>
          <p:cNvSpPr txBox="1"/>
          <p:nvPr/>
        </p:nvSpPr>
        <p:spPr>
          <a:xfrm>
            <a:off x="950976" y="5943600"/>
            <a:ext cx="16367759" cy="365760"/>
          </a:xfrm>
          <a:prstGeom prst="rect">
            <a:avLst/>
          </a:prstGeom>
          <a:noFill/>
        </p:spPr>
        <p:txBody>
          <a:bodyPr wrap="none">
            <a:spAutoFit/>
          </a:bodyPr>
          <a:lstStyle/>
          <a:p>
            <a:pPr algn="ctr"/>
            <a:r>
              <a:rPr sz="1400" i="1">
                <a:solidFill>
                  <a:srgbClr val="5C7268"/>
                </a:solidFill>
                <a:latin typeface="Arial"/>
              </a:rPr>
              <a:t>From clean features to a single approve / reject decision per applicant.</a:t>
            </a:r>
          </a:p>
        </p:txBody>
      </p:sp>
      <p:sp>
        <p:nvSpPr>
          <p:cNvPr id="56" name="TextBox 55"/>
          <p:cNvSpPr txBox="1"/>
          <p:nvPr/>
        </p:nvSpPr>
        <p:spPr>
          <a:xfrm>
            <a:off x="950976" y="6446520"/>
            <a:ext cx="10972800" cy="365760"/>
          </a:xfrm>
          <a:prstGeom prst="rect">
            <a:avLst/>
          </a:prstGeom>
          <a:noFill/>
        </p:spPr>
        <p:txBody>
          <a:bodyPr wrap="none">
            <a:spAutoFit/>
          </a:bodyPr>
          <a:lstStyle/>
          <a:p>
            <a:r>
              <a:rPr sz="2000" b="1">
                <a:solidFill>
                  <a:srgbClr val="063D22"/>
                </a:solidFill>
                <a:latin typeface="Arial"/>
              </a:rPr>
              <a:t>What drives the model — top features by gain</a:t>
            </a:r>
          </a:p>
        </p:txBody>
      </p:sp>
      <p:pic>
        <p:nvPicPr>
          <p:cNvPr id="57" name="Picture 56" descr="deck_importance_wide.png"/>
          <p:cNvPicPr>
            <a:picLocks noChangeAspect="1"/>
          </p:cNvPicPr>
          <p:nvPr/>
        </p:nvPicPr>
        <p:blipFill>
          <a:blip r:embed="rId3"/>
          <a:stretch>
            <a:fillRect/>
          </a:stretch>
        </p:blipFill>
        <p:spPr>
          <a:xfrm>
            <a:off x="950976" y="6858000"/>
            <a:ext cx="10058400" cy="2286000"/>
          </a:xfrm>
          <a:prstGeom prst="rect">
            <a:avLst/>
          </a:prstGeom>
        </p:spPr>
      </p:pic>
      <p:sp>
        <p:nvSpPr>
          <p:cNvPr id="58" name="Rounded Rectangle 57"/>
          <p:cNvSpPr/>
          <p:nvPr/>
        </p:nvSpPr>
        <p:spPr>
          <a:xfrm>
            <a:off x="11475720" y="6766560"/>
            <a:ext cx="5852160" cy="2057400"/>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219456" tIns="182880" bIns="128016"/>
          <a:lstStyle/>
          <a:p>
            <a:pPr algn="l"/>
            <a:r>
              <a:rPr sz="1700" b="1">
                <a:solidFill>
                  <a:srgbClr val="063D22"/>
                </a:solidFill>
                <a:latin typeface="Arial"/>
              </a:rPr>
              <a:t>Why blend 16 models?</a:t>
            </a:r>
          </a:p>
          <a:p>
            <a:pPr algn="l">
              <a:spcBef>
                <a:spcPts val="600"/>
              </a:spcBef>
            </a:pPr>
            <a:r>
              <a:rPr sz="1400">
                <a:solidFill>
                  <a:srgbClr val="5C7268"/>
                </a:solidFill>
                <a:latin typeface="Arial"/>
              </a:rPr>
              <a:t>Different model families make different mistakes. Averaging their predictions cancels the random part of each model's error and leaves the genuine signal — so the ensemble beats any single model.</a:t>
            </a:r>
          </a:p>
        </p:txBody>
      </p:sp>
      <p:sp>
        <p:nvSpPr>
          <p:cNvPr id="59" name="TextBox 58"/>
          <p:cNvSpPr txBox="1"/>
          <p:nvPr/>
        </p:nvSpPr>
        <p:spPr>
          <a:xfrm>
            <a:off x="11475720" y="8869680"/>
            <a:ext cx="5852160" cy="320040"/>
          </a:xfrm>
          <a:prstGeom prst="rect">
            <a:avLst/>
          </a:prstGeom>
          <a:noFill/>
        </p:spPr>
        <p:txBody>
          <a:bodyPr wrap="none">
            <a:spAutoFit/>
          </a:bodyPr>
          <a:lstStyle/>
          <a:p>
            <a:r>
              <a:rPr sz="1300">
                <a:solidFill>
                  <a:srgbClr val="007A33"/>
                </a:solidFill>
                <a:latin typeface="Arial"/>
              </a:rPr>
              <a:t>What each feature is → slide 9</a:t>
            </a:r>
          </a:p>
        </p:txBody>
      </p:sp>
      <p:sp>
        <p:nvSpPr>
          <p:cNvPr id="60" name="Rounded Rectangle 59"/>
          <p:cNvSpPr/>
          <p:nvPr/>
        </p:nvSpPr>
        <p:spPr>
          <a:xfrm>
            <a:off x="5029200" y="20116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63D22"/>
                </a:solidFill>
                <a:latin typeface="Arial"/>
              </a:rPr>
              <a:t>9 × LightGBM</a:t>
            </a:r>
          </a:p>
          <a:p>
            <a:pPr algn="ctr"/>
            <a:r>
              <a:rPr sz="1150" b="0" i="0">
                <a:solidFill>
                  <a:srgbClr val="2E8B62"/>
                </a:solidFill>
                <a:latin typeface="Arial"/>
              </a:rPr>
              <a:t>Fast · native missing-value handling</a:t>
            </a:r>
          </a:p>
          <a:p>
            <a:pPr algn="ctr"/>
            <a:r>
              <a:rPr sz="1000" b="0" i="0">
                <a:solidFill>
                  <a:srgbClr val="5C7268"/>
                </a:solidFill>
                <a:latin typeface="Arial"/>
              </a:rPr>
              <a:t>3 configs × 3 seeds</a:t>
            </a:r>
          </a:p>
        </p:txBody>
      </p:sp>
      <p:sp>
        <p:nvSpPr>
          <p:cNvPr id="61" name="Rounded Rectangle 60"/>
          <p:cNvSpPr/>
          <p:nvPr/>
        </p:nvSpPr>
        <p:spPr>
          <a:xfrm>
            <a:off x="5029200" y="29260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63D22"/>
                </a:solidFill>
                <a:latin typeface="Arial"/>
              </a:rPr>
              <a:t>3 × XGBoost</a:t>
            </a:r>
          </a:p>
          <a:p>
            <a:pPr algn="ctr"/>
            <a:r>
              <a:rPr sz="1150" b="0" i="0">
                <a:solidFill>
                  <a:srgbClr val="2E8B62"/>
                </a:solidFill>
                <a:latin typeface="Arial"/>
              </a:rPr>
              <a:t>Different algorithm → adds diversity</a:t>
            </a:r>
          </a:p>
          <a:p>
            <a:pPr algn="ctr"/>
            <a:r>
              <a:rPr sz="1000" b="0" i="0">
                <a:solidFill>
                  <a:srgbClr val="5C7268"/>
                </a:solidFill>
                <a:latin typeface="Arial"/>
              </a:rPr>
              <a:t>3 seeds</a:t>
            </a:r>
          </a:p>
        </p:txBody>
      </p:sp>
      <p:sp>
        <p:nvSpPr>
          <p:cNvPr id="62" name="Rounded Rectangle 61"/>
          <p:cNvSpPr/>
          <p:nvPr/>
        </p:nvSpPr>
        <p:spPr>
          <a:xfrm>
            <a:off x="5029200" y="38404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63D22"/>
                </a:solidFill>
                <a:latin typeface="Arial"/>
              </a:rPr>
              <a:t>4 × CatBoost</a:t>
            </a:r>
          </a:p>
          <a:p>
            <a:pPr algn="ctr"/>
            <a:r>
              <a:rPr sz="1150" b="0" i="0">
                <a:solidFill>
                  <a:srgbClr val="2E8B62"/>
                </a:solidFill>
                <a:latin typeface="Arial"/>
              </a:rPr>
              <a:t>Best on categoricals (the analyst note)</a:t>
            </a:r>
          </a:p>
          <a:p>
            <a:pPr algn="ctr"/>
            <a:r>
              <a:rPr sz="1000" b="0" i="0">
                <a:solidFill>
                  <a:srgbClr val="5C7268"/>
                </a:solidFill>
                <a:latin typeface="Arial"/>
              </a:rPr>
              <a:t>2 configs × 2 seeds</a:t>
            </a:r>
          </a:p>
        </p:txBody>
      </p:sp>
      <p:cxnSp>
        <p:nvCxnSpPr>
          <p:cNvPr id="63" name="Connector 62"/>
          <p:cNvCxnSpPr/>
          <p:nvPr/>
        </p:nvCxnSpPr>
        <p:spPr>
          <a:xfrm flipV="1">
            <a:off x="3694176" y="24231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694176" y="3337560"/>
            <a:ext cx="1335024"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694176" y="33375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144000" y="24231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144000" y="3337560"/>
            <a:ext cx="128016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144000" y="33375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700" b="1">
                          <a:solidFill>
                            <a:srgbClr val="FFFFFF"/>
                          </a:solidFill>
                          <a:latin typeface="Arial"/>
                        </a:rPr>
                        <a:t>Feature</a:t>
                      </a:r>
                    </a:p>
                  </a:txBody>
                  <a:tcPr marL="164592" marT="54864" marB="54864" anchor="ctr">
                    <a:solidFill>
                      <a:srgbClr val="063D22"/>
                    </a:solidFill>
                  </a:tcPr>
                </a:tc>
                <a:tc>
                  <a:txBody>
                    <a:bodyPr/>
                    <a:lstStyle/>
                    <a:p>
                      <a:pPr algn="l"/>
                      <a:r>
                        <a:rPr sz="1700" b="1">
                          <a:solidFill>
                            <a:srgbClr val="FFFFFF"/>
                          </a:solidFill>
                          <a:latin typeface="Arial"/>
                        </a:rPr>
                        <a:t>How we built it</a:t>
                      </a:r>
                    </a:p>
                  </a:txBody>
                  <a:tcPr marL="164592" marT="54864" marB="54864" anchor="ctr">
                    <a:solidFill>
                      <a:srgbClr val="063D22"/>
                    </a:solidFill>
                  </a:tcPr>
                </a:tc>
                <a:tc>
                  <a:txBody>
                    <a:bodyPr/>
                    <a:lstStyle/>
                    <a:p>
                      <a:pPr algn="l"/>
                      <a:r>
                        <a:rPr sz="1700" b="1">
                          <a:solidFill>
                            <a:srgbClr val="FFFFFF"/>
                          </a:solidFill>
                          <a:latin typeface="Arial"/>
                        </a:rPr>
                        <a:t>Why it helps</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500">
                          <a:solidFill>
                            <a:srgbClr val="14533B"/>
                          </a:solidFill>
                          <a:latin typeface="Courier New"/>
                        </a:rPr>
                        <a:t>risk_mean · risk_max</a:t>
                      </a:r>
                    </a:p>
                  </a:txBody>
                  <a:tcPr marL="164592" marT="54864" marB="54864" anchor="ctr">
                    <a:solidFill>
                      <a:srgbClr val="EAF3EF"/>
                    </a:solidFill>
                  </a:tcPr>
                </a:tc>
                <a:tc>
                  <a:txBody>
                    <a:bodyPr/>
                    <a:lstStyle/>
                    <a:p>
                      <a:pPr algn="l"/>
                      <a:r>
                        <a:rPr sz="1500">
                          <a:solidFill>
                            <a:srgbClr val="14533B"/>
                          </a:solidFill>
                          <a:latin typeface="Courier New"/>
                        </a:rPr>
                        <a:t>mean &amp; max of the two risk indicators</a:t>
                      </a:r>
                    </a:p>
                  </a:txBody>
                  <a:tcPr marL="164592" marT="54864" marB="54864" anchor="ctr">
                    <a:solidFill>
                      <a:srgbClr val="EAF3EF"/>
                    </a:solidFill>
                  </a:tcPr>
                </a:tc>
                <a:tc>
                  <a:txBody>
                    <a:bodyPr/>
                    <a:lstStyle/>
                    <a:p>
                      <a:pPr algn="l"/>
                      <a:r>
                        <a:rPr sz="1500">
                          <a:solidFill>
                            <a:srgbClr val="5C7268"/>
                          </a:solidFill>
                          <a:latin typeface="Arial"/>
                        </a:rPr>
                        <a:t>Combine both risk sources</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500">
                          <a:solidFill>
                            <a:srgbClr val="14533B"/>
                          </a:solidFill>
                          <a:latin typeface="Courier New"/>
                        </a:rPr>
                        <a:t>risk_dev</a:t>
                      </a:r>
                    </a:p>
                  </a:txBody>
                  <a:tcPr marL="164592" marT="54864" marB="54864" anchor="ctr">
                    <a:solidFill>
                      <a:srgbClr val="FFFFFF"/>
                    </a:solidFill>
                  </a:tcPr>
                </a:tc>
                <a:tc>
                  <a:txBody>
                    <a:bodyPr/>
                    <a:lstStyle/>
                    <a:p>
                      <a:pPr algn="l"/>
                      <a:r>
                        <a:rPr sz="1500">
                          <a:solidFill>
                            <a:srgbClr val="14533B"/>
                          </a:solidFill>
                          <a:latin typeface="Courier New"/>
                        </a:rPr>
                        <a:t>distance from the middle:  |risk - 55|</a:t>
                      </a:r>
                    </a:p>
                  </a:txBody>
                  <a:tcPr marL="164592" marT="54864" marB="54864" anchor="ctr">
                    <a:solidFill>
                      <a:srgbClr val="FFFFFF"/>
                    </a:solidFill>
                  </a:tcPr>
                </a:tc>
                <a:tc>
                  <a:txBody>
                    <a:bodyPr/>
                    <a:lstStyle/>
                    <a:p>
                      <a:pPr algn="l"/>
                      <a:r>
                        <a:rPr sz="1500">
                          <a:solidFill>
                            <a:srgbClr val="5C7268"/>
                          </a:solidFill>
                          <a:latin typeface="Arial"/>
                        </a:rPr>
                        <a:t>Turns the risk hump into usable signal</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500">
                          <a:solidFill>
                            <a:srgbClr val="14533B"/>
                          </a:solidFill>
                          <a:latin typeface="Courier New"/>
                        </a:rPr>
                        <a:t>amt_to_income</a:t>
                      </a:r>
                    </a:p>
                  </a:txBody>
                  <a:tcPr marL="164592" marT="54864" marB="54864" anchor="ctr">
                    <a:solidFill>
                      <a:srgbClr val="EAF3EF"/>
                    </a:solidFill>
                  </a:tcPr>
                </a:tc>
                <a:tc>
                  <a:txBody>
                    <a:bodyPr/>
                    <a:lstStyle/>
                    <a:p>
                      <a:pPr algn="l"/>
                      <a:r>
                        <a:rPr sz="1500">
                          <a:solidFill>
                            <a:srgbClr val="14533B"/>
                          </a:solidFill>
                          <a:latin typeface="Courier New"/>
                        </a:rPr>
                        <a:t>amount / (total_income + 1)</a:t>
                      </a:r>
                    </a:p>
                  </a:txBody>
                  <a:tcPr marL="164592" marT="54864" marB="54864" anchor="ctr">
                    <a:solidFill>
                      <a:srgbClr val="EAF3EF"/>
                    </a:solidFill>
                  </a:tcPr>
                </a:tc>
                <a:tc>
                  <a:txBody>
                    <a:bodyPr/>
                    <a:lstStyle/>
                    <a:p>
                      <a:pPr algn="l"/>
                      <a:r>
                        <a:rPr sz="1500">
                          <a:solidFill>
                            <a:srgbClr val="5C7268"/>
                          </a:solidFill>
                          <a:latin typeface="Arial"/>
                        </a:rPr>
                        <a:t>Affordability ratio —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500">
                          <a:solidFill>
                            <a:srgbClr val="14533B"/>
                          </a:solidFill>
                          <a:latin typeface="Courier New"/>
                        </a:rPr>
                        <a:t>total_income · log_income</a:t>
                      </a:r>
                    </a:p>
                  </a:txBody>
                  <a:tcPr marL="164592" marT="54864" marB="54864" anchor="ctr">
                    <a:solidFill>
                      <a:srgbClr val="FFFFFF"/>
                    </a:solidFill>
                  </a:tcPr>
                </a:tc>
                <a:tc>
                  <a:txBody>
                    <a:bodyPr/>
                    <a:lstStyle/>
                    <a:p>
                      <a:pPr algn="l"/>
                      <a:r>
                        <a:rPr sz="1500">
                          <a:solidFill>
                            <a:srgbClr val="14533B"/>
                          </a:solidFill>
                          <a:latin typeface="Courier New"/>
                        </a:rPr>
                        <a:t>ann_income + other_income (log-scaled)</a:t>
                      </a:r>
                    </a:p>
                  </a:txBody>
                  <a:tcPr marL="164592" marT="54864" marB="54864" anchor="ctr">
                    <a:solidFill>
                      <a:srgbClr val="FFFFFF"/>
                    </a:solidFill>
                  </a:tcPr>
                </a:tc>
                <a:tc>
                  <a:txBody>
                    <a:bodyPr/>
                    <a:lstStyle/>
                    <a:p>
                      <a:pPr algn="l"/>
                      <a:r>
                        <a:rPr sz="1500">
                          <a:solidFill>
                            <a:srgbClr val="5C7268"/>
                          </a:solidFill>
                          <a:latin typeface="Arial"/>
                        </a:rPr>
                        <a:t>Real disposable income</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500">
                          <a:solidFill>
                            <a:srgbClr val="14533B"/>
                          </a:solidFill>
                          <a:latin typeface="Courier New"/>
                        </a:rPr>
                        <a:t>credit_z</a:t>
                      </a:r>
                    </a:p>
                  </a:txBody>
                  <a:tcPr marL="164592" marT="54864" marB="54864" anchor="ctr">
                    <a:solidFill>
                      <a:srgbClr val="EAF3EF"/>
                    </a:solidFill>
                  </a:tcPr>
                </a:tc>
                <a:tc>
                  <a:txBody>
                    <a:bodyPr/>
                    <a:lstStyle/>
                    <a:p>
                      <a:pPr algn="l"/>
                      <a:r>
                        <a:rPr sz="1500">
                          <a:solidFill>
                            <a:srgbClr val="14533B"/>
                          </a:solidFill>
                          <a:latin typeface="Courier New"/>
                        </a:rPr>
                        <a:t>3 bureau scores z-scored &amp; merged</a:t>
                      </a:r>
                    </a:p>
                  </a:txBody>
                  <a:tcPr marL="164592" marT="54864" marB="54864" anchor="ctr">
                    <a:solidFill>
                      <a:srgbClr val="EAF3EF"/>
                    </a:solidFill>
                  </a:tcPr>
                </a:tc>
                <a:tc>
                  <a:txBody>
                    <a:bodyPr/>
                    <a:lstStyle/>
                    <a:p>
                      <a:pPr algn="l"/>
                      <a:r>
                        <a:rPr sz="1500">
                          <a:solidFill>
                            <a:srgbClr val="5C7268"/>
                          </a:solidFill>
                          <a:latin typeface="Arial"/>
                        </a:rPr>
                        <a:t>One comparable score from 3 scales</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500">
                          <a:solidFill>
                            <a:srgbClr val="14533B"/>
                          </a:solidFill>
                          <a:latin typeface="Courier New"/>
                        </a:rPr>
                        <a:t>has_score · *_missing</a:t>
                      </a:r>
                    </a:p>
                  </a:txBody>
                  <a:tcPr marL="164592" marT="54864" marB="54864" anchor="ctr">
                    <a:solidFill>
                      <a:srgbClr val="FFFFFF"/>
                    </a:solidFill>
                  </a:tcPr>
                </a:tc>
                <a:tc>
                  <a:txBody>
                    <a:bodyPr/>
                    <a:lstStyle/>
                    <a:p>
                      <a:pPr algn="l"/>
                      <a:r>
                        <a:rPr sz="1500">
                          <a:solidFill>
                            <a:srgbClr val="14533B"/>
                          </a:solidFill>
                          <a:latin typeface="Courier New"/>
                        </a:rPr>
                        <a:t>binary 0/1 flags</a:t>
                      </a:r>
                    </a:p>
                  </a:txBody>
                  <a:tcPr marL="164592" marT="54864" marB="54864" anchor="ctr">
                    <a:solidFill>
                      <a:srgbClr val="FFFFFF"/>
                    </a:solidFill>
                  </a:tcPr>
                </a:tc>
                <a:tc>
                  <a:txBody>
                    <a:bodyPr/>
                    <a:lstStyle/>
                    <a:p>
                      <a:pPr algn="l"/>
                      <a:r>
                        <a:rPr sz="1500">
                          <a:solidFill>
                            <a:srgbClr val="5C7268"/>
                          </a:solidFill>
                          <a:latin typeface="Arial"/>
                        </a:rPr>
                        <a:t>“Value absent” is itself a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500">
                          <a:solidFill>
                            <a:srgbClr val="14533B"/>
                          </a:solidFill>
                          <a:latin typeface="Courier New"/>
                        </a:rPr>
                        <a:t>year · month</a:t>
                      </a:r>
                    </a:p>
                  </a:txBody>
                  <a:tcPr marL="164592" marT="54864" marB="54864" anchor="ctr">
                    <a:solidFill>
                      <a:srgbClr val="EAF3EF"/>
                    </a:solidFill>
                  </a:tcPr>
                </a:tc>
                <a:tc>
                  <a:txBody>
                    <a:bodyPr/>
                    <a:lstStyle/>
                    <a:p>
                      <a:pPr algn="l"/>
                      <a:r>
                        <a:rPr sz="1500">
                          <a:solidFill>
                            <a:srgbClr val="14533B"/>
                          </a:solidFill>
                          <a:latin typeface="Courier New"/>
                        </a:rPr>
                        <a:t>parsed from the date</a:t>
                      </a:r>
                    </a:p>
                  </a:txBody>
                  <a:tcPr marL="164592" marT="54864" marB="54864" anchor="ctr">
                    <a:solidFill>
                      <a:srgbClr val="EAF3EF"/>
                    </a:solidFill>
                  </a:tcPr>
                </a:tc>
                <a:tc>
                  <a:txBody>
                    <a:bodyPr/>
                    <a:lstStyle/>
                    <a:p>
                      <a:pPr algn="l"/>
                      <a:r>
                        <a:rPr sz="1500">
                          <a:solidFill>
                            <a:srgbClr val="5C7268"/>
                          </a:solidFill>
                          <a:latin typeface="Arial"/>
                        </a:rPr>
                        <a:t>Captures the downward 2026 approval trend</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txBody>
          <a:bodyPr/>
          <a:lstStyle/>
          <a:p>
            <a:endParaRPr/>
          </a:p>
        </p:txBody>
      </p:sp>
      <p:sp>
        <p:nvSpPr>
          <p:cNvPr id="7" name="Text 5"/>
          <p:cNvSpPr/>
          <p:nvPr/>
        </p:nvSpPr>
        <p:spPr>
          <a:xfrm>
            <a:off x="1066800" y="4222254"/>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txBody>
          <a:bodyPr/>
          <a:lstStyle/>
          <a:p>
            <a:endParaRPr/>
          </a:p>
        </p:txBody>
      </p:sp>
      <p:sp>
        <p:nvSpPr>
          <p:cNvPr id="9" name="Text 7"/>
          <p:cNvSpPr/>
          <p:nvPr/>
        </p:nvSpPr>
        <p:spPr>
          <a:xfrm>
            <a:off x="1771427" y="4222254"/>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txBody>
          <a:bodyPr/>
          <a:lstStyle/>
          <a:p>
            <a:endParaRPr/>
          </a:p>
        </p:txBody>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txBody>
          <a:bodyPr/>
          <a:lstStyle/>
          <a:p>
            <a:endParaRPr/>
          </a:p>
        </p:txBody>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txBody>
          <a:bodyPr/>
          <a:lstStyle/>
          <a:p>
            <a:endParaRPr/>
          </a:p>
        </p:txBody>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txBody>
          <a:bodyPr/>
          <a:lstStyle/>
          <a:p>
            <a:endParaRPr/>
          </a:p>
        </p:txBody>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txBody>
          <a:bodyPr/>
          <a:lstStyle/>
          <a:p>
            <a:endParaRPr/>
          </a:p>
        </p:txBody>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txBody>
          <a:bodyPr/>
          <a:lstStyle/>
          <a:p>
            <a:endParaRPr/>
          </a:p>
        </p:txBody>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txBody>
          <a:bodyPr/>
          <a:lstStyle/>
          <a:p>
            <a:endParaRPr/>
          </a:p>
        </p:txBody>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txBody>
          <a:bodyPr/>
          <a:lstStyle/>
          <a:p>
            <a:endParaRPr/>
          </a:p>
        </p:txBody>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txBody>
          <a:bodyPr/>
          <a:lstStyle/>
          <a:p>
            <a:endParaRPr/>
          </a:p>
        </p:txBody>
      </p:sp>
      <p:sp>
        <p:nvSpPr>
          <p:cNvPr id="27" name="Shape 25"/>
          <p:cNvSpPr/>
          <p:nvPr/>
        </p:nvSpPr>
        <p:spPr>
          <a:xfrm>
            <a:off x="952500" y="5631954"/>
            <a:ext cx="704627" cy="9525"/>
          </a:xfrm>
          <a:prstGeom prst="rect">
            <a:avLst/>
          </a:prstGeom>
          <a:solidFill>
            <a:srgbClr val="D2E6DD"/>
          </a:solidFill>
          <a:ln/>
        </p:spPr>
        <p:txBody>
          <a:bodyPr/>
          <a:lstStyle/>
          <a:p>
            <a:endParaRPr/>
          </a:p>
        </p:txBody>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txBody>
          <a:bodyPr/>
          <a:lstStyle/>
          <a:p>
            <a:endParaRPr/>
          </a:p>
        </p:txBody>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txBody>
          <a:bodyPr/>
          <a:lstStyle/>
          <a:p>
            <a:endParaRPr/>
          </a:p>
        </p:txBody>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txBody>
          <a:bodyPr/>
          <a:lstStyle/>
          <a:p>
            <a:endParaRPr/>
          </a:p>
        </p:txBody>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txBody>
          <a:bodyPr/>
          <a:lstStyle/>
          <a:p>
            <a:endParaRPr/>
          </a:p>
        </p:txBody>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txBody>
          <a:bodyPr/>
          <a:lstStyle/>
          <a:p>
            <a:endParaRPr/>
          </a:p>
        </p:txBody>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r>
              <a:rPr lang="en-US" sz="1800" b="1" dirty="0">
                <a:solidFill>
                  <a:srgbClr val="244236"/>
                </a:solidFill>
                <a:latin typeface="Arial" pitchFamily="34" charset="0"/>
                <a:ea typeface="Arial" pitchFamily="34" charset="-122"/>
                <a:cs typeface="Arial" pitchFamily="34" charset="-120"/>
              </a:rPr>
              <a:t>by design </a:t>
            </a: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r>
              <a:rPr lang="en-US" sz="2025" b="1" dirty="0">
                <a:solidFill>
                  <a:srgbClr val="063D22"/>
                </a:solidFill>
                <a:latin typeface="Arial" pitchFamily="34" charset="0"/>
                <a:ea typeface="Arial" pitchFamily="34" charset="-122"/>
                <a:cs typeface="Arial" pitchFamily="34" charset="-120"/>
              </a:rPr>
              <a:t>called the result in advance </a:t>
            </a: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r>
              <a:rPr lang="en-US" sz="2025" b="1" dirty="0">
                <a:solidFill>
                  <a:srgbClr val="244236"/>
                </a:solidFill>
                <a:latin typeface="Arial" pitchFamily="34" charset="0"/>
                <a:ea typeface="Arial" pitchFamily="34" charset="-122"/>
                <a:cs typeface="Arial" pitchFamily="34" charset="-120"/>
              </a:rPr>
              <a:t>distribution shift over time</a:t>
            </a: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188720" y="2103120"/>
            <a:ext cx="15361920" cy="163220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WHAT WE LEARNED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Finding the traps was harder than building the model</a:t>
            </a:r>
            <a:endParaRPr lang="en-US" sz="3600" dirty="0"/>
          </a:p>
        </p:txBody>
      </p:sp>
      <p:sp>
        <p:nvSpPr>
          <p:cNvPr id="5" name="Text 3"/>
          <p:cNvSpPr/>
          <p:nvPr/>
        </p:nvSpPr>
        <p:spPr>
          <a:xfrm>
            <a:off x="952500"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01</a:t>
            </a:r>
            <a:endParaRPr lang="en-US" sz="4800" dirty="0"/>
          </a:p>
        </p:txBody>
      </p:sp>
      <p:sp>
        <p:nvSpPr>
          <p:cNvPr id="6" name="Text 4"/>
          <p:cNvSpPr/>
          <p:nvPr/>
        </p:nvSpPr>
        <p:spPr>
          <a:xfrm>
            <a:off x="952500" y="3207618"/>
            <a:ext cx="3622619"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traps, not the algorithm</a:t>
            </a:r>
            <a:endParaRPr lang="en-US" sz="2250" dirty="0"/>
          </a:p>
        </p:txBody>
      </p:sp>
      <p:sp>
        <p:nvSpPr>
          <p:cNvPr id="7" name="Text 5"/>
          <p:cNvSpPr/>
          <p:nvPr/>
        </p:nvSpPr>
        <p:spPr>
          <a:xfrm>
            <a:off x="952500" y="4017243"/>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Most of the value came from catching sabotaged columns before any modeling.</a:t>
            </a:r>
            <a:endParaRPr lang="en-US" sz="1950" dirty="0"/>
          </a:p>
        </p:txBody>
      </p:sp>
      <p:sp>
        <p:nvSpPr>
          <p:cNvPr id="8" name="Shape 6"/>
          <p:cNvSpPr/>
          <p:nvPr/>
        </p:nvSpPr>
        <p:spPr>
          <a:xfrm>
            <a:off x="4850606" y="2426568"/>
            <a:ext cx="9525" cy="6812682"/>
          </a:xfrm>
          <a:prstGeom prst="rect">
            <a:avLst/>
          </a:prstGeom>
          <a:solidFill>
            <a:srgbClr val="D2E6DD"/>
          </a:solidFill>
          <a:ln/>
        </p:spPr>
        <p:txBody>
          <a:bodyPr/>
          <a:lstStyle/>
          <a:p>
            <a:endParaRPr lang="en-GB"/>
          </a:p>
        </p:txBody>
      </p:sp>
      <p:sp>
        <p:nvSpPr>
          <p:cNvPr id="9" name="Text 7"/>
          <p:cNvSpPr/>
          <p:nvPr/>
        </p:nvSpPr>
        <p:spPr>
          <a:xfrm>
            <a:off x="5241131"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02</a:t>
            </a:r>
            <a:endParaRPr lang="en-US" sz="4800" dirty="0"/>
          </a:p>
        </p:txBody>
      </p:sp>
      <p:sp>
        <p:nvSpPr>
          <p:cNvPr id="10" name="Text 8"/>
          <p:cNvSpPr/>
          <p:nvPr/>
        </p:nvSpPr>
        <p:spPr>
          <a:xfrm>
            <a:off x="5241131"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Test like the real task</a:t>
            </a:r>
            <a:endParaRPr lang="en-US" sz="2250" dirty="0"/>
          </a:p>
        </p:txBody>
      </p:sp>
      <p:sp>
        <p:nvSpPr>
          <p:cNvPr id="11" name="Text 9"/>
          <p:cNvSpPr/>
          <p:nvPr/>
        </p:nvSpPr>
        <p:spPr>
          <a:xfrm>
            <a:off x="5241131"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Predicting held-back months exposed mistakes a random split would have hidden.</a:t>
            </a:r>
            <a:endParaRPr lang="en-US" sz="1950" dirty="0"/>
          </a:p>
        </p:txBody>
      </p:sp>
      <p:sp>
        <p:nvSpPr>
          <p:cNvPr id="12" name="Shape 10"/>
          <p:cNvSpPr/>
          <p:nvPr/>
        </p:nvSpPr>
        <p:spPr>
          <a:xfrm>
            <a:off x="9139238" y="2426568"/>
            <a:ext cx="9525" cy="6812682"/>
          </a:xfrm>
          <a:prstGeom prst="rect">
            <a:avLst/>
          </a:prstGeom>
          <a:solidFill>
            <a:srgbClr val="D2E6DD"/>
          </a:solidFill>
          <a:ln/>
        </p:spPr>
        <p:txBody>
          <a:bodyPr/>
          <a:lstStyle/>
          <a:p>
            <a:endParaRPr lang="en-GB"/>
          </a:p>
        </p:txBody>
      </p:sp>
      <p:sp>
        <p:nvSpPr>
          <p:cNvPr id="13" name="Text 11"/>
          <p:cNvSpPr/>
          <p:nvPr/>
        </p:nvSpPr>
        <p:spPr>
          <a:xfrm>
            <a:off x="9529763"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03</a:t>
            </a:r>
            <a:endParaRPr lang="en-US" sz="4800" dirty="0"/>
          </a:p>
        </p:txBody>
      </p:sp>
      <p:sp>
        <p:nvSpPr>
          <p:cNvPr id="14" name="Text 12"/>
          <p:cNvSpPr/>
          <p:nvPr/>
        </p:nvSpPr>
        <p:spPr>
          <a:xfrm>
            <a:off x="9529763"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Measure the ethics</a:t>
            </a:r>
            <a:endParaRPr lang="en-US" sz="2250" dirty="0"/>
          </a:p>
        </p:txBody>
      </p:sp>
      <p:sp>
        <p:nvSpPr>
          <p:cNvPr id="15" name="Text 13"/>
          <p:cNvSpPr/>
          <p:nvPr/>
        </p:nvSpPr>
        <p:spPr>
          <a:xfrm>
            <a:off x="9529763"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dropped race” is weak. “It costs exactly +0.7pt of bias” is strong.</a:t>
            </a:r>
            <a:endParaRPr lang="en-US" sz="1950" dirty="0"/>
          </a:p>
        </p:txBody>
      </p:sp>
      <p:sp>
        <p:nvSpPr>
          <p:cNvPr id="16" name="Shape 14"/>
          <p:cNvSpPr/>
          <p:nvPr/>
        </p:nvSpPr>
        <p:spPr>
          <a:xfrm>
            <a:off x="13427869" y="2426568"/>
            <a:ext cx="9525" cy="6812682"/>
          </a:xfrm>
          <a:prstGeom prst="rect">
            <a:avLst/>
          </a:prstGeom>
          <a:solidFill>
            <a:srgbClr val="D2E6DD"/>
          </a:solidFill>
          <a:ln/>
        </p:spPr>
        <p:txBody>
          <a:bodyPr/>
          <a:lstStyle/>
          <a:p>
            <a:endParaRPr lang="en-GB"/>
          </a:p>
        </p:txBody>
      </p:sp>
      <p:sp>
        <p:nvSpPr>
          <p:cNvPr id="17" name="Text 15"/>
          <p:cNvSpPr/>
          <p:nvPr/>
        </p:nvSpPr>
        <p:spPr>
          <a:xfrm>
            <a:off x="13818394"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04</a:t>
            </a:r>
            <a:endParaRPr lang="en-US" sz="4800" dirty="0"/>
          </a:p>
        </p:txBody>
      </p:sp>
      <p:sp>
        <p:nvSpPr>
          <p:cNvPr id="18" name="Text 16"/>
          <p:cNvSpPr/>
          <p:nvPr/>
        </p:nvSpPr>
        <p:spPr>
          <a:xfrm>
            <a:off x="13818394"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Deleting can be the fix</a:t>
            </a:r>
            <a:endParaRPr lang="en-US" sz="2250" dirty="0"/>
          </a:p>
        </p:txBody>
      </p:sp>
      <p:sp>
        <p:nvSpPr>
          <p:cNvPr id="19" name="Text 17"/>
          <p:cNvSpPr/>
          <p:nvPr/>
        </p:nvSpPr>
        <p:spPr>
          <a:xfrm>
            <a:off x="13818394" y="3669581"/>
            <a:ext cx="3622619" cy="1474291"/>
          </a:xfrm>
          <a:prstGeom prst="rect">
            <a:avLst/>
          </a:prstGeom>
          <a:noFill/>
          <a:ln/>
        </p:spPr>
        <p:txBody>
          <a:bodyPr wrap="square" lIns="25400" tIns="25400" rIns="25400" bIns="25400" rtlCol="0" anchor="t">
            <a:normAutofit/>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removed the four most “predictive” columns on purpose — their power was fake.</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retrospective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12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txBody>
          <a:bodyPr/>
          <a:lstStyle/>
          <a:p>
            <a:endParaRPr lang="en-GB"/>
          </a:p>
        </p:txBody>
      </p:sp>
      <p:sp>
        <p:nvSpPr>
          <p:cNvPr id="6" name="Text 4"/>
          <p:cNvSpPr/>
          <p:nvPr/>
        </p:nvSpPr>
        <p:spPr>
          <a:xfrm>
            <a:off x="131445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Decide by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A default costs far more than a lost customer — weigh the two mistakes differently.</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txBody>
          <a:bodyPr/>
          <a:lstStyle/>
          <a:p>
            <a:endParaRPr lang="en-GB"/>
          </a:p>
        </p:txBody>
      </p:sp>
      <p:sp>
        <p:nvSpPr>
          <p:cNvPr id="10" name="Text 8"/>
          <p:cNvSpPr/>
          <p:nvPr/>
        </p:nvSpPr>
        <p:spPr>
          <a:xfrm>
            <a:off x="963930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Real lenders need trustworthy risk percentages for pricing and capital, not just a yes/no.</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txBody>
          <a:bodyPr/>
          <a:lstStyle/>
          <a:p>
            <a:endParaRPr lang="en-GB"/>
          </a:p>
        </p:txBody>
      </p:sp>
      <p:sp>
        <p:nvSpPr>
          <p:cNvPr id="14" name="Text 12"/>
          <p:cNvSpPr/>
          <p:nvPr/>
        </p:nvSpPr>
        <p:spPr>
          <a:xfrm>
            <a:off x="131445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Explain every decision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Show why each application was approved or rejected, so the credit team can defend it.</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txBody>
          <a:bodyPr/>
          <a:lstStyle/>
          <a:p>
            <a:endParaRPr lang="en-GB"/>
          </a:p>
        </p:txBody>
      </p:sp>
      <p:sp>
        <p:nvSpPr>
          <p:cNvPr id="18" name="Text 16"/>
          <p:cNvSpPr/>
          <p:nvPr/>
        </p:nvSpPr>
        <p:spPr>
          <a:xfrm>
            <a:off x="963930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Monitor fairness &amp; drift</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Keep checking for bias and for months that look different from training, then retrain.</a:t>
            </a:r>
            <a:endParaRPr lang="en-US" sz="1950" dirty="0"/>
          </a:p>
        </p:txBody>
      </p:sp>
      <p:sp>
        <p:nvSpPr>
          <p:cNvPr id="21" name="Shape 19"/>
          <p:cNvSpPr/>
          <p:nvPr/>
        </p:nvSpPr>
        <p:spPr>
          <a:xfrm>
            <a:off x="952500" y="9239250"/>
            <a:ext cx="16383000" cy="9525"/>
          </a:xfrm>
          <a:prstGeom prst="rect">
            <a:avLst/>
          </a:prstGeom>
          <a:solidFill>
            <a:srgbClr val="D2E6DD"/>
          </a:solidFill>
          <a:ln/>
        </p:spPr>
        <p:txBody>
          <a:bodyPr/>
          <a:lstStyle/>
          <a:p>
            <a:endParaRPr lang="en-GB"/>
          </a:p>
        </p:txBody>
      </p:sp>
      <p:sp>
        <p:nvSpPr>
          <p:cNvPr id="22" name="Text 20"/>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13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14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891</TotalTime>
  <Words>2449</Words>
  <Application>Microsoft Macintosh PowerPoint</Application>
  <PresentationFormat>Custom</PresentationFormat>
  <Paragraphs>262</Paragraphs>
  <Slides>14</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4</cp:revision>
  <dcterms:created xsi:type="dcterms:W3CDTF">2026-06-16T18:58:41Z</dcterms:created>
  <dcterms:modified xsi:type="dcterms:W3CDTF">2026-06-17T11:08:43Z</dcterms:modified>
</cp:coreProperties>
</file>