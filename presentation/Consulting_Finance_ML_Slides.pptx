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9" r:id="rId10"/>
    <p:sldId id="264" r:id="rId11"/>
    <p:sldId id="265" r:id="rId12"/>
    <p:sldId id="266" r:id="rId13"/>
    <p:sldId id="268" r:id="rId14"/>
    <p:sldId id="267"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600" b="1">
                          <a:solidFill>
                            <a:srgbClr val="FFFFFF"/>
                          </a:solidFill>
                          <a:latin typeface="Arial"/>
                        </a:rPr>
                        <a:t>Feature</a:t>
                      </a:r>
                    </a:p>
                  </a:txBody>
                  <a:tcPr marL="164592" marT="54864" marB="54864" anchor="ctr">
                    <a:solidFill>
                      <a:srgbClr val="063D22"/>
                    </a:solidFill>
                  </a:tcPr>
                </a:tc>
                <a:tc>
                  <a:txBody>
                    <a:bodyPr/>
                    <a:lstStyle/>
                    <a:p>
                      <a:pPr algn="l"/>
                      <a:r>
                        <a:rPr sz="1600" b="1">
                          <a:solidFill>
                            <a:srgbClr val="FFFFFF"/>
                          </a:solidFill>
                          <a:latin typeface="Arial"/>
                        </a:rPr>
                        <a:t>What it is</a:t>
                      </a:r>
                    </a:p>
                  </a:txBody>
                  <a:tcPr marL="164592" marT="54864" marB="54864" anchor="ctr">
                    <a:solidFill>
                      <a:srgbClr val="063D22"/>
                    </a:solidFill>
                  </a:tcPr>
                </a:tc>
                <a:tc>
                  <a:txBody>
                    <a:bodyPr/>
                    <a:lstStyle/>
                    <a:p>
                      <a:pPr algn="l"/>
                      <a:r>
                        <a:rPr sz="1600" b="1">
                          <a:solidFill>
                            <a:srgbClr val="FFFFFF"/>
                          </a:solidFill>
                          <a:latin typeface="Arial"/>
                        </a:rPr>
                        <a:t>Why we made it</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400">
                          <a:solidFill>
                            <a:srgbClr val="14533B"/>
                          </a:solidFill>
                          <a:latin typeface="Courier New"/>
                        </a:rPr>
                        <a:t>risk_mean · risk_max</a:t>
                      </a:r>
                    </a:p>
                  </a:txBody>
                  <a:tcPr marL="164592" marT="54864" marB="54864" anchor="ctr">
                    <a:solidFill>
                      <a:srgbClr val="EAF3EF"/>
                    </a:solidFill>
                  </a:tcPr>
                </a:tc>
                <a:tc>
                  <a:txBody>
                    <a:bodyPr/>
                    <a:lstStyle/>
                    <a:p>
                      <a:pPr algn="l"/>
                      <a:r>
                        <a:rPr sz="1400">
                          <a:solidFill>
                            <a:srgbClr val="143A2B"/>
                          </a:solidFill>
                          <a:latin typeface="Arial"/>
                        </a:rPr>
                        <a:t>Average, and the higher (worse), of the two risk scores</a:t>
                      </a:r>
                    </a:p>
                  </a:txBody>
                  <a:tcPr marL="164592" marT="54864" marB="54864" anchor="ctr">
                    <a:solidFill>
                      <a:srgbClr val="EAF3EF"/>
                    </a:solidFill>
                  </a:tcPr>
                </a:tc>
                <a:tc>
                  <a:txBody>
                    <a:bodyPr/>
                    <a:lstStyle/>
                    <a:p>
                      <a:pPr algn="l"/>
                      <a:r>
                        <a:rPr sz="1400">
                          <a:solidFill>
                            <a:srgbClr val="5C7268"/>
                          </a:solidFill>
                          <a:latin typeface="Arial"/>
                        </a:rPr>
                        <a:t>One combined risk level — plus a flag when either source is high</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400">
                          <a:solidFill>
                            <a:srgbClr val="14533B"/>
                          </a:solidFill>
                          <a:latin typeface="Courier New"/>
                        </a:rPr>
                        <a:t>risk_dev</a:t>
                      </a:r>
                    </a:p>
                  </a:txBody>
                  <a:tcPr marL="164592" marT="54864" marB="54864" anchor="ctr">
                    <a:solidFill>
                      <a:srgbClr val="FFFFFF"/>
                    </a:solidFill>
                  </a:tcPr>
                </a:tc>
                <a:tc>
                  <a:txBody>
                    <a:bodyPr/>
                    <a:lstStyle/>
                    <a:p>
                      <a:pPr algn="l"/>
                      <a:r>
                        <a:rPr sz="1400">
                          <a:solidFill>
                            <a:srgbClr val="143A2B"/>
                          </a:solidFill>
                          <a:latin typeface="Arial"/>
                        </a:rPr>
                        <a:t>How far the risk score sits from the safe middle  (|risk − 55|)</a:t>
                      </a:r>
                    </a:p>
                  </a:txBody>
                  <a:tcPr marL="164592" marT="54864" marB="54864" anchor="ctr">
                    <a:solidFill>
                      <a:srgbClr val="FFFFFF"/>
                    </a:solidFill>
                  </a:tcPr>
                </a:tc>
                <a:tc>
                  <a:txBody>
                    <a:bodyPr/>
                    <a:lstStyle/>
                    <a:p>
                      <a:pPr algn="l"/>
                      <a:r>
                        <a:rPr sz="1400">
                          <a:solidFill>
                            <a:srgbClr val="5C7268"/>
                          </a:solidFill>
                          <a:latin typeface="Arial"/>
                        </a:rPr>
                        <a:t>Approval peaks mid-scale and drops at both ends — this captures that hump</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400">
                          <a:solidFill>
                            <a:srgbClr val="14533B"/>
                          </a:solidFill>
                          <a:latin typeface="Courier New"/>
                        </a:rPr>
                        <a:t>amt_to_income</a:t>
                      </a:r>
                    </a:p>
                  </a:txBody>
                  <a:tcPr marL="164592" marT="54864" marB="54864" anchor="ctr">
                    <a:solidFill>
                      <a:srgbClr val="EAF3EF"/>
                    </a:solidFill>
                  </a:tcPr>
                </a:tc>
                <a:tc>
                  <a:txBody>
                    <a:bodyPr/>
                    <a:lstStyle/>
                    <a:p>
                      <a:pPr algn="l"/>
                      <a:r>
                        <a:rPr sz="1400">
                          <a:solidFill>
                            <a:srgbClr val="143A2B"/>
                          </a:solidFill>
                          <a:latin typeface="Arial"/>
                        </a:rPr>
                        <a:t>Loan amount ÷ total income</a:t>
                      </a:r>
                    </a:p>
                  </a:txBody>
                  <a:tcPr marL="164592" marT="54864" marB="54864" anchor="ctr">
                    <a:solidFill>
                      <a:srgbClr val="EAF3EF"/>
                    </a:solidFill>
                  </a:tcPr>
                </a:tc>
                <a:tc>
                  <a:txBody>
                    <a:bodyPr/>
                    <a:lstStyle/>
                    <a:p>
                      <a:pPr algn="l"/>
                      <a:r>
                        <a:rPr sz="1400">
                          <a:solidFill>
                            <a:srgbClr val="5C7268"/>
                          </a:solidFill>
                          <a:latin typeface="Arial"/>
                        </a:rPr>
                        <a:t>Affordability — loan size vs. what they earn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400">
                          <a:solidFill>
                            <a:srgbClr val="14533B"/>
                          </a:solidFill>
                          <a:latin typeface="Courier New"/>
                        </a:rPr>
                        <a:t>total_income · log_income</a:t>
                      </a:r>
                    </a:p>
                  </a:txBody>
                  <a:tcPr marL="164592" marT="54864" marB="54864" anchor="ctr">
                    <a:solidFill>
                      <a:srgbClr val="FFFFFF"/>
                    </a:solidFill>
                  </a:tcPr>
                </a:tc>
                <a:tc>
                  <a:txBody>
                    <a:bodyPr/>
                    <a:lstStyle/>
                    <a:p>
                      <a:pPr algn="l"/>
                      <a:r>
                        <a:rPr sz="1400">
                          <a:solidFill>
                            <a:srgbClr val="143A2B"/>
                          </a:solidFill>
                          <a:latin typeface="Arial"/>
                        </a:rPr>
                        <a:t>Annual + other income combined (and its log)</a:t>
                      </a:r>
                    </a:p>
                  </a:txBody>
                  <a:tcPr marL="164592" marT="54864" marB="54864" anchor="ctr">
                    <a:solidFill>
                      <a:srgbClr val="FFFFFF"/>
                    </a:solidFill>
                  </a:tcPr>
                </a:tc>
                <a:tc>
                  <a:txBody>
                    <a:bodyPr/>
                    <a:lstStyle/>
                    <a:p>
                      <a:pPr algn="l"/>
                      <a:r>
                        <a:rPr sz="1400">
                          <a:solidFill>
                            <a:srgbClr val="5C7268"/>
                          </a:solidFill>
                          <a:latin typeface="Arial"/>
                        </a:rPr>
                        <a:t>Real disposable income; the log tames very large values</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400">
                          <a:solidFill>
                            <a:srgbClr val="14533B"/>
                          </a:solidFill>
                          <a:latin typeface="Courier New"/>
                        </a:rPr>
                        <a:t>credit_z</a:t>
                      </a:r>
                    </a:p>
                  </a:txBody>
                  <a:tcPr marL="164592" marT="54864" marB="54864" anchor="ctr">
                    <a:solidFill>
                      <a:srgbClr val="EAF3EF"/>
                    </a:solidFill>
                  </a:tcPr>
                </a:tc>
                <a:tc>
                  <a:txBody>
                    <a:bodyPr/>
                    <a:lstStyle/>
                    <a:p>
                      <a:pPr algn="l"/>
                      <a:r>
                        <a:rPr sz="1400">
                          <a:solidFill>
                            <a:srgbClr val="143A2B"/>
                          </a:solidFill>
                          <a:latin typeface="Arial"/>
                        </a:rPr>
                        <a:t>The 3 bureau scores put on one scale and merged</a:t>
                      </a:r>
                    </a:p>
                  </a:txBody>
                  <a:tcPr marL="164592" marT="54864" marB="54864" anchor="ctr">
                    <a:solidFill>
                      <a:srgbClr val="EAF3EF"/>
                    </a:solidFill>
                  </a:tcPr>
                </a:tc>
                <a:tc>
                  <a:txBody>
                    <a:bodyPr/>
                    <a:lstStyle/>
                    <a:p>
                      <a:pPr algn="l"/>
                      <a:r>
                        <a:rPr sz="1400">
                          <a:solidFill>
                            <a:srgbClr val="5C7268"/>
                          </a:solidFill>
                          <a:latin typeface="Arial"/>
                        </a:rPr>
                        <a:t>Each person has one score on a different scale — makes them comparable</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400">
                          <a:solidFill>
                            <a:srgbClr val="14533B"/>
                          </a:solidFill>
                          <a:latin typeface="Courier New"/>
                        </a:rPr>
                        <a:t>has_score · *_missing</a:t>
                      </a:r>
                    </a:p>
                  </a:txBody>
                  <a:tcPr marL="164592" marT="54864" marB="54864" anchor="ctr">
                    <a:solidFill>
                      <a:srgbClr val="FFFFFF"/>
                    </a:solidFill>
                  </a:tcPr>
                </a:tc>
                <a:tc>
                  <a:txBody>
                    <a:bodyPr/>
                    <a:lstStyle/>
                    <a:p>
                      <a:pPr algn="l"/>
                      <a:r>
                        <a:rPr sz="1400">
                          <a:solidFill>
                            <a:srgbClr val="143A2B"/>
                          </a:solidFill>
                          <a:latin typeface="Arial"/>
                        </a:rPr>
                        <a:t>Flags for whether a value is present</a:t>
                      </a:r>
                    </a:p>
                  </a:txBody>
                  <a:tcPr marL="164592" marT="54864" marB="54864" anchor="ctr">
                    <a:solidFill>
                      <a:srgbClr val="FFFFFF"/>
                    </a:solidFill>
                  </a:tcPr>
                </a:tc>
                <a:tc>
                  <a:txBody>
                    <a:bodyPr/>
                    <a:lstStyle/>
                    <a:p>
                      <a:pPr algn="l"/>
                      <a:r>
                        <a:rPr sz="1400">
                          <a:solidFill>
                            <a:srgbClr val="5C7268"/>
                          </a:solidFill>
                          <a:latin typeface="Arial"/>
                        </a:rPr>
                        <a:t>Whether a field is missing is itself a useful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400">
                          <a:solidFill>
                            <a:srgbClr val="14533B"/>
                          </a:solidFill>
                          <a:latin typeface="Courier New"/>
                        </a:rPr>
                        <a:t>year · month</a:t>
                      </a:r>
                    </a:p>
                  </a:txBody>
                  <a:tcPr marL="164592" marT="54864" marB="54864" anchor="ctr">
                    <a:solidFill>
                      <a:srgbClr val="EAF3EF"/>
                    </a:solidFill>
                  </a:tcPr>
                </a:tc>
                <a:tc>
                  <a:txBody>
                    <a:bodyPr/>
                    <a:lstStyle/>
                    <a:p>
                      <a:pPr algn="l"/>
                      <a:r>
                        <a:rPr sz="1400">
                          <a:solidFill>
                            <a:srgbClr val="143A2B"/>
                          </a:solidFill>
                          <a:latin typeface="Arial"/>
                        </a:rPr>
                        <a:t>Taken from the application date</a:t>
                      </a:r>
                    </a:p>
                  </a:txBody>
                  <a:tcPr marL="164592" marT="54864" marB="54864" anchor="ctr">
                    <a:solidFill>
                      <a:srgbClr val="EAF3EF"/>
                    </a:solidFill>
                  </a:tcPr>
                </a:tc>
                <a:tc>
                  <a:txBody>
                    <a:bodyPr/>
                    <a:lstStyle/>
                    <a:p>
                      <a:pPr algn="l"/>
                      <a:r>
                        <a:rPr sz="1400">
                          <a:solidFill>
                            <a:srgbClr val="5C7268"/>
                          </a:solidFill>
                          <a:latin typeface="Arial"/>
                        </a:rPr>
                        <a:t>Captures the approval-rate trend over time (down toward 2026)</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13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14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925</TotalTime>
  <Words>2604</Words>
  <Application>Microsoft Macintosh PowerPoint</Application>
  <PresentationFormat>Custom</PresentationFormat>
  <Paragraphs>271</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5</cp:revision>
  <dcterms:created xsi:type="dcterms:W3CDTF">2026-06-16T18:58:41Z</dcterms:created>
  <dcterms:modified xsi:type="dcterms:W3CDTF">2026-06-17T11:58:34Z</dcterms:modified>
</cp:coreProperties>
</file>