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9" r:id="rId10"/>
    <p:sldId id="264" r:id="rId11"/>
    <p:sldId id="268"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609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we built a model to decide whether a personal loan should be approved, using messy data that was deliberately sabotaged. We tied for #1 on the public leaderboard without the planted leak and without the protected attributes that would have inflated the score.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a real underwriting workflow. The model's job is to get both calls right. Two of the four outcomes cost the bank money: approving a loan that defaults, and rejecting a customer who would have repaid.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four years of past decisions to learn from, but the test set is a single future month we have never seen. That is why we validate by predicting held-back months, not with random splits. The target is nearly balanced, so a coin flip scores about 52%.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project. One column looked almost perfect in our own tests, but a simple check showed it tracks real signal in training and is pure noise in the test set: it had been scrambled on purpose. Anyone who trusted it would see 99% in cross-validation and then collapse to about 55% on the real leaderboard.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script cleans the training and test data in exactly the same way, so the whole thing is reproducible and there is no leakage. We end with 20 features we trust, after dropping the four traps.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insights did most of the work. First, the risk indicators looked useless on a straight-line correlation, but plotting them showed approval peaks in the middle and drops at both extremes. Second, the free-text analyst note is really 60 fixed sentences in three clear sentiment tiers, so we let the model learn each one's approval rate instead of doing fancy text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could have added race and religion for about +0.7 points and probably first place. We measured it and refused, because those columns have zero link to real credit risk yet shift approval rates by group. The gain is not better risk prediction; it is automated discrimination, and it is illegal under EU and US credit law.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gradient-boosted trees won a 5-fold bake-off, from Naive Bayes 0.760 up to LightGBM 0.836. Adversarial validation shows a train-vs-test classifier scores AUC 1.000 on all features, but only because of the date (the test set is all May 2026); drop the date features and it falls to 0.497, proving train and test are identically distributed apart from time. Final labels use a smooth threshold, the average of the top 1% of candidate cutoffs, which is more robust than a single argmax cutoff.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tied for first on the public leaderboard at 0.8565, cleanly, with no leak and no protected attributes. Final submissions are v6 (public-best) and v10 (clean prep, pseudo-labeling, smooth threshold; OOF 0.8590, ROC AUC 0.9377, public 0.8535, approval 0.509). v10's OOF is slightly lower than v6 and v7 by design: the smooth threshold is deliberately conservative and the z-scoring is now leak-free, not because the model is worse. Adversarial validation confirms the CV-to-leaderboard gap is distribution shift over time, not overfitting.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questions most likely to come up: why we dropped race and religion (lead with the +0.7pt number), and how we knew the column was a leak (it tracked real signal in training but was random in test). Both make us look rigorous.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7A57"/>
        </a:solidFill>
        <a:effectLst/>
      </p:bgPr>
    </p:bg>
    <p:spTree>
      <p:nvGrpSpPr>
        <p:cNvPr id="1" name=""/>
        <p:cNvGrpSpPr/>
        <p:nvPr/>
      </p:nvGrpSpPr>
      <p:grpSpPr>
        <a:xfrm>
          <a:off x="0" y="0"/>
          <a:ext cx="0" cy="0"/>
          <a:chOff x="0" y="0"/>
          <a:chExt cx="0" cy="0"/>
        </a:xfrm>
      </p:grpSpPr>
      <p:sp>
        <p:nvSpPr>
          <p:cNvPr id="2" name="Text 0"/>
          <p:cNvSpPr/>
          <p:nvPr/>
        </p:nvSpPr>
        <p:spPr>
          <a:xfrm>
            <a:off x="990600" y="876300"/>
            <a:ext cx="179374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B2E0D4"/>
                </a:solidFill>
                <a:latin typeface="Courier New" pitchFamily="34" charset="0"/>
                <a:ea typeface="Courier New" pitchFamily="34" charset="-122"/>
                <a:cs typeface="Courier New" pitchFamily="34" charset="-120"/>
              </a:rPr>
              <a:t>ESADE - DATA SCIENCE FOR FINANCE · 2026</a:t>
            </a:r>
            <a:endParaRPr lang="en-US" sz="1800" dirty="0"/>
          </a:p>
        </p:txBody>
      </p:sp>
      <p:sp>
        <p:nvSpPr>
          <p:cNvPr id="3" name="Text 1"/>
          <p:cNvSpPr/>
          <p:nvPr/>
        </p:nvSpPr>
        <p:spPr>
          <a:xfrm>
            <a:off x="990600" y="2812777"/>
            <a:ext cx="16796004" cy="1943100"/>
          </a:xfrm>
          <a:prstGeom prst="rect">
            <a:avLst/>
          </a:prstGeom>
          <a:noFill/>
          <a:ln/>
        </p:spPr>
        <p:txBody>
          <a:bodyPr wrap="square" lIns="25400" tIns="25400" rIns="25400" bIns="25400" rtlCol="0" anchor="t">
            <a:normAutofit/>
          </a:bodyPr>
          <a:lstStyle/>
          <a:p>
            <a:pPr marL="0" indent="0" algn="l">
              <a:lnSpc>
                <a:spcPct val="100000"/>
              </a:lnSpc>
              <a:buNone/>
            </a:pPr>
            <a:r>
              <a:rPr lang="en-US" sz="7500" b="1" kern="0" spc="-75" dirty="0">
                <a:solidFill>
                  <a:srgbClr val="FFFFFF"/>
                </a:solidFill>
                <a:latin typeface="Georgia" pitchFamily="34" charset="0"/>
                <a:ea typeface="Georgia" pitchFamily="34" charset="-122"/>
                <a:cs typeface="Georgia" pitchFamily="34" charset="-120"/>
              </a:rPr>
              <a:t>Predicting loan approvals</a:t>
            </a:r>
            <a:endParaRPr lang="en-US" sz="7500" dirty="0"/>
          </a:p>
        </p:txBody>
      </p:sp>
      <p:sp>
        <p:nvSpPr>
          <p:cNvPr id="4" name="Text 2"/>
          <p:cNvSpPr/>
          <p:nvPr/>
        </p:nvSpPr>
        <p:spPr>
          <a:xfrm>
            <a:off x="990600" y="5003527"/>
            <a:ext cx="9810750" cy="78105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B2E0D4"/>
                </a:solidFill>
                <a:latin typeface="Arial" pitchFamily="34" charset="0"/>
                <a:ea typeface="Arial" pitchFamily="34" charset="-122"/>
                <a:cs typeface="Arial" pitchFamily="34" charset="-120"/>
              </a:rPr>
              <a:t>Teaching a model to make the same call a bank’s credit analyst would - using data that was deliberately messy.</a:t>
            </a:r>
            <a:endParaRPr lang="en-US" sz="2550" dirty="0"/>
          </a:p>
        </p:txBody>
      </p:sp>
      <p:sp>
        <p:nvSpPr>
          <p:cNvPr id="7" name="Shape 5"/>
          <p:cNvSpPr/>
          <p:nvPr/>
        </p:nvSpPr>
        <p:spPr>
          <a:xfrm>
            <a:off x="990600" y="9020175"/>
            <a:ext cx="16306800" cy="9525"/>
          </a:xfrm>
          <a:prstGeom prst="rect">
            <a:avLst/>
          </a:prstGeom>
          <a:solidFill>
            <a:srgbClr val="E0F7F1">
              <a:alpha val="25000"/>
            </a:srgbClr>
          </a:solidFill>
          <a:ln/>
        </p:spPr>
        <p:txBody>
          <a:bodyPr/>
          <a:lstStyle/>
          <a:p>
            <a:endParaRPr lang="en-GB"/>
          </a:p>
        </p:txBody>
      </p:sp>
      <p:sp>
        <p:nvSpPr>
          <p:cNvPr id="8" name="Text 6"/>
          <p:cNvSpPr/>
          <p:nvPr/>
        </p:nvSpPr>
        <p:spPr>
          <a:xfrm>
            <a:off x="990600" y="9277350"/>
            <a:ext cx="4676730"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Gianluca Bavelloni · Riwad Irshied</a:t>
            </a:r>
            <a:endParaRPr lang="en-US" sz="2100" dirty="0"/>
          </a:p>
        </p:txBody>
      </p:sp>
      <p:sp>
        <p:nvSpPr>
          <p:cNvPr id="9" name="Text 7"/>
          <p:cNvSpPr/>
          <p:nvPr/>
        </p:nvSpPr>
        <p:spPr>
          <a:xfrm>
            <a:off x="12770383" y="9344025"/>
            <a:ext cx="4527017" cy="295275"/>
          </a:xfrm>
          <a:prstGeom prst="rect">
            <a:avLst/>
          </a:prstGeom>
          <a:noFill/>
          <a:ln/>
        </p:spPr>
        <p:txBody>
          <a:bodyPr wrap="square" lIns="25400" tIns="25400" rIns="25400" bIns="25400" rtlCol="0" anchor="t">
            <a:normAutofit fontScale="92500" lnSpcReduction="10000"/>
          </a:bodyPr>
          <a:lstStyle/>
          <a:p>
            <a:pPr marL="0" indent="0" algn="r">
              <a:buNone/>
            </a:pPr>
            <a:r>
              <a:rPr lang="en-US" sz="1800" dirty="0">
                <a:solidFill>
                  <a:srgbClr val="B2E0D4"/>
                </a:solidFill>
                <a:latin typeface="Courier New" pitchFamily="34" charset="0"/>
                <a:ea typeface="Courier New" pitchFamily="34" charset="-122"/>
                <a:cs typeface="Courier New" pitchFamily="34" charset="-120"/>
              </a:rPr>
              <a:t>Kaggle ESADE DSF26 · June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02 · THE BUSINESS PROBLEM</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A wrong loan decision costs the bank money in two different ways</a:t>
            </a:r>
            <a:endParaRPr lang="en-US" sz="3600" dirty="0"/>
          </a:p>
        </p:txBody>
      </p:sp>
      <p:sp>
        <p:nvSpPr>
          <p:cNvPr id="5" name="Text 3"/>
          <p:cNvSpPr/>
          <p:nvPr/>
        </p:nvSpPr>
        <p:spPr>
          <a:xfrm>
            <a:off x="2800443" y="4346972"/>
            <a:ext cx="4188954"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5C7268"/>
                </a:solidFill>
                <a:latin typeface="Courier New" pitchFamily="34" charset="0"/>
                <a:ea typeface="Courier New" pitchFamily="34" charset="-122"/>
                <a:cs typeface="Courier New" pitchFamily="34" charset="-120"/>
              </a:rPr>
              <a:t>Loan would be repaid</a:t>
            </a:r>
            <a:endParaRPr lang="en-US" sz="1800" dirty="0"/>
          </a:p>
        </p:txBody>
      </p:sp>
      <p:sp>
        <p:nvSpPr>
          <p:cNvPr id="6" name="Text 4"/>
          <p:cNvSpPr/>
          <p:nvPr/>
        </p:nvSpPr>
        <p:spPr>
          <a:xfrm>
            <a:off x="6741929" y="4346972"/>
            <a:ext cx="418903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5C7268"/>
                </a:solidFill>
                <a:latin typeface="Courier New" pitchFamily="34" charset="0"/>
                <a:ea typeface="Courier New" pitchFamily="34" charset="-122"/>
                <a:cs typeface="Courier New" pitchFamily="34" charset="-120"/>
              </a:rPr>
              <a:t>Loan would default</a:t>
            </a:r>
            <a:endParaRPr lang="en-US" sz="1800" dirty="0"/>
          </a:p>
        </p:txBody>
      </p:sp>
      <p:sp>
        <p:nvSpPr>
          <p:cNvPr id="7" name="Text 5"/>
          <p:cNvSpPr/>
          <p:nvPr/>
        </p:nvSpPr>
        <p:spPr>
          <a:xfrm>
            <a:off x="876300" y="4794647"/>
            <a:ext cx="1905000" cy="1195388"/>
          </a:xfrm>
          <a:prstGeom prst="rect">
            <a:avLst/>
          </a:prstGeom>
          <a:noFill/>
          <a:ln/>
        </p:spPr>
        <p:txBody>
          <a:bodyPr wrap="square" lIns="25400" tIns="25400" rIns="25400" bIns="25400" rtlCol="0" anchor="ctr">
            <a:normAutofit/>
          </a:bodyPr>
          <a:lstStyle/>
          <a:p>
            <a:pPr marL="0" indent="0" algn="r">
              <a:buNone/>
            </a:pPr>
            <a:r>
              <a:rPr lang="en-US" sz="1950" b="1" dirty="0">
                <a:solidFill>
                  <a:srgbClr val="063D22"/>
                </a:solidFill>
                <a:latin typeface="Arial" pitchFamily="34" charset="0"/>
                <a:ea typeface="Arial" pitchFamily="34" charset="-122"/>
                <a:cs typeface="Arial" pitchFamily="34" charset="-120"/>
              </a:rPr>
              <a:t>We approve</a:t>
            </a:r>
            <a:endParaRPr lang="en-US" sz="1950" dirty="0"/>
          </a:p>
        </p:txBody>
      </p:sp>
      <p:sp>
        <p:nvSpPr>
          <p:cNvPr id="8" name="Shape 6"/>
          <p:cNvSpPr/>
          <p:nvPr/>
        </p:nvSpPr>
        <p:spPr>
          <a:xfrm>
            <a:off x="2990850" y="4794647"/>
            <a:ext cx="3808140" cy="1157288"/>
          </a:xfrm>
          <a:prstGeom prst="roundRect">
            <a:avLst>
              <a:gd name="adj" fmla="val 6584"/>
            </a:avLst>
          </a:prstGeom>
          <a:solidFill>
            <a:srgbClr val="E6F5EF"/>
          </a:solidFill>
          <a:ln w="9525">
            <a:solidFill>
              <a:srgbClr val="B2E0D4"/>
            </a:solidFill>
            <a:prstDash val="solid"/>
          </a:ln>
        </p:spPr>
        <p:txBody>
          <a:bodyPr/>
          <a:lstStyle/>
          <a:p>
            <a:endParaRPr lang="en-GB"/>
          </a:p>
        </p:txBody>
      </p:sp>
      <p:sp>
        <p:nvSpPr>
          <p:cNvPr id="9" name="Text 7"/>
          <p:cNvSpPr/>
          <p:nvPr/>
        </p:nvSpPr>
        <p:spPr>
          <a:xfrm>
            <a:off x="3248025" y="5051822"/>
            <a:ext cx="3623169"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7A57"/>
                </a:solidFill>
                <a:latin typeface="Arial" pitchFamily="34" charset="0"/>
                <a:ea typeface="Arial" pitchFamily="34" charset="-122"/>
                <a:cs typeface="Arial" pitchFamily="34" charset="-120"/>
              </a:rPr>
              <a:t>Right call</a:t>
            </a:r>
            <a:endParaRPr lang="en-US" sz="2100" dirty="0"/>
          </a:p>
        </p:txBody>
      </p:sp>
      <p:sp>
        <p:nvSpPr>
          <p:cNvPr id="10" name="Text 8"/>
          <p:cNvSpPr/>
          <p:nvPr/>
        </p:nvSpPr>
        <p:spPr>
          <a:xfrm>
            <a:off x="3248025" y="5432822"/>
            <a:ext cx="3623169"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C7268"/>
                </a:solidFill>
                <a:latin typeface="Arial" pitchFamily="34" charset="0"/>
                <a:ea typeface="Arial" pitchFamily="34" charset="-122"/>
                <a:cs typeface="Arial" pitchFamily="34" charset="-120"/>
              </a:rPr>
              <a:t>Good loan, earns interest</a:t>
            </a:r>
            <a:endParaRPr lang="en-US" sz="1800" dirty="0"/>
          </a:p>
        </p:txBody>
      </p:sp>
      <p:sp>
        <p:nvSpPr>
          <p:cNvPr id="11" name="Shape 9"/>
          <p:cNvSpPr/>
          <p:nvPr/>
        </p:nvSpPr>
        <p:spPr>
          <a:xfrm>
            <a:off x="6932340" y="4794647"/>
            <a:ext cx="3808214" cy="1157288"/>
          </a:xfrm>
          <a:prstGeom prst="roundRect">
            <a:avLst>
              <a:gd name="adj" fmla="val 6584"/>
            </a:avLst>
          </a:prstGeom>
          <a:solidFill>
            <a:srgbClr val="F7ECE8"/>
          </a:solidFill>
          <a:ln w="9525">
            <a:solidFill>
              <a:srgbClr val="E3B9AC"/>
            </a:solidFill>
            <a:prstDash val="solid"/>
          </a:ln>
        </p:spPr>
        <p:txBody>
          <a:bodyPr/>
          <a:lstStyle/>
          <a:p>
            <a:endParaRPr lang="en-GB"/>
          </a:p>
        </p:txBody>
      </p:sp>
      <p:sp>
        <p:nvSpPr>
          <p:cNvPr id="12" name="Text 10"/>
          <p:cNvSpPr/>
          <p:nvPr/>
        </p:nvSpPr>
        <p:spPr>
          <a:xfrm>
            <a:off x="7189515" y="5051822"/>
            <a:ext cx="3623250"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B3573F"/>
                </a:solidFill>
                <a:latin typeface="Arial" pitchFamily="34" charset="0"/>
                <a:ea typeface="Arial" pitchFamily="34" charset="-122"/>
                <a:cs typeface="Arial" pitchFamily="34" charset="-120"/>
              </a:rPr>
              <a:t>Costly mistake</a:t>
            </a:r>
            <a:endParaRPr lang="en-US" sz="2100" dirty="0"/>
          </a:p>
        </p:txBody>
      </p:sp>
      <p:sp>
        <p:nvSpPr>
          <p:cNvPr id="13" name="Text 11"/>
          <p:cNvSpPr/>
          <p:nvPr/>
        </p:nvSpPr>
        <p:spPr>
          <a:xfrm>
            <a:off x="7189515" y="5432822"/>
            <a:ext cx="3623250"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5246"/>
                </a:solidFill>
                <a:latin typeface="Arial" pitchFamily="34" charset="0"/>
                <a:ea typeface="Arial" pitchFamily="34" charset="-122"/>
                <a:cs typeface="Arial" pitchFamily="34" charset="-120"/>
              </a:rPr>
              <a:t>Default &amp; write-off</a:t>
            </a:r>
            <a:endParaRPr lang="en-US" sz="1800" dirty="0"/>
          </a:p>
        </p:txBody>
      </p:sp>
      <p:sp>
        <p:nvSpPr>
          <p:cNvPr id="14" name="Text 12"/>
          <p:cNvSpPr/>
          <p:nvPr/>
        </p:nvSpPr>
        <p:spPr>
          <a:xfrm>
            <a:off x="876300" y="6085284"/>
            <a:ext cx="1905000" cy="1195388"/>
          </a:xfrm>
          <a:prstGeom prst="rect">
            <a:avLst/>
          </a:prstGeom>
          <a:noFill/>
          <a:ln/>
        </p:spPr>
        <p:txBody>
          <a:bodyPr wrap="square" lIns="25400" tIns="25400" rIns="25400" bIns="25400" rtlCol="0" anchor="ctr">
            <a:normAutofit/>
          </a:bodyPr>
          <a:lstStyle/>
          <a:p>
            <a:pPr marL="0" indent="0" algn="r">
              <a:buNone/>
            </a:pPr>
            <a:r>
              <a:rPr lang="en-US" sz="1950" b="1" dirty="0">
                <a:solidFill>
                  <a:srgbClr val="063D22"/>
                </a:solidFill>
                <a:latin typeface="Arial" pitchFamily="34" charset="0"/>
                <a:ea typeface="Arial" pitchFamily="34" charset="-122"/>
                <a:cs typeface="Arial" pitchFamily="34" charset="-120"/>
              </a:rPr>
              <a:t>We reject</a:t>
            </a:r>
            <a:endParaRPr lang="en-US" sz="1950" dirty="0"/>
          </a:p>
        </p:txBody>
      </p:sp>
      <p:sp>
        <p:nvSpPr>
          <p:cNvPr id="15" name="Shape 13"/>
          <p:cNvSpPr/>
          <p:nvPr/>
        </p:nvSpPr>
        <p:spPr>
          <a:xfrm>
            <a:off x="2990850" y="6085284"/>
            <a:ext cx="3808140" cy="1157288"/>
          </a:xfrm>
          <a:prstGeom prst="roundRect">
            <a:avLst>
              <a:gd name="adj" fmla="val 6584"/>
            </a:avLst>
          </a:prstGeom>
          <a:solidFill>
            <a:srgbClr val="F7ECE8"/>
          </a:solidFill>
          <a:ln w="9525">
            <a:solidFill>
              <a:srgbClr val="E3B9AC"/>
            </a:solidFill>
            <a:prstDash val="solid"/>
          </a:ln>
        </p:spPr>
        <p:txBody>
          <a:bodyPr/>
          <a:lstStyle/>
          <a:p>
            <a:endParaRPr lang="en-GB"/>
          </a:p>
        </p:txBody>
      </p:sp>
      <p:sp>
        <p:nvSpPr>
          <p:cNvPr id="16" name="Text 14"/>
          <p:cNvSpPr/>
          <p:nvPr/>
        </p:nvSpPr>
        <p:spPr>
          <a:xfrm>
            <a:off x="3248025" y="6342459"/>
            <a:ext cx="3623169"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B3573F"/>
                </a:solidFill>
                <a:latin typeface="Arial" pitchFamily="34" charset="0"/>
                <a:ea typeface="Arial" pitchFamily="34" charset="-122"/>
                <a:cs typeface="Arial" pitchFamily="34" charset="-120"/>
              </a:rPr>
              <a:t>Costly mistake</a:t>
            </a:r>
            <a:endParaRPr lang="en-US" sz="2100" dirty="0"/>
          </a:p>
        </p:txBody>
      </p:sp>
      <p:sp>
        <p:nvSpPr>
          <p:cNvPr id="17" name="Text 15"/>
          <p:cNvSpPr/>
          <p:nvPr/>
        </p:nvSpPr>
        <p:spPr>
          <a:xfrm>
            <a:off x="3248025" y="6723459"/>
            <a:ext cx="3623169"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5246"/>
                </a:solidFill>
                <a:latin typeface="Arial" pitchFamily="34" charset="0"/>
                <a:ea typeface="Arial" pitchFamily="34" charset="-122"/>
                <a:cs typeface="Arial" pitchFamily="34" charset="-120"/>
              </a:rPr>
              <a:t>Lost revenue &amp; the customer</a:t>
            </a:r>
            <a:endParaRPr lang="en-US" sz="1800" dirty="0"/>
          </a:p>
        </p:txBody>
      </p:sp>
      <p:sp>
        <p:nvSpPr>
          <p:cNvPr id="18" name="Shape 16"/>
          <p:cNvSpPr/>
          <p:nvPr/>
        </p:nvSpPr>
        <p:spPr>
          <a:xfrm>
            <a:off x="6932340" y="6085284"/>
            <a:ext cx="3808214" cy="1157288"/>
          </a:xfrm>
          <a:prstGeom prst="roundRect">
            <a:avLst>
              <a:gd name="adj" fmla="val 6584"/>
            </a:avLst>
          </a:prstGeom>
          <a:solidFill>
            <a:srgbClr val="E6F5EF"/>
          </a:solidFill>
          <a:ln w="9525">
            <a:solidFill>
              <a:srgbClr val="B2E0D4"/>
            </a:solidFill>
            <a:prstDash val="solid"/>
          </a:ln>
        </p:spPr>
        <p:txBody>
          <a:bodyPr/>
          <a:lstStyle/>
          <a:p>
            <a:endParaRPr lang="en-GB"/>
          </a:p>
        </p:txBody>
      </p:sp>
      <p:sp>
        <p:nvSpPr>
          <p:cNvPr id="19" name="Text 17"/>
          <p:cNvSpPr/>
          <p:nvPr/>
        </p:nvSpPr>
        <p:spPr>
          <a:xfrm>
            <a:off x="7189515" y="6342459"/>
            <a:ext cx="3623250"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7A57"/>
                </a:solidFill>
                <a:latin typeface="Arial" pitchFamily="34" charset="0"/>
                <a:ea typeface="Arial" pitchFamily="34" charset="-122"/>
                <a:cs typeface="Arial" pitchFamily="34" charset="-120"/>
              </a:rPr>
              <a:t>Right call</a:t>
            </a:r>
            <a:endParaRPr lang="en-US" sz="2100" dirty="0"/>
          </a:p>
        </p:txBody>
      </p:sp>
      <p:sp>
        <p:nvSpPr>
          <p:cNvPr id="20" name="Text 18"/>
          <p:cNvSpPr/>
          <p:nvPr/>
        </p:nvSpPr>
        <p:spPr>
          <a:xfrm>
            <a:off x="7189515" y="6723459"/>
            <a:ext cx="3623250"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C7268"/>
                </a:solidFill>
                <a:latin typeface="Arial" pitchFamily="34" charset="0"/>
                <a:ea typeface="Arial" pitchFamily="34" charset="-122"/>
                <a:cs typeface="Arial" pitchFamily="34" charset="-120"/>
              </a:rPr>
              <a:t>Bad loan avoided</a:t>
            </a:r>
            <a:endParaRPr lang="en-US" sz="1800" dirty="0"/>
          </a:p>
        </p:txBody>
      </p:sp>
      <p:sp>
        <p:nvSpPr>
          <p:cNvPr id="21" name="Text 19"/>
          <p:cNvSpPr/>
          <p:nvPr/>
        </p:nvSpPr>
        <p:spPr>
          <a:xfrm>
            <a:off x="11312054" y="4692774"/>
            <a:ext cx="6204150" cy="12954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244236"/>
                </a:solidFill>
                <a:latin typeface="Arial" pitchFamily="34" charset="0"/>
                <a:ea typeface="Arial" pitchFamily="34" charset="-122"/>
                <a:cs typeface="Arial" pitchFamily="34" charset="-120"/>
              </a:rPr>
              <a:t>Our model has one job: </a:t>
            </a:r>
            <a:r>
              <a:rPr lang="en-US" sz="2250" b="1" dirty="0">
                <a:solidFill>
                  <a:srgbClr val="063D22"/>
                </a:solidFill>
                <a:latin typeface="Arial" pitchFamily="34" charset="0"/>
                <a:ea typeface="Arial" pitchFamily="34" charset="-122"/>
                <a:cs typeface="Arial" pitchFamily="34" charset="-120"/>
              </a:rPr>
              <a:t>make the same approve-or-reject call a human analyst would </a:t>
            </a:r>
            <a:r>
              <a:rPr lang="en-US" sz="2250" dirty="0">
                <a:solidFill>
                  <a:srgbClr val="244236"/>
                </a:solidFill>
                <a:latin typeface="Arial" pitchFamily="34" charset="0"/>
                <a:ea typeface="Arial" pitchFamily="34" charset="-122"/>
                <a:cs typeface="Arial" pitchFamily="34" charset="-120"/>
              </a:rPr>
              <a:t>, for 5,000 new applications.</a:t>
            </a:r>
            <a:endParaRPr lang="en-US" sz="2250" dirty="0"/>
          </a:p>
        </p:txBody>
      </p:sp>
      <p:sp>
        <p:nvSpPr>
          <p:cNvPr id="22" name="Text 20"/>
          <p:cNvSpPr/>
          <p:nvPr/>
        </p:nvSpPr>
        <p:spPr>
          <a:xfrm>
            <a:off x="11312054" y="6178674"/>
            <a:ext cx="6204150" cy="756196"/>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5C7268"/>
                </a:solidFill>
                <a:latin typeface="Arial" pitchFamily="34" charset="0"/>
                <a:ea typeface="Arial" pitchFamily="34" charset="-122"/>
                <a:cs typeface="Arial" pitchFamily="34" charset="-120"/>
              </a:rPr>
              <a:t>It learns the bank’s existing policy - so it must also avoid copying the analysts’ bias (see slide 7).</a:t>
            </a:r>
            <a:endParaRPr lang="en-US" sz="1950" dirty="0"/>
          </a:p>
        </p:txBody>
      </p:sp>
      <p:sp>
        <p:nvSpPr>
          <p:cNvPr id="23" name="Shape 21"/>
          <p:cNvSpPr/>
          <p:nvPr/>
        </p:nvSpPr>
        <p:spPr>
          <a:xfrm>
            <a:off x="952500" y="9239250"/>
            <a:ext cx="16383000" cy="9525"/>
          </a:xfrm>
          <a:prstGeom prst="rect">
            <a:avLst/>
          </a:prstGeom>
          <a:solidFill>
            <a:srgbClr val="D2E6DD"/>
          </a:solidFill>
          <a:ln/>
        </p:spPr>
        <p:txBody>
          <a:bodyPr/>
          <a:lstStyle/>
          <a:p>
            <a:endParaRPr lang="en-GB"/>
          </a:p>
        </p:txBody>
      </p:sp>
      <p:sp>
        <p:nvSpPr>
          <p:cNvPr id="24" name="Text 22"/>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competition brief · binary classification, scored on accuracy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03 · THE DATA</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We learn from 25,000 past decisions to predict one month we’ve never seen</a:t>
            </a:r>
            <a:endParaRPr lang="en-US" sz="3600" dirty="0"/>
          </a:p>
        </p:txBody>
      </p:sp>
      <p:sp>
        <p:nvSpPr>
          <p:cNvPr id="5" name="Shape 3"/>
          <p:cNvSpPr/>
          <p:nvPr/>
        </p:nvSpPr>
        <p:spPr>
          <a:xfrm>
            <a:off x="952500" y="4099322"/>
            <a:ext cx="13082067" cy="1428750"/>
          </a:xfrm>
          <a:prstGeom prst="roundRect">
            <a:avLst>
              <a:gd name="adj" fmla="val 5333"/>
            </a:avLst>
          </a:prstGeom>
          <a:solidFill>
            <a:srgbClr val="1A7A57"/>
          </a:solidFill>
          <a:ln/>
        </p:spPr>
        <p:txBody>
          <a:bodyPr/>
          <a:lstStyle/>
          <a:p>
            <a:endParaRPr lang="en-GB"/>
          </a:p>
        </p:txBody>
      </p:sp>
      <p:sp>
        <p:nvSpPr>
          <p:cNvPr id="6" name="Text 4"/>
          <p:cNvSpPr/>
          <p:nvPr/>
        </p:nvSpPr>
        <p:spPr>
          <a:xfrm>
            <a:off x="1333500" y="4454128"/>
            <a:ext cx="13552073" cy="433388"/>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FFFF"/>
                </a:solidFill>
                <a:latin typeface="Arial" pitchFamily="34" charset="0"/>
                <a:ea typeface="Arial" pitchFamily="34" charset="-122"/>
                <a:cs typeface="Arial" pitchFamily="34" charset="-120"/>
              </a:rPr>
              <a:t>25,000 past decisions</a:t>
            </a:r>
            <a:endParaRPr lang="en-US" sz="2550" dirty="0"/>
          </a:p>
        </p:txBody>
      </p:sp>
      <p:sp>
        <p:nvSpPr>
          <p:cNvPr id="7" name="Text 5"/>
          <p:cNvSpPr/>
          <p:nvPr/>
        </p:nvSpPr>
        <p:spPr>
          <a:xfrm>
            <a:off x="1333500" y="4887516"/>
            <a:ext cx="13552073"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B2E0D4"/>
                </a:solidFill>
                <a:latin typeface="Arial" pitchFamily="34" charset="0"/>
                <a:ea typeface="Arial" pitchFamily="34" charset="-122"/>
                <a:cs typeface="Arial" pitchFamily="34" charset="-120"/>
              </a:rPr>
              <a:t>Training data · Jan 2022 → Apr 2026 · we know the answers</a:t>
            </a:r>
            <a:endParaRPr lang="en-US" sz="1950" dirty="0"/>
          </a:p>
        </p:txBody>
      </p:sp>
      <p:sp>
        <p:nvSpPr>
          <p:cNvPr id="8" name="Shape 6"/>
          <p:cNvSpPr/>
          <p:nvPr/>
        </p:nvSpPr>
        <p:spPr>
          <a:xfrm>
            <a:off x="14129817" y="4099322"/>
            <a:ext cx="3205683" cy="1428750"/>
          </a:xfrm>
          <a:prstGeom prst="roundRect">
            <a:avLst>
              <a:gd name="adj" fmla="val 5333"/>
            </a:avLst>
          </a:prstGeom>
          <a:solidFill>
            <a:srgbClr val="F7ECE8"/>
          </a:solidFill>
          <a:ln w="19050">
            <a:solidFill>
              <a:srgbClr val="E3B9AC"/>
            </a:solidFill>
            <a:prstDash val="solid"/>
          </a:ln>
        </p:spPr>
        <p:txBody>
          <a:bodyPr/>
          <a:lstStyle/>
          <a:p>
            <a:endParaRPr lang="en-GB"/>
          </a:p>
        </p:txBody>
      </p:sp>
      <p:sp>
        <p:nvSpPr>
          <p:cNvPr id="9" name="Text 7"/>
          <p:cNvSpPr/>
          <p:nvPr/>
        </p:nvSpPr>
        <p:spPr>
          <a:xfrm>
            <a:off x="14377467" y="4489847"/>
            <a:ext cx="2981422" cy="38576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B3573F"/>
                </a:solidFill>
                <a:latin typeface="Arial" pitchFamily="34" charset="0"/>
                <a:ea typeface="Arial" pitchFamily="34" charset="-122"/>
                <a:cs typeface="Arial" pitchFamily="34" charset="-120"/>
              </a:rPr>
              <a:t>5,000 new</a:t>
            </a:r>
            <a:endParaRPr lang="en-US" sz="2250" dirty="0"/>
          </a:p>
        </p:txBody>
      </p:sp>
      <p:sp>
        <p:nvSpPr>
          <p:cNvPr id="10" name="Text 8"/>
          <p:cNvSpPr/>
          <p:nvPr/>
        </p:nvSpPr>
        <p:spPr>
          <a:xfrm>
            <a:off x="14377467" y="4875609"/>
            <a:ext cx="2981422"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A5246"/>
                </a:solidFill>
                <a:latin typeface="Arial" pitchFamily="34" charset="0"/>
                <a:ea typeface="Arial" pitchFamily="34" charset="-122"/>
                <a:cs typeface="Arial" pitchFamily="34" charset="-120"/>
              </a:rPr>
              <a:t>May 2026 · predict these</a:t>
            </a:r>
            <a:endParaRPr lang="en-US" sz="1800" dirty="0"/>
          </a:p>
        </p:txBody>
      </p:sp>
      <p:sp>
        <p:nvSpPr>
          <p:cNvPr id="11" name="Text 9"/>
          <p:cNvSpPr/>
          <p:nvPr/>
        </p:nvSpPr>
        <p:spPr>
          <a:xfrm>
            <a:off x="952500" y="5661422"/>
            <a:ext cx="62492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2022</a:t>
            </a:r>
            <a:endParaRPr lang="en-US" sz="1800" dirty="0"/>
          </a:p>
        </p:txBody>
      </p:sp>
      <p:sp>
        <p:nvSpPr>
          <p:cNvPr id="12" name="Text 10"/>
          <p:cNvSpPr/>
          <p:nvPr/>
        </p:nvSpPr>
        <p:spPr>
          <a:xfrm>
            <a:off x="6400354" y="5661422"/>
            <a:ext cx="6036022"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the real task: forecast the next month →</a:t>
            </a:r>
            <a:endParaRPr lang="en-US" sz="1800" dirty="0"/>
          </a:p>
        </p:txBody>
      </p:sp>
      <p:sp>
        <p:nvSpPr>
          <p:cNvPr id="13" name="Text 11"/>
          <p:cNvSpPr/>
          <p:nvPr/>
        </p:nvSpPr>
        <p:spPr>
          <a:xfrm>
            <a:off x="16786771" y="5661422"/>
            <a:ext cx="62492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2026</a:t>
            </a:r>
            <a:endParaRPr lang="en-US" sz="1800" dirty="0"/>
          </a:p>
        </p:txBody>
      </p:sp>
      <p:sp>
        <p:nvSpPr>
          <p:cNvPr id="14" name="Text 12"/>
          <p:cNvSpPr/>
          <p:nvPr/>
        </p:nvSpPr>
        <p:spPr>
          <a:xfrm>
            <a:off x="952500" y="6528197"/>
            <a:ext cx="87172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The answer is almost a coin flip</a:t>
            </a:r>
            <a:endParaRPr lang="en-US" sz="1800" dirty="0"/>
          </a:p>
        </p:txBody>
      </p:sp>
      <p:sp>
        <p:nvSpPr>
          <p:cNvPr id="15" name="Shape 13"/>
          <p:cNvSpPr/>
          <p:nvPr/>
        </p:nvSpPr>
        <p:spPr>
          <a:xfrm>
            <a:off x="952500" y="6918722"/>
            <a:ext cx="4120828" cy="609600"/>
          </a:xfrm>
          <a:prstGeom prst="rect">
            <a:avLst/>
          </a:prstGeom>
          <a:solidFill>
            <a:srgbClr val="1A7A57"/>
          </a:solidFill>
          <a:ln/>
        </p:spPr>
        <p:txBody>
          <a:bodyPr/>
          <a:lstStyle/>
          <a:p>
            <a:endParaRPr lang="en-GB"/>
          </a:p>
        </p:txBody>
      </p:sp>
      <p:sp>
        <p:nvSpPr>
          <p:cNvPr id="16" name="Text 14"/>
          <p:cNvSpPr/>
          <p:nvPr/>
        </p:nvSpPr>
        <p:spPr>
          <a:xfrm>
            <a:off x="1181100" y="6918722"/>
            <a:ext cx="4015852" cy="647700"/>
          </a:xfrm>
          <a:prstGeom prst="rect">
            <a:avLst/>
          </a:prstGeom>
          <a:noFill/>
          <a:ln/>
        </p:spPr>
        <p:txBody>
          <a:bodyPr wrap="square" lIns="25400" tIns="25400" rIns="25400" bIns="25400" rtlCol="0" anchor="ctr">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52% approved</a:t>
            </a:r>
            <a:endParaRPr lang="en-US" sz="1950" dirty="0"/>
          </a:p>
        </p:txBody>
      </p:sp>
      <p:sp>
        <p:nvSpPr>
          <p:cNvPr id="17" name="Shape 15"/>
          <p:cNvSpPr/>
          <p:nvPr/>
        </p:nvSpPr>
        <p:spPr>
          <a:xfrm>
            <a:off x="5073328" y="6918722"/>
            <a:ext cx="3803898" cy="609600"/>
          </a:xfrm>
          <a:prstGeom prst="rect">
            <a:avLst/>
          </a:prstGeom>
          <a:solidFill>
            <a:srgbClr val="66B3A1"/>
          </a:solidFill>
          <a:ln/>
        </p:spPr>
        <p:txBody>
          <a:bodyPr/>
          <a:lstStyle/>
          <a:p>
            <a:endParaRPr lang="en-GB"/>
          </a:p>
        </p:txBody>
      </p:sp>
      <p:sp>
        <p:nvSpPr>
          <p:cNvPr id="18" name="Text 16"/>
          <p:cNvSpPr/>
          <p:nvPr/>
        </p:nvSpPr>
        <p:spPr>
          <a:xfrm>
            <a:off x="5301928" y="6918722"/>
            <a:ext cx="3689415" cy="647700"/>
          </a:xfrm>
          <a:prstGeom prst="rect">
            <a:avLst/>
          </a:prstGeom>
          <a:noFill/>
          <a:ln/>
        </p:spPr>
        <p:txBody>
          <a:bodyPr wrap="square" lIns="25400" tIns="25400" rIns="25400" bIns="25400" rtlCol="0" anchor="ctr">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48% rejected</a:t>
            </a:r>
            <a:endParaRPr lang="en-US" sz="1950" dirty="0"/>
          </a:p>
        </p:txBody>
      </p:sp>
      <p:sp>
        <p:nvSpPr>
          <p:cNvPr id="19" name="Text 17"/>
          <p:cNvSpPr/>
          <p:nvPr/>
        </p:nvSpPr>
        <p:spPr>
          <a:xfrm>
            <a:off x="9410700" y="6655371"/>
            <a:ext cx="8162544" cy="78387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025" dirty="0">
                <a:solidFill>
                  <a:srgbClr val="244236"/>
                </a:solidFill>
                <a:latin typeface="Arial" pitchFamily="34" charset="0"/>
                <a:ea typeface="Arial" pitchFamily="34" charset="-122"/>
                <a:cs typeface="Arial" pitchFamily="34" charset="-120"/>
              </a:rPr>
              <a:t>Because approvals and rejections are nearly even, </a:t>
            </a:r>
            <a:r>
              <a:rPr lang="en-US" sz="2025" b="1" dirty="0">
                <a:solidFill>
                  <a:srgbClr val="063D22"/>
                </a:solidFill>
                <a:latin typeface="Arial" pitchFamily="34" charset="0"/>
                <a:ea typeface="Arial" pitchFamily="34" charset="-122"/>
                <a:cs typeface="Arial" pitchFamily="34" charset="-120"/>
              </a:rPr>
              <a:t>guessing scores only ~52% </a:t>
            </a:r>
            <a:r>
              <a:rPr lang="en-US" sz="2025" dirty="0">
                <a:solidFill>
                  <a:srgbClr val="244236"/>
                </a:solidFill>
                <a:latin typeface="Arial" pitchFamily="34" charset="0"/>
                <a:ea typeface="Arial" pitchFamily="34" charset="-122"/>
                <a:cs typeface="Arial" pitchFamily="34" charset="-120"/>
              </a:rPr>
              <a:t>. Every point of accuracy above that is genuinely earned.</a:t>
            </a:r>
            <a:endParaRPr lang="en-US" sz="2025" dirty="0"/>
          </a:p>
        </p:txBody>
      </p:sp>
      <p:sp>
        <p:nvSpPr>
          <p:cNvPr id="20" name="Shape 18"/>
          <p:cNvSpPr/>
          <p:nvPr/>
        </p:nvSpPr>
        <p:spPr>
          <a:xfrm>
            <a:off x="952500" y="9239250"/>
            <a:ext cx="16383000" cy="9525"/>
          </a:xfrm>
          <a:prstGeom prst="rect">
            <a:avLst/>
          </a:prstGeom>
          <a:solidFill>
            <a:srgbClr val="D2E6DD"/>
          </a:solidFill>
          <a:ln/>
        </p:spPr>
        <p:txBody>
          <a:bodyPr/>
          <a:lstStyle/>
          <a:p>
            <a:endParaRPr lang="en-GB"/>
          </a:p>
        </p:txBody>
      </p:sp>
      <p:sp>
        <p:nvSpPr>
          <p:cNvPr id="21" name="Text 19"/>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competition train / test files · 24 features per application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04 · THE TRAP</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a:lnSpc>
                <a:spcPct val="112000"/>
              </a:lnSpc>
            </a:pPr>
            <a:r>
              <a:rPr lang="en-US" sz="3600" b="1" kern="0" spc="-37" dirty="0">
                <a:solidFill>
                  <a:srgbClr val="063D22"/>
                </a:solidFill>
                <a:latin typeface="Arial" pitchFamily="34" charset="0"/>
                <a:ea typeface="Arial" pitchFamily="34" charset="-122"/>
                <a:cs typeface="Arial" pitchFamily="34" charset="-120"/>
              </a:rPr>
              <a:t>The rigged data - we hunted the traps before modeling</a:t>
            </a:r>
            <a:endParaRPr lang="en-US" sz="3600" dirty="0"/>
          </a:p>
        </p:txBody>
      </p:sp>
      <p:sp>
        <p:nvSpPr>
          <p:cNvPr id="5" name="Text 3"/>
          <p:cNvSpPr/>
          <p:nvPr/>
        </p:nvSpPr>
        <p:spPr>
          <a:xfrm>
            <a:off x="952500" y="2350368"/>
            <a:ext cx="867537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One “perfect” column, </a:t>
            </a:r>
            <a:r>
              <a:rPr lang="en-US" sz="1800" dirty="0">
                <a:solidFill>
                  <a:srgbClr val="B3573F"/>
                </a:solidFill>
                <a:latin typeface="Courier New" pitchFamily="34" charset="0"/>
                <a:ea typeface="Courier New" pitchFamily="34" charset="-122"/>
                <a:cs typeface="Courier New" pitchFamily="34" charset="-120"/>
              </a:rPr>
              <a:t>internal_code </a:t>
            </a:r>
            <a:r>
              <a:rPr lang="en-US" sz="1800" dirty="0">
                <a:solidFill>
                  <a:srgbClr val="5C7268"/>
                </a:solidFill>
                <a:latin typeface="Courier New" pitchFamily="34" charset="0"/>
                <a:ea typeface="Courier New" pitchFamily="34" charset="-122"/>
                <a:cs typeface="Courier New" pitchFamily="34" charset="-120"/>
              </a:rPr>
              <a:t>- promise vs reality</a:t>
            </a:r>
            <a:endParaRPr lang="en-US" sz="1800" dirty="0"/>
          </a:p>
        </p:txBody>
      </p:sp>
      <p:sp>
        <p:nvSpPr>
          <p:cNvPr id="6" name="Text 4"/>
          <p:cNvSpPr/>
          <p:nvPr/>
        </p:nvSpPr>
        <p:spPr>
          <a:xfrm>
            <a:off x="9448800" y="2350368"/>
            <a:ext cx="8123301" cy="164961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175" dirty="0">
                <a:solidFill>
                  <a:srgbClr val="244236"/>
                </a:solidFill>
                <a:latin typeface="Arial" pitchFamily="34" charset="0"/>
                <a:ea typeface="Arial" pitchFamily="34" charset="-122"/>
                <a:cs typeface="Arial" pitchFamily="34" charset="-120"/>
              </a:rPr>
              <a:t>The column looked like the best predictor in the dataset. A simple integrity check gave it away: it lines up with real risk in the </a:t>
            </a:r>
            <a:r>
              <a:rPr lang="en-US" sz="2175" b="1" dirty="0">
                <a:solidFill>
                  <a:srgbClr val="063D22"/>
                </a:solidFill>
                <a:latin typeface="Arial" pitchFamily="34" charset="0"/>
                <a:ea typeface="Arial" pitchFamily="34" charset="-122"/>
                <a:cs typeface="Arial" pitchFamily="34" charset="-120"/>
              </a:rPr>
              <a:t>training data </a:t>
            </a:r>
            <a:r>
              <a:rPr lang="en-US" sz="2175" dirty="0">
                <a:solidFill>
                  <a:srgbClr val="244236"/>
                </a:solidFill>
                <a:latin typeface="Arial" pitchFamily="34" charset="0"/>
                <a:ea typeface="Arial" pitchFamily="34" charset="-122"/>
                <a:cs typeface="Arial" pitchFamily="34" charset="-120"/>
              </a:rPr>
              <a:t>but is random noise in the </a:t>
            </a:r>
            <a:r>
              <a:rPr lang="en-US" sz="2175" b="1" dirty="0">
                <a:solidFill>
                  <a:srgbClr val="063D22"/>
                </a:solidFill>
                <a:latin typeface="Arial" pitchFamily="34" charset="0"/>
                <a:ea typeface="Arial" pitchFamily="34" charset="-122"/>
                <a:cs typeface="Arial" pitchFamily="34" charset="-120"/>
              </a:rPr>
              <a:t>test data </a:t>
            </a:r>
            <a:r>
              <a:rPr lang="en-US" sz="2175" dirty="0">
                <a:solidFill>
                  <a:srgbClr val="244236"/>
                </a:solidFill>
                <a:latin typeface="Arial" pitchFamily="34" charset="0"/>
                <a:ea typeface="Arial" pitchFamily="34" charset="-122"/>
                <a:cs typeface="Arial" pitchFamily="34" charset="-120"/>
              </a:rPr>
              <a:t>- it was scrambled on purpose. </a:t>
            </a:r>
            <a:r>
              <a:rPr lang="en-US" sz="2175" b="1" dirty="0">
                <a:solidFill>
                  <a:srgbClr val="B3573F"/>
                </a:solidFill>
                <a:latin typeface="Arial" pitchFamily="34" charset="0"/>
                <a:ea typeface="Arial" pitchFamily="34" charset="-122"/>
                <a:cs typeface="Arial" pitchFamily="34" charset="-120"/>
              </a:rPr>
              <a:t>We dropped it.</a:t>
            </a:r>
            <a:endParaRPr lang="en-US" sz="2175" dirty="0"/>
          </a:p>
        </p:txBody>
      </p:sp>
      <p:sp>
        <p:nvSpPr>
          <p:cNvPr id="7" name="Text 5"/>
          <p:cNvSpPr/>
          <p:nvPr/>
        </p:nvSpPr>
        <p:spPr>
          <a:xfrm>
            <a:off x="9448800" y="4209529"/>
            <a:ext cx="867537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Four traps we caught and handled</a:t>
            </a:r>
            <a:endParaRPr lang="en-US" sz="1800" dirty="0"/>
          </a:p>
        </p:txBody>
      </p:sp>
      <p:sp>
        <p:nvSpPr>
          <p:cNvPr id="8" name="Shape 6"/>
          <p:cNvSpPr/>
          <p:nvPr/>
        </p:nvSpPr>
        <p:spPr>
          <a:xfrm>
            <a:off x="9448800" y="4600054"/>
            <a:ext cx="7886700" cy="600075"/>
          </a:xfrm>
          <a:prstGeom prst="roundRect">
            <a:avLst>
              <a:gd name="adj" fmla="val 12698"/>
            </a:avLst>
          </a:prstGeom>
          <a:solidFill>
            <a:srgbClr val="F7ECE8"/>
          </a:solidFill>
          <a:ln/>
        </p:spPr>
        <p:txBody>
          <a:bodyPr/>
          <a:lstStyle/>
          <a:p>
            <a:endParaRPr lang="en-GB"/>
          </a:p>
        </p:txBody>
      </p:sp>
      <p:sp>
        <p:nvSpPr>
          <p:cNvPr id="9" name="Text 7"/>
          <p:cNvSpPr/>
          <p:nvPr/>
        </p:nvSpPr>
        <p:spPr>
          <a:xfrm>
            <a:off x="9658350" y="4727796"/>
            <a:ext cx="9144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B3573F"/>
                </a:solidFill>
                <a:latin typeface="Courier New" pitchFamily="34" charset="0"/>
                <a:ea typeface="Courier New" pitchFamily="34" charset="-122"/>
                <a:cs typeface="Courier New" pitchFamily="34" charset="-120"/>
              </a:rPr>
              <a:t>DROP</a:t>
            </a:r>
            <a:endParaRPr lang="en-US" sz="1800" dirty="0"/>
          </a:p>
        </p:txBody>
      </p:sp>
      <p:sp>
        <p:nvSpPr>
          <p:cNvPr id="10" name="Text 8"/>
          <p:cNvSpPr/>
          <p:nvPr/>
        </p:nvSpPr>
        <p:spPr>
          <a:xfrm>
            <a:off x="10648950" y="4757217"/>
            <a:ext cx="5102870"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244236"/>
                </a:solidFill>
                <a:latin typeface="Arial" pitchFamily="34" charset="0"/>
                <a:ea typeface="Arial" pitchFamily="34" charset="-122"/>
                <a:cs typeface="Arial" pitchFamily="34" charset="-120"/>
              </a:rPr>
              <a:t>Hidden leak - the “perfect” column above</a:t>
            </a:r>
            <a:endParaRPr lang="en-US" sz="1950" dirty="0"/>
          </a:p>
        </p:txBody>
      </p:sp>
      <p:sp>
        <p:nvSpPr>
          <p:cNvPr id="11" name="Shape 9"/>
          <p:cNvSpPr/>
          <p:nvPr/>
        </p:nvSpPr>
        <p:spPr>
          <a:xfrm>
            <a:off x="9448800" y="5314429"/>
            <a:ext cx="7886700" cy="600075"/>
          </a:xfrm>
          <a:prstGeom prst="roundRect">
            <a:avLst>
              <a:gd name="adj" fmla="val 12698"/>
            </a:avLst>
          </a:prstGeom>
          <a:solidFill>
            <a:srgbClr val="F7ECE8"/>
          </a:solidFill>
          <a:ln/>
        </p:spPr>
        <p:txBody>
          <a:bodyPr/>
          <a:lstStyle/>
          <a:p>
            <a:endParaRPr lang="en-GB"/>
          </a:p>
        </p:txBody>
      </p:sp>
      <p:sp>
        <p:nvSpPr>
          <p:cNvPr id="12" name="Text 10"/>
          <p:cNvSpPr/>
          <p:nvPr/>
        </p:nvSpPr>
        <p:spPr>
          <a:xfrm>
            <a:off x="9658350" y="5408414"/>
            <a:ext cx="9144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B3573F"/>
                </a:solidFill>
                <a:latin typeface="Courier New" pitchFamily="34" charset="0"/>
                <a:ea typeface="Courier New" pitchFamily="34" charset="-122"/>
                <a:cs typeface="Courier New" pitchFamily="34" charset="-120"/>
              </a:rPr>
              <a:t>DROP</a:t>
            </a:r>
            <a:endParaRPr lang="en-US" sz="1800" dirty="0"/>
          </a:p>
        </p:txBody>
      </p:sp>
      <p:sp>
        <p:nvSpPr>
          <p:cNvPr id="13" name="Text 11"/>
          <p:cNvSpPr/>
          <p:nvPr/>
        </p:nvSpPr>
        <p:spPr>
          <a:xfrm>
            <a:off x="10648950" y="5471592"/>
            <a:ext cx="449738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244236"/>
                </a:solidFill>
                <a:latin typeface="Arial" pitchFamily="34" charset="0"/>
                <a:ea typeface="Arial" pitchFamily="34" charset="-122"/>
                <a:cs typeface="Arial" pitchFamily="34" charset="-120"/>
              </a:rPr>
              <a:t>A column that vanishes in the test set</a:t>
            </a:r>
            <a:endParaRPr lang="en-US" sz="1950" dirty="0"/>
          </a:p>
        </p:txBody>
      </p:sp>
      <p:sp>
        <p:nvSpPr>
          <p:cNvPr id="14" name="Shape 12"/>
          <p:cNvSpPr/>
          <p:nvPr/>
        </p:nvSpPr>
        <p:spPr>
          <a:xfrm>
            <a:off x="9448800" y="6028804"/>
            <a:ext cx="7886700" cy="600075"/>
          </a:xfrm>
          <a:prstGeom prst="roundRect">
            <a:avLst>
              <a:gd name="adj" fmla="val 12698"/>
            </a:avLst>
          </a:prstGeom>
          <a:solidFill>
            <a:srgbClr val="E6F5EF"/>
          </a:solidFill>
          <a:ln/>
        </p:spPr>
        <p:txBody>
          <a:bodyPr/>
          <a:lstStyle/>
          <a:p>
            <a:endParaRPr lang="en-GB"/>
          </a:p>
        </p:txBody>
      </p:sp>
      <p:sp>
        <p:nvSpPr>
          <p:cNvPr id="15" name="Text 13"/>
          <p:cNvSpPr/>
          <p:nvPr/>
        </p:nvSpPr>
        <p:spPr>
          <a:xfrm>
            <a:off x="9658350" y="6181204"/>
            <a:ext cx="9144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A7A57"/>
                </a:solidFill>
                <a:latin typeface="Courier New" pitchFamily="34" charset="0"/>
                <a:ea typeface="Courier New" pitchFamily="34" charset="-122"/>
                <a:cs typeface="Courier New" pitchFamily="34" charset="-120"/>
              </a:rPr>
              <a:t>FIX</a:t>
            </a:r>
            <a:endParaRPr lang="en-US" sz="1800" dirty="0"/>
          </a:p>
        </p:txBody>
      </p:sp>
      <p:sp>
        <p:nvSpPr>
          <p:cNvPr id="16" name="Text 14"/>
          <p:cNvSpPr/>
          <p:nvPr/>
        </p:nvSpPr>
        <p:spPr>
          <a:xfrm>
            <a:off x="10648950" y="6185967"/>
            <a:ext cx="3921614"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244236"/>
                </a:solidFill>
                <a:latin typeface="Arial" pitchFamily="34" charset="0"/>
                <a:ea typeface="Arial" pitchFamily="34" charset="-122"/>
                <a:cs typeface="Arial" pitchFamily="34" charset="-120"/>
              </a:rPr>
              <a:t>Incomes recorded in mixed units</a:t>
            </a:r>
            <a:endParaRPr lang="en-US" sz="1950" dirty="0"/>
          </a:p>
        </p:txBody>
      </p:sp>
      <p:sp>
        <p:nvSpPr>
          <p:cNvPr id="17" name="Shape 15"/>
          <p:cNvSpPr/>
          <p:nvPr/>
        </p:nvSpPr>
        <p:spPr>
          <a:xfrm>
            <a:off x="9448800" y="6743179"/>
            <a:ext cx="7886700" cy="600075"/>
          </a:xfrm>
          <a:prstGeom prst="roundRect">
            <a:avLst>
              <a:gd name="adj" fmla="val 12698"/>
            </a:avLst>
          </a:prstGeom>
          <a:solidFill>
            <a:srgbClr val="F7ECE8"/>
          </a:solidFill>
          <a:ln/>
        </p:spPr>
        <p:txBody>
          <a:bodyPr/>
          <a:lstStyle/>
          <a:p>
            <a:endParaRPr lang="en-GB"/>
          </a:p>
        </p:txBody>
      </p:sp>
      <p:sp>
        <p:nvSpPr>
          <p:cNvPr id="18" name="Text 16"/>
          <p:cNvSpPr/>
          <p:nvPr/>
        </p:nvSpPr>
        <p:spPr>
          <a:xfrm>
            <a:off x="9591675" y="6916320"/>
            <a:ext cx="914400"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B3573F"/>
                </a:solidFill>
                <a:latin typeface="Courier New" pitchFamily="34" charset="0"/>
                <a:ea typeface="Courier New" pitchFamily="34" charset="-122"/>
                <a:cs typeface="Courier New" pitchFamily="34" charset="-120"/>
              </a:rPr>
              <a:t>EXCLUDE</a:t>
            </a:r>
            <a:endParaRPr lang="en-US" sz="1800" dirty="0"/>
          </a:p>
        </p:txBody>
      </p:sp>
      <p:sp>
        <p:nvSpPr>
          <p:cNvPr id="19" name="Text 17"/>
          <p:cNvSpPr/>
          <p:nvPr/>
        </p:nvSpPr>
        <p:spPr>
          <a:xfrm>
            <a:off x="10648950" y="6900342"/>
            <a:ext cx="4324752"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244236"/>
                </a:solidFill>
                <a:latin typeface="Arial" pitchFamily="34" charset="0"/>
                <a:ea typeface="Arial" pitchFamily="34" charset="-122"/>
                <a:cs typeface="Arial" pitchFamily="34" charset="-120"/>
              </a:rPr>
              <a:t>Race &amp; religion - off-limits (slide 7)</a:t>
            </a:r>
            <a:endParaRPr lang="en-US" sz="1950" dirty="0"/>
          </a:p>
        </p:txBody>
      </p:sp>
      <p:sp>
        <p:nvSpPr>
          <p:cNvPr id="20" name="Shape 18"/>
          <p:cNvSpPr/>
          <p:nvPr/>
        </p:nvSpPr>
        <p:spPr>
          <a:xfrm>
            <a:off x="952500" y="9239250"/>
            <a:ext cx="16383000" cy="9525"/>
          </a:xfrm>
          <a:prstGeom prst="rect">
            <a:avLst/>
          </a:prstGeom>
          <a:solidFill>
            <a:srgbClr val="D2E6DD"/>
          </a:solidFill>
          <a:ln/>
        </p:spPr>
        <p:txBody>
          <a:bodyPr/>
          <a:lstStyle/>
          <a:p>
            <a:endParaRPr lang="en-GB"/>
          </a:p>
        </p:txBody>
      </p:sp>
      <p:sp>
        <p:nvSpPr>
          <p:cNvPr id="21" name="Text 19"/>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team forensic audit · integrity check on 10 suspect columns</a:t>
            </a:r>
            <a:endParaRPr lang="en-US" sz="1800" dirty="0"/>
          </a:p>
        </p:txBody>
      </p:sp>
      <p:pic>
        <p:nvPicPr>
          <p:cNvPr id="22" name="Picture 21" descr="deck_leak.png"/>
          <p:cNvPicPr>
            <a:picLocks noChangeAspect="1"/>
          </p:cNvPicPr>
          <p:nvPr/>
        </p:nvPicPr>
        <p:blipFill>
          <a:blip r:embed="rId3"/>
          <a:stretch>
            <a:fillRect/>
          </a:stretch>
        </p:blipFill>
        <p:spPr>
          <a:xfrm>
            <a:off x="1188720" y="3200400"/>
            <a:ext cx="7589520" cy="4843590"/>
          </a:xfrm>
          <a:prstGeom prst="rect">
            <a:avLst/>
          </a:prstGeom>
        </p:spPr>
      </p:pic>
      <p:sp>
        <p:nvSpPr>
          <p:cNvPr id="24" name="TextBox 23">
            <a:extLst>
              <a:ext uri="{FF2B5EF4-FFF2-40B4-BE49-F238E27FC236}">
                <a16:creationId xmlns:a16="http://schemas.microsoft.com/office/drawing/2014/main" id="{742EB33F-E089-D2ED-2869-7CBDC6463FC1}"/>
              </a:ext>
            </a:extLst>
          </p:cNvPr>
          <p:cNvSpPr txBox="1"/>
          <p:nvPr/>
        </p:nvSpPr>
        <p:spPr>
          <a:xfrm>
            <a:off x="15507761" y="4742204"/>
            <a:ext cx="1827739" cy="369332"/>
          </a:xfrm>
          <a:prstGeom prst="rect">
            <a:avLst/>
          </a:prstGeom>
          <a:noFill/>
        </p:spPr>
        <p:txBody>
          <a:bodyPr wrap="square" rtlCol="0">
            <a:spAutoFit/>
          </a:bodyPr>
          <a:lstStyle/>
          <a:p>
            <a:r>
              <a:rPr lang="en-DE" b="1" cap="all" dirty="0"/>
              <a:t>INTERNAL_CODE</a:t>
            </a:r>
          </a:p>
        </p:txBody>
      </p:sp>
      <p:sp>
        <p:nvSpPr>
          <p:cNvPr id="25" name="TextBox 24">
            <a:extLst>
              <a:ext uri="{FF2B5EF4-FFF2-40B4-BE49-F238E27FC236}">
                <a16:creationId xmlns:a16="http://schemas.microsoft.com/office/drawing/2014/main" id="{F8780A9C-BBDC-74A6-186D-D49B495B51B3}"/>
              </a:ext>
            </a:extLst>
          </p:cNvPr>
          <p:cNvSpPr txBox="1"/>
          <p:nvPr/>
        </p:nvSpPr>
        <p:spPr>
          <a:xfrm>
            <a:off x="15011802" y="5437529"/>
            <a:ext cx="2361798" cy="369332"/>
          </a:xfrm>
          <a:prstGeom prst="rect">
            <a:avLst/>
          </a:prstGeom>
          <a:noFill/>
        </p:spPr>
        <p:txBody>
          <a:bodyPr wrap="square" rtlCol="0">
            <a:spAutoFit/>
          </a:bodyPr>
          <a:lstStyle/>
          <a:p>
            <a:r>
              <a:rPr lang="en-DE" b="1" cap="all" dirty="0"/>
              <a:t>EXTERNAL_PD_SCORE</a:t>
            </a:r>
          </a:p>
        </p:txBody>
      </p:sp>
      <p:sp>
        <p:nvSpPr>
          <p:cNvPr id="27" name="TextBox 26">
            <a:extLst>
              <a:ext uri="{FF2B5EF4-FFF2-40B4-BE49-F238E27FC236}">
                <a16:creationId xmlns:a16="http://schemas.microsoft.com/office/drawing/2014/main" id="{6F1D54C4-2036-E4BB-83BB-5E3F3A8960AD}"/>
              </a:ext>
            </a:extLst>
          </p:cNvPr>
          <p:cNvSpPr txBox="1"/>
          <p:nvPr/>
        </p:nvSpPr>
        <p:spPr>
          <a:xfrm>
            <a:off x="15574780" y="6858535"/>
            <a:ext cx="2713220" cy="369332"/>
          </a:xfrm>
          <a:prstGeom prst="rect">
            <a:avLst/>
          </a:prstGeom>
          <a:noFill/>
        </p:spPr>
        <p:txBody>
          <a:bodyPr wrap="square" rtlCol="0">
            <a:spAutoFit/>
          </a:bodyPr>
          <a:lstStyle/>
          <a:p>
            <a:r>
              <a:rPr lang="en-DE" b="1" cap="all" dirty="0"/>
              <a:t>RACE, RELIGION</a:t>
            </a:r>
          </a:p>
        </p:txBody>
      </p:sp>
      <p:sp>
        <p:nvSpPr>
          <p:cNvPr id="29" name="TextBox 28">
            <a:extLst>
              <a:ext uri="{FF2B5EF4-FFF2-40B4-BE49-F238E27FC236}">
                <a16:creationId xmlns:a16="http://schemas.microsoft.com/office/drawing/2014/main" id="{72E322D4-2501-B028-B84F-413385805EE0}"/>
              </a:ext>
            </a:extLst>
          </p:cNvPr>
          <p:cNvSpPr txBox="1"/>
          <p:nvPr/>
        </p:nvSpPr>
        <p:spPr>
          <a:xfrm>
            <a:off x="15742670" y="6140485"/>
            <a:ext cx="2713220" cy="369332"/>
          </a:xfrm>
          <a:prstGeom prst="rect">
            <a:avLst/>
          </a:prstGeom>
          <a:noFill/>
        </p:spPr>
        <p:txBody>
          <a:bodyPr wrap="square" rtlCol="0">
            <a:spAutoFit/>
          </a:bodyPr>
          <a:lstStyle/>
          <a:p>
            <a:r>
              <a:rPr lang="en-DE" b="1" cap="all" dirty="0"/>
              <a:t>76.4 or 76400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05 · CLEANING THE DATA</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One pipeline turns 24 messy columns into 20 we can trust</a:t>
            </a:r>
            <a:endParaRPr lang="en-US" sz="3600" dirty="0"/>
          </a:p>
        </p:txBody>
      </p:sp>
      <p:sp>
        <p:nvSpPr>
          <p:cNvPr id="5" name="Shape 3"/>
          <p:cNvSpPr/>
          <p:nvPr/>
        </p:nvSpPr>
        <p:spPr>
          <a:xfrm>
            <a:off x="952500" y="4105126"/>
            <a:ext cx="3363888" cy="2845594"/>
          </a:xfrm>
          <a:prstGeom prst="roundRect">
            <a:avLst>
              <a:gd name="adj" fmla="val 3347"/>
            </a:avLst>
          </a:prstGeom>
          <a:solidFill>
            <a:srgbClr val="E6F5EF"/>
          </a:solidFill>
          <a:ln w="9525">
            <a:solidFill>
              <a:srgbClr val="B2E0D4"/>
            </a:solidFill>
            <a:prstDash val="solid"/>
          </a:ln>
        </p:spPr>
        <p:txBody>
          <a:bodyPr/>
          <a:lstStyle/>
          <a:p>
            <a:endParaRPr lang="en-GB"/>
          </a:p>
        </p:txBody>
      </p:sp>
      <p:sp>
        <p:nvSpPr>
          <p:cNvPr id="6" name="Text 4"/>
          <p:cNvSpPr/>
          <p:nvPr/>
        </p:nvSpPr>
        <p:spPr>
          <a:xfrm>
            <a:off x="1247775" y="4843611"/>
            <a:ext cx="3050671" cy="661987"/>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063D22"/>
                </a:solidFill>
                <a:latin typeface="Arial" pitchFamily="34" charset="0"/>
                <a:ea typeface="Arial" pitchFamily="34" charset="-122"/>
                <a:cs typeface="Arial" pitchFamily="34" charset="-120"/>
              </a:rPr>
              <a:t>24</a:t>
            </a:r>
            <a:endParaRPr lang="en-US" sz="4050" dirty="0"/>
          </a:p>
        </p:txBody>
      </p:sp>
      <p:sp>
        <p:nvSpPr>
          <p:cNvPr id="7" name="Text 5"/>
          <p:cNvSpPr/>
          <p:nvPr/>
        </p:nvSpPr>
        <p:spPr>
          <a:xfrm>
            <a:off x="1247775" y="5543698"/>
            <a:ext cx="2856538"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C7268"/>
                </a:solidFill>
                <a:latin typeface="Arial" pitchFamily="34" charset="0"/>
                <a:ea typeface="Arial" pitchFamily="34" charset="-122"/>
                <a:cs typeface="Arial" pitchFamily="34" charset="-120"/>
              </a:rPr>
              <a:t>raw columns from several legacy systems</a:t>
            </a:r>
            <a:endParaRPr lang="en-US" sz="1950" dirty="0"/>
          </a:p>
        </p:txBody>
      </p:sp>
      <p:sp>
        <p:nvSpPr>
          <p:cNvPr id="8" name="Text 6"/>
          <p:cNvSpPr/>
          <p:nvPr/>
        </p:nvSpPr>
        <p:spPr>
          <a:xfrm>
            <a:off x="4278288" y="4105126"/>
            <a:ext cx="781050" cy="2883694"/>
          </a:xfrm>
          <a:prstGeom prst="rect">
            <a:avLst/>
          </a:prstGeom>
          <a:noFill/>
          <a:ln/>
        </p:spPr>
        <p:txBody>
          <a:bodyPr wrap="square" lIns="25400" tIns="25400" rIns="25400" bIns="25400" rtlCol="0" anchor="ctr">
            <a:normAutofit/>
          </a:bodyPr>
          <a:lstStyle/>
          <a:p>
            <a:pPr marL="0" indent="0" algn="ctr">
              <a:buNone/>
            </a:pPr>
            <a:r>
              <a:rPr lang="en-US" sz="3000" dirty="0">
                <a:solidFill>
                  <a:srgbClr val="66B3A1"/>
                </a:solidFill>
                <a:latin typeface="Arial" pitchFamily="34" charset="0"/>
                <a:ea typeface="Arial" pitchFamily="34" charset="-122"/>
                <a:cs typeface="Arial" pitchFamily="34" charset="-120"/>
              </a:rPr>
              <a:t>→</a:t>
            </a:r>
            <a:endParaRPr lang="en-US" sz="3000" dirty="0"/>
          </a:p>
        </p:txBody>
      </p:sp>
      <p:sp>
        <p:nvSpPr>
          <p:cNvPr id="9" name="Shape 7"/>
          <p:cNvSpPr/>
          <p:nvPr/>
        </p:nvSpPr>
        <p:spPr>
          <a:xfrm>
            <a:off x="5021238" y="4105126"/>
            <a:ext cx="4057204" cy="2845594"/>
          </a:xfrm>
          <a:prstGeom prst="roundRect">
            <a:avLst>
              <a:gd name="adj" fmla="val 3347"/>
            </a:avLst>
          </a:prstGeom>
          <a:solidFill>
            <a:srgbClr val="FFFFFF"/>
          </a:solidFill>
          <a:ln w="9525">
            <a:solidFill>
              <a:srgbClr val="D2E6DD"/>
            </a:solidFill>
            <a:prstDash val="solid"/>
          </a:ln>
        </p:spPr>
        <p:txBody>
          <a:bodyPr/>
          <a:lstStyle/>
          <a:p>
            <a:endParaRPr lang="en-GB"/>
          </a:p>
        </p:txBody>
      </p:sp>
      <p:sp>
        <p:nvSpPr>
          <p:cNvPr id="10" name="Text 8"/>
          <p:cNvSpPr/>
          <p:nvPr/>
        </p:nvSpPr>
        <p:spPr>
          <a:xfrm>
            <a:off x="5316513" y="4400401"/>
            <a:ext cx="381331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007A33"/>
                </a:solidFill>
                <a:latin typeface="Courier New" pitchFamily="34" charset="0"/>
                <a:ea typeface="Courier New" pitchFamily="34" charset="-122"/>
                <a:cs typeface="Courier New" pitchFamily="34" charset="-120"/>
              </a:rPr>
              <a:t>CLEAN &amp; STANDARDISE</a:t>
            </a:r>
            <a:endParaRPr lang="en-US" sz="1800" dirty="0"/>
          </a:p>
        </p:txBody>
      </p:sp>
      <p:sp>
        <p:nvSpPr>
          <p:cNvPr id="11" name="Text 9"/>
          <p:cNvSpPr/>
          <p:nvPr/>
        </p:nvSpPr>
        <p:spPr>
          <a:xfrm>
            <a:off x="5316513" y="4809976"/>
            <a:ext cx="3570653" cy="1883569"/>
          </a:xfrm>
          <a:prstGeom prst="rect">
            <a:avLst/>
          </a:prstGeom>
          <a:noFill/>
          <a:ln/>
        </p:spPr>
        <p:txBody>
          <a:bodyPr wrap="square" lIns="25400" tIns="25400" rIns="25400" bIns="25400" rtlCol="0" anchor="t">
            <a:normAutofit/>
          </a:bodyPr>
          <a:lstStyle/>
          <a:p>
            <a:pPr marL="0" indent="0" algn="l">
              <a:lnSpc>
                <a:spcPct val="155000"/>
              </a:lnSpc>
              <a:buNone/>
            </a:pPr>
            <a:r>
              <a:rPr lang="en-US" sz="1875" dirty="0">
                <a:solidFill>
                  <a:srgbClr val="244236"/>
                </a:solidFill>
                <a:latin typeface="Arial" pitchFamily="34" charset="0"/>
                <a:ea typeface="Arial" pitchFamily="34" charset="-122"/>
                <a:cs typeface="Arial" pitchFamily="34" charset="-120"/>
              </a:rPr>
              <a:t>Fix mixed units · parse two date formats Unify yes/no codes · z-score credit scores (train-only stats) Add missingness flags</a:t>
            </a:r>
            <a:endParaRPr lang="en-US" sz="1875" dirty="0"/>
          </a:p>
        </p:txBody>
      </p:sp>
      <p:sp>
        <p:nvSpPr>
          <p:cNvPr id="12" name="Text 10"/>
          <p:cNvSpPr/>
          <p:nvPr/>
        </p:nvSpPr>
        <p:spPr>
          <a:xfrm>
            <a:off x="9040341" y="4105126"/>
            <a:ext cx="781050" cy="2883694"/>
          </a:xfrm>
          <a:prstGeom prst="rect">
            <a:avLst/>
          </a:prstGeom>
          <a:noFill/>
          <a:ln/>
        </p:spPr>
        <p:txBody>
          <a:bodyPr wrap="square" lIns="25400" tIns="25400" rIns="25400" bIns="25400" rtlCol="0" anchor="ctr">
            <a:normAutofit/>
          </a:bodyPr>
          <a:lstStyle/>
          <a:p>
            <a:pPr marL="0" indent="0" algn="ctr">
              <a:buNone/>
            </a:pPr>
            <a:r>
              <a:rPr lang="en-US" sz="3000" dirty="0">
                <a:solidFill>
                  <a:srgbClr val="66B3A1"/>
                </a:solidFill>
                <a:latin typeface="Arial" pitchFamily="34" charset="0"/>
                <a:ea typeface="Arial" pitchFamily="34" charset="-122"/>
                <a:cs typeface="Arial" pitchFamily="34" charset="-120"/>
              </a:rPr>
              <a:t>→</a:t>
            </a:r>
            <a:endParaRPr lang="en-US" sz="3000" dirty="0"/>
          </a:p>
        </p:txBody>
      </p:sp>
      <p:sp>
        <p:nvSpPr>
          <p:cNvPr id="13" name="Shape 11"/>
          <p:cNvSpPr/>
          <p:nvPr/>
        </p:nvSpPr>
        <p:spPr>
          <a:xfrm>
            <a:off x="9783291" y="4105126"/>
            <a:ext cx="3502521" cy="2845594"/>
          </a:xfrm>
          <a:prstGeom prst="roundRect">
            <a:avLst>
              <a:gd name="adj" fmla="val 3347"/>
            </a:avLst>
          </a:prstGeom>
          <a:solidFill>
            <a:srgbClr val="FFFFFF"/>
          </a:solidFill>
          <a:ln w="9525">
            <a:solidFill>
              <a:srgbClr val="E3B9AC"/>
            </a:solidFill>
            <a:prstDash val="solid"/>
          </a:ln>
        </p:spPr>
        <p:txBody>
          <a:bodyPr/>
          <a:lstStyle/>
          <a:p>
            <a:endParaRPr lang="en-GB"/>
          </a:p>
        </p:txBody>
      </p:sp>
      <p:sp>
        <p:nvSpPr>
          <p:cNvPr id="14" name="Text 12"/>
          <p:cNvSpPr/>
          <p:nvPr/>
        </p:nvSpPr>
        <p:spPr>
          <a:xfrm>
            <a:off x="10078566" y="4715916"/>
            <a:ext cx="32031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B3573F"/>
                </a:solidFill>
                <a:latin typeface="Courier New" pitchFamily="34" charset="0"/>
                <a:ea typeface="Courier New" pitchFamily="34" charset="-122"/>
                <a:cs typeface="Courier New" pitchFamily="34" charset="-120"/>
              </a:rPr>
              <a:t>DROP 4 TRAPS</a:t>
            </a:r>
            <a:endParaRPr lang="en-US" sz="1800" dirty="0"/>
          </a:p>
        </p:txBody>
      </p:sp>
      <p:sp>
        <p:nvSpPr>
          <p:cNvPr id="15" name="Text 13"/>
          <p:cNvSpPr/>
          <p:nvPr/>
        </p:nvSpPr>
        <p:spPr>
          <a:xfrm>
            <a:off x="10078566" y="5125491"/>
            <a:ext cx="2999330" cy="1252538"/>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244236"/>
                </a:solidFill>
                <a:latin typeface="Arial" pitchFamily="34" charset="0"/>
                <a:ea typeface="Arial" pitchFamily="34" charset="-122"/>
                <a:cs typeface="Arial" pitchFamily="34" charset="-120"/>
              </a:rPr>
              <a:t>the leak · the missing column race · religion</a:t>
            </a:r>
            <a:endParaRPr lang="en-US" sz="1875" dirty="0"/>
          </a:p>
        </p:txBody>
      </p:sp>
      <p:sp>
        <p:nvSpPr>
          <p:cNvPr id="16" name="Text 14"/>
          <p:cNvSpPr/>
          <p:nvPr/>
        </p:nvSpPr>
        <p:spPr>
          <a:xfrm>
            <a:off x="13247712" y="4105126"/>
            <a:ext cx="781050" cy="2883694"/>
          </a:xfrm>
          <a:prstGeom prst="rect">
            <a:avLst/>
          </a:prstGeom>
          <a:noFill/>
          <a:ln/>
        </p:spPr>
        <p:txBody>
          <a:bodyPr wrap="square" lIns="25400" tIns="25400" rIns="25400" bIns="25400" rtlCol="0" anchor="ctr">
            <a:normAutofit/>
          </a:bodyPr>
          <a:lstStyle/>
          <a:p>
            <a:pPr marL="0" indent="0" algn="ctr">
              <a:buNone/>
            </a:pPr>
            <a:r>
              <a:rPr lang="en-US" sz="3000" dirty="0">
                <a:solidFill>
                  <a:srgbClr val="66B3A1"/>
                </a:solidFill>
                <a:latin typeface="Arial" pitchFamily="34" charset="0"/>
                <a:ea typeface="Arial" pitchFamily="34" charset="-122"/>
                <a:cs typeface="Arial" pitchFamily="34" charset="-120"/>
              </a:rPr>
              <a:t>→</a:t>
            </a:r>
            <a:endParaRPr lang="en-US" sz="3000" dirty="0"/>
          </a:p>
        </p:txBody>
      </p:sp>
      <p:sp>
        <p:nvSpPr>
          <p:cNvPr id="17" name="Shape 15"/>
          <p:cNvSpPr/>
          <p:nvPr/>
        </p:nvSpPr>
        <p:spPr>
          <a:xfrm>
            <a:off x="13990662" y="4105126"/>
            <a:ext cx="3344838" cy="2845594"/>
          </a:xfrm>
          <a:prstGeom prst="roundRect">
            <a:avLst>
              <a:gd name="adj" fmla="val 3347"/>
            </a:avLst>
          </a:prstGeom>
          <a:solidFill>
            <a:srgbClr val="1A7A57"/>
          </a:solidFill>
          <a:ln/>
        </p:spPr>
        <p:txBody>
          <a:bodyPr/>
          <a:lstStyle/>
          <a:p>
            <a:endParaRPr lang="en-GB"/>
          </a:p>
        </p:txBody>
      </p:sp>
      <p:sp>
        <p:nvSpPr>
          <p:cNvPr id="18" name="Text 16"/>
          <p:cNvSpPr/>
          <p:nvPr/>
        </p:nvSpPr>
        <p:spPr>
          <a:xfrm>
            <a:off x="14276412" y="4843611"/>
            <a:ext cx="3050671" cy="661987"/>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FFFFFF"/>
                </a:solidFill>
                <a:latin typeface="Arial" pitchFamily="34" charset="0"/>
                <a:ea typeface="Arial" pitchFamily="34" charset="-122"/>
                <a:cs typeface="Arial" pitchFamily="34" charset="-120"/>
              </a:rPr>
              <a:t>20</a:t>
            </a:r>
            <a:endParaRPr lang="en-US" sz="4050" dirty="0"/>
          </a:p>
        </p:txBody>
      </p:sp>
      <p:sp>
        <p:nvSpPr>
          <p:cNvPr id="19" name="Text 17"/>
          <p:cNvSpPr/>
          <p:nvPr/>
        </p:nvSpPr>
        <p:spPr>
          <a:xfrm>
            <a:off x="14276412" y="5543698"/>
            <a:ext cx="2856538"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B2E0D4"/>
                </a:solidFill>
                <a:latin typeface="Arial" pitchFamily="34" charset="0"/>
                <a:ea typeface="Arial" pitchFamily="34" charset="-122"/>
                <a:cs typeface="Arial" pitchFamily="34" charset="-120"/>
              </a:rPr>
              <a:t>features we trust, ready to model</a:t>
            </a:r>
            <a:endParaRPr lang="en-US" sz="1950" dirty="0"/>
          </a:p>
        </p:txBody>
      </p:sp>
      <p:sp>
        <p:nvSpPr>
          <p:cNvPr id="20" name="Text 18"/>
          <p:cNvSpPr/>
          <p:nvPr/>
        </p:nvSpPr>
        <p:spPr>
          <a:xfrm>
            <a:off x="952500" y="7331720"/>
            <a:ext cx="13342620" cy="80575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244236"/>
                </a:solidFill>
                <a:latin typeface="Arial" pitchFamily="34" charset="0"/>
                <a:ea typeface="Arial" pitchFamily="34" charset="-122"/>
                <a:cs typeface="Arial" pitchFamily="34" charset="-120"/>
              </a:rPr>
              <a:t>The same script cleans training </a:t>
            </a:r>
            <a:r>
              <a:rPr lang="en-US" sz="2025" b="1" dirty="0">
                <a:solidFill>
                  <a:srgbClr val="063D22"/>
                </a:solidFill>
                <a:latin typeface="Arial" pitchFamily="34" charset="0"/>
                <a:ea typeface="Arial" pitchFamily="34" charset="-122"/>
                <a:cs typeface="Arial" pitchFamily="34" charset="-120"/>
              </a:rPr>
              <a:t>and </a:t>
            </a:r>
            <a:r>
              <a:rPr lang="en-US" sz="2025" dirty="0">
                <a:solidFill>
                  <a:srgbClr val="244236"/>
                </a:solidFill>
                <a:latin typeface="Arial" pitchFamily="34" charset="0"/>
                <a:ea typeface="Arial" pitchFamily="34" charset="-122"/>
                <a:cs typeface="Arial" pitchFamily="34" charset="-120"/>
              </a:rPr>
              <a:t>test data identically, and adds </a:t>
            </a:r>
            <a:r>
              <a:rPr lang="en-US" sz="2025" b="1" dirty="0">
                <a:solidFill>
                  <a:srgbClr val="063D22"/>
                </a:solidFill>
                <a:latin typeface="Arial" pitchFamily="34" charset="0"/>
                <a:ea typeface="Arial" pitchFamily="34" charset="-122"/>
                <a:cs typeface="Arial" pitchFamily="34" charset="-120"/>
              </a:rPr>
              <a:t>missingness flags </a:t>
            </a:r>
            <a:r>
              <a:rPr lang="en-US" sz="2025" dirty="0">
                <a:solidFill>
                  <a:srgbClr val="244236"/>
                </a:solidFill>
                <a:latin typeface="Arial" pitchFamily="34" charset="0"/>
                <a:ea typeface="Arial" pitchFamily="34" charset="-122"/>
                <a:cs typeface="Arial" pitchFamily="34" charset="-120"/>
              </a:rPr>
              <a:t>- </a:t>
            </a:r>
            <a:r>
              <a:rPr lang="en-US" sz="1800" dirty="0">
                <a:solidFill>
                  <a:srgbClr val="244236"/>
                </a:solidFill>
                <a:latin typeface="Courier New" pitchFamily="34" charset="0"/>
                <a:ea typeface="Courier New" pitchFamily="34" charset="-122"/>
                <a:cs typeface="Courier New" pitchFamily="34" charset="-120"/>
              </a:rPr>
              <a:t>ann_income_missing</a:t>
            </a:r>
            <a:r>
              <a:rPr lang="en-US" sz="2025" dirty="0">
                <a:solidFill>
                  <a:srgbClr val="244236"/>
                </a:solidFill>
                <a:latin typeface="Arial" pitchFamily="34" charset="0"/>
                <a:ea typeface="Arial" pitchFamily="34" charset="-122"/>
                <a:cs typeface="Arial" pitchFamily="34" charset="-120"/>
              </a:rPr>
              <a:t>, </a:t>
            </a:r>
            <a:r>
              <a:rPr lang="en-US" sz="1800" dirty="0">
                <a:solidFill>
                  <a:srgbClr val="244236"/>
                </a:solidFill>
                <a:latin typeface="Courier New" pitchFamily="34" charset="0"/>
                <a:ea typeface="Courier New" pitchFamily="34" charset="-122"/>
                <a:cs typeface="Courier New" pitchFamily="34" charset="-120"/>
              </a:rPr>
              <a:t>other_income_missing</a:t>
            </a:r>
            <a:r>
              <a:rPr lang="en-US" sz="2025" dirty="0">
                <a:solidFill>
                  <a:srgbClr val="244236"/>
                </a:solidFill>
                <a:latin typeface="Arial" pitchFamily="34" charset="0"/>
                <a:ea typeface="Arial" pitchFamily="34" charset="-122"/>
                <a:cs typeface="Arial" pitchFamily="34" charset="-120"/>
              </a:rPr>
              <a:t>, </a:t>
            </a:r>
            <a:r>
              <a:rPr lang="en-US" sz="1800" dirty="0">
                <a:solidFill>
                  <a:srgbClr val="244236"/>
                </a:solidFill>
                <a:latin typeface="Courier New" pitchFamily="34" charset="0"/>
                <a:ea typeface="Courier New" pitchFamily="34" charset="-122"/>
                <a:cs typeface="Courier New" pitchFamily="34" charset="-120"/>
              </a:rPr>
              <a:t>prev_default_missing </a:t>
            </a:r>
            <a:r>
              <a:rPr lang="en-US" sz="2025" dirty="0">
                <a:solidFill>
                  <a:srgbClr val="244236"/>
                </a:solidFill>
                <a:latin typeface="Arial" pitchFamily="34" charset="0"/>
                <a:ea typeface="Arial" pitchFamily="34" charset="-122"/>
                <a:cs typeface="Arial" pitchFamily="34" charset="-120"/>
              </a:rPr>
              <a:t>- so “value absent” becomes usable signal.</a:t>
            </a:r>
            <a:endParaRPr lang="en-US" sz="2025" dirty="0"/>
          </a:p>
        </p:txBody>
      </p:sp>
      <p:sp>
        <p:nvSpPr>
          <p:cNvPr id="21" name="Text 19"/>
          <p:cNvSpPr/>
          <p:nvPr/>
        </p:nvSpPr>
        <p:spPr>
          <a:xfrm>
            <a:off x="952500" y="8232725"/>
            <a:ext cx="13342620"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C7268"/>
                </a:solidFill>
                <a:latin typeface="Arial" pitchFamily="34" charset="0"/>
                <a:ea typeface="Arial" pitchFamily="34" charset="-122"/>
                <a:cs typeface="Arial" pitchFamily="34" charset="-120"/>
              </a:rPr>
              <a:t>Credit scores are z-scored using </a:t>
            </a:r>
            <a:r>
              <a:rPr lang="en-US" sz="1800" b="1" dirty="0">
                <a:solidFill>
                  <a:srgbClr val="244236"/>
                </a:solidFill>
                <a:latin typeface="Arial" pitchFamily="34" charset="0"/>
                <a:ea typeface="Arial" pitchFamily="34" charset="-122"/>
                <a:cs typeface="Arial" pitchFamily="34" charset="-120"/>
              </a:rPr>
              <a:t>train-only statistics </a:t>
            </a:r>
            <a:r>
              <a:rPr lang="en-US" sz="1800" dirty="0">
                <a:solidFill>
                  <a:srgbClr val="5C7268"/>
                </a:solidFill>
                <a:latin typeface="Arial" pitchFamily="34" charset="0"/>
                <a:ea typeface="Arial" pitchFamily="34" charset="-122"/>
                <a:cs typeface="Arial" pitchFamily="34" charset="-120"/>
              </a:rPr>
              <a:t>(no test leakage) - the correct, leak-free choice; for tree models the accuracy effect is ~0.</a:t>
            </a:r>
            <a:endParaRPr lang="en-US" sz="1800" dirty="0"/>
          </a:p>
        </p:txBody>
      </p:sp>
      <p:sp>
        <p:nvSpPr>
          <p:cNvPr id="22" name="Shape 20"/>
          <p:cNvSpPr/>
          <p:nvPr/>
        </p:nvSpPr>
        <p:spPr>
          <a:xfrm>
            <a:off x="952500" y="9239250"/>
            <a:ext cx="16383000" cy="9525"/>
          </a:xfrm>
          <a:prstGeom prst="rect">
            <a:avLst/>
          </a:prstGeom>
          <a:solidFill>
            <a:srgbClr val="D2E6DD"/>
          </a:solidFill>
          <a:ln/>
        </p:spPr>
        <p:txBody>
          <a:bodyPr/>
          <a:lstStyle/>
          <a:p>
            <a:endParaRPr lang="en-GB"/>
          </a:p>
        </p:txBody>
      </p:sp>
      <p:sp>
        <p:nvSpPr>
          <p:cNvPr id="23" name="Text 21"/>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src/prep.py · single shared cleaning module</a:t>
            </a:r>
            <a:endParaRPr lang="en-US" sz="1800" dirty="0"/>
          </a:p>
        </p:txBody>
      </p:sp>
      <p:pic>
        <p:nvPicPr>
          <p:cNvPr id="24" name="Picture 23">
            <a:extLst>
              <a:ext uri="{FF2B5EF4-FFF2-40B4-BE49-F238E27FC236}">
                <a16:creationId xmlns:a16="http://schemas.microsoft.com/office/drawing/2014/main" id="{F92F4531-B16F-C979-C433-81F52CCEA065}"/>
              </a:ext>
            </a:extLst>
          </p:cNvPr>
          <p:cNvPicPr>
            <a:picLocks noChangeAspect="1"/>
          </p:cNvPicPr>
          <p:nvPr/>
        </p:nvPicPr>
        <p:blipFill>
          <a:blip r:embed="rId3"/>
          <a:stretch>
            <a:fillRect/>
          </a:stretch>
        </p:blipFill>
        <p:spPr>
          <a:xfrm>
            <a:off x="2401561" y="2150670"/>
            <a:ext cx="13277559" cy="16652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06 · THE SIGNALS THAT MATTERED</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Two overlooked signals did most of the work</a:t>
            </a:r>
            <a:endParaRPr lang="en-US" sz="3600" dirty="0"/>
          </a:p>
        </p:txBody>
      </p:sp>
      <p:sp>
        <p:nvSpPr>
          <p:cNvPr id="5" name="Text 3"/>
          <p:cNvSpPr/>
          <p:nvPr/>
        </p:nvSpPr>
        <p:spPr>
          <a:xfrm>
            <a:off x="952500" y="2350368"/>
            <a:ext cx="8717280" cy="38576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63D22"/>
                </a:solidFill>
                <a:latin typeface="Arial" pitchFamily="34" charset="0"/>
                <a:ea typeface="Arial" pitchFamily="34" charset="-122"/>
                <a:cs typeface="Arial" pitchFamily="34" charset="-120"/>
              </a:rPr>
              <a:t>Risk is worst at the extremes</a:t>
            </a:r>
            <a:endParaRPr lang="en-US" sz="2250" dirty="0"/>
          </a:p>
        </p:txBody>
      </p:sp>
      <p:sp>
        <p:nvSpPr>
          <p:cNvPr id="6" name="Text 4"/>
          <p:cNvSpPr/>
          <p:nvPr/>
        </p:nvSpPr>
        <p:spPr>
          <a:xfrm>
            <a:off x="952500" y="2755181"/>
            <a:ext cx="8162544" cy="681038"/>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75" dirty="0">
                <a:solidFill>
                  <a:srgbClr val="5C7268"/>
                </a:solidFill>
                <a:latin typeface="Arial" pitchFamily="34" charset="0"/>
                <a:ea typeface="Arial" pitchFamily="34" charset="-122"/>
                <a:cs typeface="Arial" pitchFamily="34" charset="-120"/>
              </a:rPr>
              <a:t>A straight-line check said the risk score was useless. The shape told the real story.</a:t>
            </a:r>
            <a:endParaRPr lang="en-US" sz="1875" dirty="0"/>
          </a:p>
        </p:txBody>
      </p:sp>
      <p:sp>
        <p:nvSpPr>
          <p:cNvPr id="7" name="Text 5"/>
          <p:cNvSpPr/>
          <p:nvPr/>
        </p:nvSpPr>
        <p:spPr>
          <a:xfrm>
            <a:off x="9410700" y="2350368"/>
            <a:ext cx="8717280" cy="385763"/>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63D22"/>
                </a:solidFill>
                <a:latin typeface="Arial" pitchFamily="34" charset="0"/>
                <a:ea typeface="Arial" pitchFamily="34" charset="-122"/>
                <a:cs typeface="Arial" pitchFamily="34" charset="-120"/>
              </a:rPr>
              <a:t>The analyst’s note gives it away</a:t>
            </a:r>
            <a:endParaRPr lang="en-US" sz="2250" dirty="0"/>
          </a:p>
        </p:txBody>
      </p:sp>
      <p:sp>
        <p:nvSpPr>
          <p:cNvPr id="8" name="Text 6"/>
          <p:cNvSpPr/>
          <p:nvPr/>
        </p:nvSpPr>
        <p:spPr>
          <a:xfrm>
            <a:off x="9410700" y="2755181"/>
            <a:ext cx="8162544" cy="68103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7268"/>
                </a:solidFill>
                <a:latin typeface="Arial" pitchFamily="34" charset="0"/>
                <a:ea typeface="Arial" pitchFamily="34" charset="-122"/>
                <a:cs typeface="Arial" pitchFamily="34" charset="-120"/>
              </a:rPr>
              <a:t>The free text is really 60 fixed comments in three tiers - no fancy text analysis needed.</a:t>
            </a:r>
            <a:endParaRPr lang="en-US" sz="1875" dirty="0"/>
          </a:p>
        </p:txBody>
      </p:sp>
      <p:sp>
        <p:nvSpPr>
          <p:cNvPr id="9" name="Shape 7"/>
          <p:cNvSpPr/>
          <p:nvPr/>
        </p:nvSpPr>
        <p:spPr>
          <a:xfrm>
            <a:off x="952500" y="9239250"/>
            <a:ext cx="16383000" cy="9525"/>
          </a:xfrm>
          <a:prstGeom prst="rect">
            <a:avLst/>
          </a:prstGeom>
          <a:solidFill>
            <a:srgbClr val="D2E6DD"/>
          </a:solidFill>
          <a:ln/>
        </p:spPr>
        <p:txBody>
          <a:bodyPr/>
          <a:lstStyle/>
          <a:p>
            <a:endParaRPr lang="en-GB"/>
          </a:p>
        </p:txBody>
      </p:sp>
      <p:sp>
        <p:nvSpPr>
          <p:cNvPr id="10" name="Text 8"/>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team analysis · final model uses 20 features</a:t>
            </a:r>
            <a:endParaRPr lang="en-US" sz="1800" dirty="0"/>
          </a:p>
        </p:txBody>
      </p:sp>
      <p:pic>
        <p:nvPicPr>
          <p:cNvPr id="11" name="Picture 10" descr="deck_risk.png"/>
          <p:cNvPicPr>
            <a:picLocks noChangeAspect="1"/>
          </p:cNvPicPr>
          <p:nvPr/>
        </p:nvPicPr>
        <p:blipFill>
          <a:blip r:embed="rId3"/>
          <a:stretch>
            <a:fillRect/>
          </a:stretch>
        </p:blipFill>
        <p:spPr>
          <a:xfrm>
            <a:off x="950976" y="3703320"/>
            <a:ext cx="8165592" cy="4727448"/>
          </a:xfrm>
          <a:prstGeom prst="rect">
            <a:avLst/>
          </a:prstGeom>
        </p:spPr>
      </p:pic>
      <p:pic>
        <p:nvPicPr>
          <p:cNvPr id="12" name="Picture 11" descr="deck_opinion.png"/>
          <p:cNvPicPr>
            <a:picLocks noChangeAspect="1"/>
          </p:cNvPicPr>
          <p:nvPr/>
        </p:nvPicPr>
        <p:blipFill>
          <a:blip r:embed="rId4"/>
          <a:stretch>
            <a:fillRect/>
          </a:stretch>
        </p:blipFill>
        <p:spPr>
          <a:xfrm>
            <a:off x="9409176" y="3703320"/>
            <a:ext cx="8165592" cy="4727448"/>
          </a:xfrm>
          <a:prstGeom prst="rect">
            <a:avLst/>
          </a:prstGeom>
        </p:spPr>
      </p:pic>
      <p:sp>
        <p:nvSpPr>
          <p:cNvPr id="13" name="TextBox 12">
            <a:extLst>
              <a:ext uri="{FF2B5EF4-FFF2-40B4-BE49-F238E27FC236}">
                <a16:creationId xmlns:a16="http://schemas.microsoft.com/office/drawing/2014/main" id="{93C6C84A-8D72-6B88-2FA7-01657B29A72D}"/>
              </a:ext>
            </a:extLst>
          </p:cNvPr>
          <p:cNvSpPr txBox="1"/>
          <p:nvPr/>
        </p:nvSpPr>
        <p:spPr>
          <a:xfrm>
            <a:off x="10394831" y="8640318"/>
            <a:ext cx="2646611" cy="369332"/>
          </a:xfrm>
          <a:prstGeom prst="rect">
            <a:avLst/>
          </a:prstGeom>
          <a:noFill/>
        </p:spPr>
        <p:txBody>
          <a:bodyPr wrap="square" rtlCol="0">
            <a:spAutoFit/>
          </a:bodyPr>
          <a:lstStyle/>
          <a:p>
            <a:r>
              <a:rPr lang="en-DE" b="1" cap="all" dirty="0"/>
              <a:t>Turn text to category </a:t>
            </a:r>
          </a:p>
        </p:txBody>
      </p:sp>
      <p:sp>
        <p:nvSpPr>
          <p:cNvPr id="14" name="TextBox 13">
            <a:extLst>
              <a:ext uri="{FF2B5EF4-FFF2-40B4-BE49-F238E27FC236}">
                <a16:creationId xmlns:a16="http://schemas.microsoft.com/office/drawing/2014/main" id="{AACC180B-A0C6-A78B-63DA-A769B29E2A7A}"/>
              </a:ext>
            </a:extLst>
          </p:cNvPr>
          <p:cNvSpPr txBox="1"/>
          <p:nvPr/>
        </p:nvSpPr>
        <p:spPr>
          <a:xfrm>
            <a:off x="14459663" y="8494284"/>
            <a:ext cx="2646611" cy="646331"/>
          </a:xfrm>
          <a:prstGeom prst="rect">
            <a:avLst/>
          </a:prstGeom>
          <a:noFill/>
        </p:spPr>
        <p:txBody>
          <a:bodyPr wrap="square" rtlCol="0">
            <a:spAutoFit/>
          </a:bodyPr>
          <a:lstStyle/>
          <a:p>
            <a:r>
              <a:rPr lang="en-DE" b="1" cap="all" dirty="0"/>
              <a:t>Gradient boost model (Lightgbm), no tf-idf</a:t>
            </a:r>
          </a:p>
        </p:txBody>
      </p:sp>
      <p:cxnSp>
        <p:nvCxnSpPr>
          <p:cNvPr id="16" name="Straight Arrow Connector 15">
            <a:extLst>
              <a:ext uri="{FF2B5EF4-FFF2-40B4-BE49-F238E27FC236}">
                <a16:creationId xmlns:a16="http://schemas.microsoft.com/office/drawing/2014/main" id="{D43197BD-2397-CC5B-FB91-B62AB2848916}"/>
              </a:ext>
            </a:extLst>
          </p:cNvPr>
          <p:cNvCxnSpPr>
            <a:cxnSpLocks/>
            <a:stCxn id="13" idx="3"/>
            <a:endCxn id="14" idx="1"/>
          </p:cNvCxnSpPr>
          <p:nvPr/>
        </p:nvCxnSpPr>
        <p:spPr>
          <a:xfrm flipV="1">
            <a:off x="13041442" y="8817450"/>
            <a:ext cx="1418221" cy="7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10B0613-D128-4C51-03A4-488D2F25D790}"/>
              </a:ext>
            </a:extLst>
          </p:cNvPr>
          <p:cNvSpPr txBox="1"/>
          <p:nvPr/>
        </p:nvSpPr>
        <p:spPr>
          <a:xfrm>
            <a:off x="4482509" y="8160071"/>
            <a:ext cx="2646611" cy="369332"/>
          </a:xfrm>
          <a:prstGeom prst="rect">
            <a:avLst/>
          </a:prstGeom>
          <a:noFill/>
        </p:spPr>
        <p:txBody>
          <a:bodyPr wrap="square" rtlCol="0">
            <a:spAutoFit/>
          </a:bodyPr>
          <a:lstStyle/>
          <a:p>
            <a:r>
              <a:rPr lang="en-DE" b="1" cap="all" dirty="0"/>
              <a:t>Risk_indicator</a:t>
            </a:r>
          </a:p>
        </p:txBody>
      </p:sp>
      <p:sp>
        <p:nvSpPr>
          <p:cNvPr id="15" name="TextBox 14">
            <a:extLst>
              <a:ext uri="{FF2B5EF4-FFF2-40B4-BE49-F238E27FC236}">
                <a16:creationId xmlns:a16="http://schemas.microsoft.com/office/drawing/2014/main" id="{D24B80BA-02FB-FB9D-EE23-EA84EA211ABD}"/>
              </a:ext>
            </a:extLst>
          </p:cNvPr>
          <p:cNvSpPr txBox="1"/>
          <p:nvPr/>
        </p:nvSpPr>
        <p:spPr>
          <a:xfrm>
            <a:off x="14459663" y="9179133"/>
            <a:ext cx="2884355" cy="646331"/>
          </a:xfrm>
          <a:prstGeom prst="rect">
            <a:avLst/>
          </a:prstGeom>
          <a:noFill/>
        </p:spPr>
        <p:txBody>
          <a:bodyPr wrap="square" rtlCol="0">
            <a:spAutoFit/>
          </a:bodyPr>
          <a:lstStyle/>
          <a:p>
            <a:r>
              <a:rPr lang="en-DE" b="1" dirty="0"/>
              <a:t>60 unique values across the entire dataset</a:t>
            </a:r>
            <a:endParaRPr lang="en-DE" b="1" cap="all"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7A57"/>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E0F7F1">
              <a:alpha val="35000"/>
            </a:srgbClr>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B2E0D4"/>
                </a:solidFill>
                <a:latin typeface="Courier New" pitchFamily="34" charset="0"/>
                <a:ea typeface="Courier New" pitchFamily="34" charset="-122"/>
                <a:cs typeface="Courier New" pitchFamily="34" charset="-120"/>
              </a:rPr>
              <a:t>07 · ETHICAL CONSIDERATIONS</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FFFFFF"/>
                </a:solidFill>
                <a:latin typeface="Arial" pitchFamily="34" charset="0"/>
                <a:ea typeface="Arial" pitchFamily="34" charset="-122"/>
                <a:cs typeface="Arial" pitchFamily="34" charset="-120"/>
              </a:rPr>
              <a:t>Using race or religion would lift accuracy - we said no</a:t>
            </a:r>
            <a:endParaRPr lang="en-US" sz="3600" dirty="0"/>
          </a:p>
        </p:txBody>
      </p:sp>
      <p:sp>
        <p:nvSpPr>
          <p:cNvPr id="5" name="Text 3"/>
          <p:cNvSpPr/>
          <p:nvPr/>
        </p:nvSpPr>
        <p:spPr>
          <a:xfrm>
            <a:off x="952500" y="3997524"/>
            <a:ext cx="846377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B2E0D4"/>
                </a:solidFill>
                <a:latin typeface="Courier New" pitchFamily="34" charset="0"/>
                <a:ea typeface="Courier New" pitchFamily="34" charset="-122"/>
                <a:cs typeface="Courier New" pitchFamily="34" charset="-120"/>
              </a:rPr>
              <a:t>Accuracy, with and without protected data</a:t>
            </a:r>
            <a:endParaRPr lang="en-US" sz="1800" dirty="0"/>
          </a:p>
        </p:txBody>
      </p:sp>
      <p:sp>
        <p:nvSpPr>
          <p:cNvPr id="6" name="Text 4"/>
          <p:cNvSpPr/>
          <p:nvPr/>
        </p:nvSpPr>
        <p:spPr>
          <a:xfrm>
            <a:off x="2146176" y="4637484"/>
            <a:ext cx="1354299" cy="500063"/>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FFFFF"/>
                </a:solidFill>
                <a:latin typeface="Arial" pitchFamily="34" charset="0"/>
                <a:ea typeface="Arial" pitchFamily="34" charset="-122"/>
                <a:cs typeface="Arial" pitchFamily="34" charset="-120"/>
              </a:rPr>
              <a:t>86.3%</a:t>
            </a:r>
            <a:endParaRPr lang="en-US" sz="3000" dirty="0"/>
          </a:p>
        </p:txBody>
      </p:sp>
      <p:sp>
        <p:nvSpPr>
          <p:cNvPr id="7" name="Shape 5"/>
          <p:cNvSpPr/>
          <p:nvPr/>
        </p:nvSpPr>
        <p:spPr>
          <a:xfrm>
            <a:off x="952500" y="5213747"/>
            <a:ext cx="3618533" cy="1509713"/>
          </a:xfrm>
          <a:prstGeom prst="roundRect">
            <a:avLst>
              <a:gd name="adj" fmla="val 5047"/>
            </a:avLst>
          </a:prstGeom>
          <a:solidFill>
            <a:srgbClr val="B2E0D4"/>
          </a:solidFill>
          <a:ln/>
        </p:spPr>
        <p:txBody>
          <a:bodyPr/>
          <a:lstStyle/>
          <a:p>
            <a:endParaRPr lang="en-GB"/>
          </a:p>
        </p:txBody>
      </p:sp>
      <p:sp>
        <p:nvSpPr>
          <p:cNvPr id="8" name="Text 6"/>
          <p:cNvSpPr/>
          <p:nvPr/>
        </p:nvSpPr>
        <p:spPr>
          <a:xfrm>
            <a:off x="1717551" y="6875859"/>
            <a:ext cx="2088356" cy="657225"/>
          </a:xfrm>
          <a:prstGeom prst="rect">
            <a:avLst/>
          </a:prstGeom>
          <a:noFill/>
          <a:ln/>
        </p:spPr>
        <p:txBody>
          <a:bodyPr wrap="square" lIns="25400" tIns="25400" rIns="25400" bIns="25400" rtlCol="0" anchor="t">
            <a:normAutofit fontScale="92500" lnSpcReduction="10000"/>
          </a:bodyPr>
          <a:lstStyle/>
          <a:p>
            <a:pPr marL="0" indent="0" algn="ctr">
              <a:lnSpc>
                <a:spcPct val="130000"/>
              </a:lnSpc>
              <a:buNone/>
            </a:pPr>
            <a:r>
              <a:rPr lang="en-US" sz="1875" dirty="0">
                <a:solidFill>
                  <a:srgbClr val="E0F7F1"/>
                </a:solidFill>
                <a:latin typeface="Arial" pitchFamily="34" charset="0"/>
                <a:ea typeface="Arial" pitchFamily="34" charset="-122"/>
                <a:cs typeface="Arial" pitchFamily="34" charset="-120"/>
              </a:rPr>
              <a:t>Our model (no protected data)</a:t>
            </a:r>
            <a:endParaRPr lang="en-US" sz="1875" dirty="0"/>
          </a:p>
        </p:txBody>
      </p:sp>
      <p:sp>
        <p:nvSpPr>
          <p:cNvPr id="9" name="Text 7"/>
          <p:cNvSpPr/>
          <p:nvPr/>
        </p:nvSpPr>
        <p:spPr>
          <a:xfrm>
            <a:off x="6292930" y="4366095"/>
            <a:ext cx="1343739" cy="500063"/>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FFFFF"/>
                </a:solidFill>
                <a:latin typeface="Arial" pitchFamily="34" charset="0"/>
                <a:ea typeface="Arial" pitchFamily="34" charset="-122"/>
                <a:cs typeface="Arial" pitchFamily="34" charset="-120"/>
              </a:rPr>
              <a:t>87.0%</a:t>
            </a:r>
            <a:endParaRPr lang="en-US" sz="3000" dirty="0"/>
          </a:p>
        </p:txBody>
      </p:sp>
      <p:sp>
        <p:nvSpPr>
          <p:cNvPr id="10" name="Shape 8"/>
          <p:cNvSpPr/>
          <p:nvPr/>
        </p:nvSpPr>
        <p:spPr>
          <a:xfrm>
            <a:off x="5028233" y="4835129"/>
            <a:ext cx="3618607" cy="1888332"/>
          </a:xfrm>
          <a:prstGeom prst="roundRect">
            <a:avLst>
              <a:gd name="adj" fmla="val 5047"/>
            </a:avLst>
          </a:prstGeom>
          <a:solidFill>
            <a:srgbClr val="E3B9AC"/>
          </a:solidFill>
          <a:ln/>
        </p:spPr>
        <p:txBody>
          <a:bodyPr/>
          <a:lstStyle/>
          <a:p>
            <a:endParaRPr lang="en-GB"/>
          </a:p>
        </p:txBody>
      </p:sp>
      <p:sp>
        <p:nvSpPr>
          <p:cNvPr id="11" name="Text 9"/>
          <p:cNvSpPr/>
          <p:nvPr/>
        </p:nvSpPr>
        <p:spPr>
          <a:xfrm>
            <a:off x="6038329" y="6875859"/>
            <a:ext cx="1598340" cy="657225"/>
          </a:xfrm>
          <a:prstGeom prst="rect">
            <a:avLst/>
          </a:prstGeom>
          <a:noFill/>
          <a:ln/>
        </p:spPr>
        <p:txBody>
          <a:bodyPr wrap="square" lIns="25400" tIns="25400" rIns="25400" bIns="25400" rtlCol="0" anchor="t">
            <a:normAutofit fontScale="92500" lnSpcReduction="10000"/>
          </a:bodyPr>
          <a:lstStyle/>
          <a:p>
            <a:pPr marL="0" indent="0" algn="ctr">
              <a:lnSpc>
                <a:spcPct val="130000"/>
              </a:lnSpc>
              <a:buNone/>
            </a:pPr>
            <a:r>
              <a:rPr lang="en-US" sz="1875" dirty="0">
                <a:solidFill>
                  <a:srgbClr val="E0F7F1"/>
                </a:solidFill>
                <a:latin typeface="Arial" pitchFamily="34" charset="0"/>
                <a:ea typeface="Arial" pitchFamily="34" charset="-122"/>
                <a:cs typeface="Arial" pitchFamily="34" charset="-120"/>
              </a:rPr>
              <a:t>If we added race &amp; religion</a:t>
            </a:r>
            <a:endParaRPr lang="en-US" sz="1875" dirty="0"/>
          </a:p>
        </p:txBody>
      </p:sp>
      <p:sp>
        <p:nvSpPr>
          <p:cNvPr id="12" name="Text 10"/>
          <p:cNvSpPr/>
          <p:nvPr/>
        </p:nvSpPr>
        <p:spPr>
          <a:xfrm>
            <a:off x="9256440" y="3882628"/>
            <a:ext cx="8886966"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FFFFFF"/>
                </a:solidFill>
                <a:latin typeface="Arial" pitchFamily="34" charset="0"/>
                <a:ea typeface="Arial" pitchFamily="34" charset="-122"/>
                <a:cs typeface="Arial" pitchFamily="34" charset="-120"/>
              </a:rPr>
              <a:t>+0.7 pt</a:t>
            </a:r>
            <a:endParaRPr lang="en-US" sz="6600" dirty="0"/>
          </a:p>
        </p:txBody>
      </p:sp>
      <p:sp>
        <p:nvSpPr>
          <p:cNvPr id="13" name="Text 11"/>
          <p:cNvSpPr/>
          <p:nvPr/>
        </p:nvSpPr>
        <p:spPr>
          <a:xfrm>
            <a:off x="9256440" y="4835128"/>
            <a:ext cx="888696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B2E0D4"/>
                </a:solidFill>
                <a:latin typeface="Arial" pitchFamily="34" charset="0"/>
                <a:ea typeface="Arial" pitchFamily="34" charset="-122"/>
                <a:cs typeface="Arial" pitchFamily="34" charset="-120"/>
              </a:rPr>
              <a:t>of accuracy - almost certainly enough for first place.</a:t>
            </a:r>
            <a:endParaRPr lang="en-US" sz="2250" dirty="0"/>
          </a:p>
        </p:txBody>
      </p:sp>
      <p:sp>
        <p:nvSpPr>
          <p:cNvPr id="14" name="Text 12"/>
          <p:cNvSpPr/>
          <p:nvPr/>
        </p:nvSpPr>
        <p:spPr>
          <a:xfrm>
            <a:off x="9256440" y="5525691"/>
            <a:ext cx="8321432" cy="12477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100" dirty="0">
                <a:solidFill>
                  <a:srgbClr val="E0F7F1"/>
                </a:solidFill>
                <a:latin typeface="Arial" pitchFamily="34" charset="0"/>
                <a:ea typeface="Arial" pitchFamily="34" charset="-122"/>
                <a:cs typeface="Arial" pitchFamily="34" charset="-120"/>
              </a:rPr>
              <a:t>These columns have </a:t>
            </a:r>
            <a:r>
              <a:rPr lang="en-US" sz="2100" b="1" dirty="0">
                <a:solidFill>
                  <a:srgbClr val="FFFFFF"/>
                </a:solidFill>
                <a:latin typeface="Arial" pitchFamily="34" charset="0"/>
                <a:ea typeface="Arial" pitchFamily="34" charset="-122"/>
                <a:cs typeface="Arial" pitchFamily="34" charset="-120"/>
              </a:rPr>
              <a:t>no link to real credit risk </a:t>
            </a:r>
            <a:r>
              <a:rPr lang="en-US" sz="2100" dirty="0">
                <a:solidFill>
                  <a:srgbClr val="E0F7F1"/>
                </a:solidFill>
                <a:latin typeface="Arial" pitchFamily="34" charset="0"/>
                <a:ea typeface="Arial" pitchFamily="34" charset="-122"/>
                <a:cs typeface="Arial" pitchFamily="34" charset="-120"/>
              </a:rPr>
              <a:t>, yet they change who gets approved - e.g. </a:t>
            </a:r>
            <a:r>
              <a:rPr lang="en-US" sz="2100" b="1" dirty="0">
                <a:solidFill>
                  <a:srgbClr val="FFFFFF"/>
                </a:solidFill>
                <a:latin typeface="Arial" pitchFamily="34" charset="0"/>
                <a:ea typeface="Arial" pitchFamily="34" charset="-122"/>
                <a:cs typeface="Arial" pitchFamily="34" charset="-120"/>
              </a:rPr>
              <a:t>56% vs 45% </a:t>
            </a:r>
            <a:r>
              <a:rPr lang="en-US" sz="2100" dirty="0">
                <a:solidFill>
                  <a:srgbClr val="E0F7F1"/>
                </a:solidFill>
                <a:latin typeface="Arial" pitchFamily="34" charset="0"/>
                <a:ea typeface="Arial" pitchFamily="34" charset="-122"/>
                <a:cs typeface="Arial" pitchFamily="34" charset="-120"/>
              </a:rPr>
              <a:t>for two groups with the same risk.</a:t>
            </a:r>
            <a:endParaRPr lang="en-US" sz="2100" dirty="0"/>
          </a:p>
        </p:txBody>
      </p:sp>
      <p:sp>
        <p:nvSpPr>
          <p:cNvPr id="15" name="Text 13"/>
          <p:cNvSpPr/>
          <p:nvPr/>
        </p:nvSpPr>
        <p:spPr>
          <a:xfrm>
            <a:off x="9256440" y="6944916"/>
            <a:ext cx="8321432"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FFFFFF"/>
                </a:solidFill>
                <a:latin typeface="Arial" pitchFamily="34" charset="0"/>
                <a:ea typeface="Arial" pitchFamily="34" charset="-122"/>
                <a:cs typeface="Arial" pitchFamily="34" charset="-120"/>
              </a:rPr>
              <a:t>So the gain isn’t better prediction. It’s discrimination - and it’s illegal. We left the points on the table.</a:t>
            </a:r>
            <a:endParaRPr lang="en-US" sz="2100" dirty="0"/>
          </a:p>
        </p:txBody>
      </p:sp>
      <p:sp>
        <p:nvSpPr>
          <p:cNvPr id="16" name="Shape 14"/>
          <p:cNvSpPr/>
          <p:nvPr/>
        </p:nvSpPr>
        <p:spPr>
          <a:xfrm>
            <a:off x="952500" y="9239250"/>
            <a:ext cx="16383000" cy="9525"/>
          </a:xfrm>
          <a:prstGeom prst="rect">
            <a:avLst/>
          </a:prstGeom>
          <a:solidFill>
            <a:srgbClr val="E0F7F1">
              <a:alpha val="25000"/>
            </a:srgbClr>
          </a:solidFill>
          <a:ln/>
        </p:spPr>
        <p:txBody>
          <a:bodyPr/>
          <a:lstStyle/>
          <a:p>
            <a:endParaRPr lang="en-GB"/>
          </a:p>
        </p:txBody>
      </p:sp>
      <p:sp>
        <p:nvSpPr>
          <p:cNvPr id="17" name="Text 15"/>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B2E0D4"/>
                </a:solidFill>
                <a:latin typeface="Courier New" pitchFamily="34" charset="0"/>
                <a:ea typeface="Courier New" pitchFamily="34" charset="-122"/>
                <a:cs typeface="Courier New" pitchFamily="34" charset="-120"/>
              </a:rPr>
              <a:t>Source: team fairness analysis · ECOA &amp; EU anti-discrimination law</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08 · HOW WE MODELED</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How our model turns features into a decision</a:t>
            </a:r>
            <a:endParaRPr lang="en-US" sz="3600" dirty="0"/>
          </a:p>
        </p:txBody>
      </p:sp>
      <p:sp>
        <p:nvSpPr>
          <p:cNvPr id="39" name="Shape 37"/>
          <p:cNvSpPr/>
          <p:nvPr/>
        </p:nvSpPr>
        <p:spPr>
          <a:xfrm>
            <a:off x="952500" y="9239250"/>
            <a:ext cx="16383000" cy="9525"/>
          </a:xfrm>
          <a:prstGeom prst="rect">
            <a:avLst/>
          </a:prstGeom>
          <a:solidFill>
            <a:srgbClr val="D2E6DD"/>
          </a:solidFill>
          <a:ln/>
        </p:spPr>
        <p:txBody>
          <a:bodyPr/>
          <a:lstStyle/>
          <a:p>
            <a:endParaRPr lang="en-GB"/>
          </a:p>
        </p:txBody>
      </p:sp>
      <p:sp>
        <p:nvSpPr>
          <p:cNvPr id="40" name="Text 38"/>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src/model_v10.py · 16-model ensemble (9 LGBM + 3 XGB + 4 CatBoost)</a:t>
            </a:r>
            <a:endParaRPr lang="en-US" sz="1800" dirty="0"/>
          </a:p>
        </p:txBody>
      </p:sp>
      <p:sp>
        <p:nvSpPr>
          <p:cNvPr id="41" name="Rounded Rectangle 40"/>
          <p:cNvSpPr/>
          <p:nvPr/>
        </p:nvSpPr>
        <p:spPr>
          <a:xfrm>
            <a:off x="950976" y="2697480"/>
            <a:ext cx="2743200" cy="1280160"/>
          </a:xfrm>
          <a:prstGeom prst="roundRect">
            <a:avLst/>
          </a:prstGeom>
          <a:solidFill>
            <a:srgbClr val="EAF3EF"/>
          </a:solidFill>
          <a:ln w="19050">
            <a:solidFill>
              <a:srgbClr val="2E8B6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63D22"/>
                </a:solidFill>
                <a:latin typeface="Arial"/>
              </a:rPr>
              <a:t>clean X</a:t>
            </a:r>
          </a:p>
          <a:p>
            <a:pPr algn="ctr"/>
            <a:r>
              <a:rPr sz="1300" b="0">
                <a:solidFill>
                  <a:srgbClr val="5C7268"/>
                </a:solidFill>
                <a:latin typeface="Arial"/>
              </a:rPr>
              <a:t>20 features</a:t>
            </a:r>
          </a:p>
        </p:txBody>
      </p:sp>
      <p:sp>
        <p:nvSpPr>
          <p:cNvPr id="45" name="Rounded Rectangle 44"/>
          <p:cNvSpPr/>
          <p:nvPr/>
        </p:nvSpPr>
        <p:spPr>
          <a:xfrm>
            <a:off x="10424160" y="2697480"/>
            <a:ext cx="3108960" cy="1280160"/>
          </a:xfrm>
          <a:prstGeom prst="roundRect">
            <a:avLst/>
          </a:prstGeom>
          <a:solidFill>
            <a:srgbClr val="2E8B6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de-DE" sz="1800" b="1" dirty="0" err="1">
                <a:solidFill>
                  <a:srgbClr val="FFFFFF"/>
                </a:solidFill>
                <a:latin typeface="Arial"/>
              </a:rPr>
              <a:t>Weighted</a:t>
            </a:r>
            <a:r>
              <a:rPr lang="de-DE" sz="1800" b="1" dirty="0">
                <a:solidFill>
                  <a:srgbClr val="FFFFFF"/>
                </a:solidFill>
                <a:latin typeface="Arial"/>
              </a:rPr>
              <a:t> </a:t>
            </a:r>
            <a:r>
              <a:rPr lang="de-DE" sz="1800" b="1" dirty="0" err="1">
                <a:solidFill>
                  <a:srgbClr val="FFFFFF"/>
                </a:solidFill>
                <a:latin typeface="Arial"/>
              </a:rPr>
              <a:t>tuned</a:t>
            </a:r>
            <a:r>
              <a:rPr lang="de-DE" sz="1800" b="1" dirty="0">
                <a:solidFill>
                  <a:srgbClr val="FFFFFF"/>
                </a:solidFill>
                <a:latin typeface="Arial"/>
              </a:rPr>
              <a:t> </a:t>
            </a:r>
            <a:r>
              <a:rPr sz="1800" b="1" dirty="0">
                <a:solidFill>
                  <a:srgbClr val="FFFFFF"/>
                </a:solidFill>
                <a:latin typeface="Arial"/>
              </a:rPr>
              <a:t>blend</a:t>
            </a:r>
          </a:p>
          <a:p>
            <a:pPr algn="ctr"/>
            <a:r>
              <a:rPr sz="1300" b="0" dirty="0">
                <a:solidFill>
                  <a:srgbClr val="EAF3EF"/>
                </a:solidFill>
                <a:latin typeface="Arial"/>
              </a:rPr>
              <a:t>16 → 1 probability</a:t>
            </a:r>
          </a:p>
        </p:txBody>
      </p:sp>
      <p:sp>
        <p:nvSpPr>
          <p:cNvPr id="46" name="Rounded Rectangle 45"/>
          <p:cNvSpPr/>
          <p:nvPr/>
        </p:nvSpPr>
        <p:spPr>
          <a:xfrm>
            <a:off x="14630400" y="2834640"/>
            <a:ext cx="2651760" cy="1005840"/>
          </a:xfrm>
          <a:prstGeom prst="roundRect">
            <a:avLst/>
          </a:prstGeom>
          <a:solidFill>
            <a:srgbClr val="063D2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rial"/>
              </a:rPr>
              <a:t>smooth cutoff</a:t>
            </a:r>
          </a:p>
          <a:p>
            <a:pPr algn="ctr"/>
            <a:r>
              <a:rPr sz="1300" b="0">
                <a:solidFill>
                  <a:srgbClr val="BCDDCE"/>
                </a:solidFill>
                <a:latin typeface="Arial"/>
              </a:rPr>
              <a:t>approve if p &gt; 0.527</a:t>
            </a:r>
          </a:p>
        </p:txBody>
      </p:sp>
      <p:cxnSp>
        <p:nvCxnSpPr>
          <p:cNvPr id="53" name="Connector 52"/>
          <p:cNvCxnSpPr/>
          <p:nvPr/>
        </p:nvCxnSpPr>
        <p:spPr>
          <a:xfrm>
            <a:off x="13533120" y="3337560"/>
            <a:ext cx="1097280" cy="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50976" y="6446520"/>
            <a:ext cx="10972800" cy="365760"/>
          </a:xfrm>
          <a:prstGeom prst="rect">
            <a:avLst/>
          </a:prstGeom>
          <a:noFill/>
        </p:spPr>
        <p:txBody>
          <a:bodyPr wrap="none">
            <a:spAutoFit/>
          </a:bodyPr>
          <a:lstStyle/>
          <a:p>
            <a:r>
              <a:rPr sz="2000" b="1">
                <a:solidFill>
                  <a:srgbClr val="063D22"/>
                </a:solidFill>
                <a:latin typeface="Arial"/>
              </a:rPr>
              <a:t>What drives the model - top features by gain</a:t>
            </a:r>
          </a:p>
        </p:txBody>
      </p:sp>
      <p:pic>
        <p:nvPicPr>
          <p:cNvPr id="57" name="Picture 56" descr="deck_importance_wide.png"/>
          <p:cNvPicPr>
            <a:picLocks noChangeAspect="1"/>
          </p:cNvPicPr>
          <p:nvPr/>
        </p:nvPicPr>
        <p:blipFill>
          <a:blip r:embed="rId3"/>
          <a:stretch>
            <a:fillRect/>
          </a:stretch>
        </p:blipFill>
        <p:spPr>
          <a:xfrm>
            <a:off x="950976" y="6858000"/>
            <a:ext cx="10058400" cy="2286000"/>
          </a:xfrm>
          <a:prstGeom prst="rect">
            <a:avLst/>
          </a:prstGeom>
        </p:spPr>
      </p:pic>
      <p:sp>
        <p:nvSpPr>
          <p:cNvPr id="58" name="Rounded Rectangle 57"/>
          <p:cNvSpPr/>
          <p:nvPr/>
        </p:nvSpPr>
        <p:spPr>
          <a:xfrm>
            <a:off x="11475720" y="6766560"/>
            <a:ext cx="5852160" cy="2057400"/>
          </a:xfrm>
          <a:prstGeom prst="roundRect">
            <a:avLst/>
          </a:prstGeom>
          <a:solidFill>
            <a:srgbClr val="EAF3EF"/>
          </a:solidFill>
          <a:ln>
            <a:noFill/>
          </a:ln>
          <a:effectLst/>
        </p:spPr>
        <p:style>
          <a:lnRef idx="1">
            <a:schemeClr val="accent1"/>
          </a:lnRef>
          <a:fillRef idx="3">
            <a:schemeClr val="accent1"/>
          </a:fillRef>
          <a:effectRef idx="2">
            <a:schemeClr val="accent1"/>
          </a:effectRef>
          <a:fontRef idx="minor">
            <a:schemeClr val="lt1"/>
          </a:fontRef>
        </p:style>
        <p:txBody>
          <a:bodyPr wrap="square" lIns="256032" tIns="182880" rIns="219456" bIns="128016" rtlCol="0" anchor="t"/>
          <a:lstStyle/>
          <a:p>
            <a:pPr algn="l"/>
            <a:r>
              <a:rPr sz="1700" b="1">
                <a:solidFill>
                  <a:srgbClr val="063D22"/>
                </a:solidFill>
                <a:latin typeface="Arial"/>
              </a:rPr>
              <a:t>Why blend 16 models?</a:t>
            </a:r>
          </a:p>
          <a:p>
            <a:pPr algn="l">
              <a:spcBef>
                <a:spcPts val="600"/>
              </a:spcBef>
            </a:pPr>
            <a:r>
              <a:rPr sz="1400">
                <a:solidFill>
                  <a:srgbClr val="5C7268"/>
                </a:solidFill>
                <a:latin typeface="Arial"/>
              </a:rPr>
              <a:t>Different model families make different mistakes. Averaging their predictions cancels the random part of each model's error and leaves the genuine signal - so the ensemble beats any single model.</a:t>
            </a:r>
          </a:p>
        </p:txBody>
      </p:sp>
      <p:sp>
        <p:nvSpPr>
          <p:cNvPr id="59" name="TextBox 58"/>
          <p:cNvSpPr txBox="1"/>
          <p:nvPr/>
        </p:nvSpPr>
        <p:spPr>
          <a:xfrm>
            <a:off x="11475720" y="8869680"/>
            <a:ext cx="5852160" cy="320040"/>
          </a:xfrm>
          <a:prstGeom prst="rect">
            <a:avLst/>
          </a:prstGeom>
          <a:noFill/>
        </p:spPr>
        <p:txBody>
          <a:bodyPr wrap="none">
            <a:spAutoFit/>
          </a:bodyPr>
          <a:lstStyle/>
          <a:p>
            <a:r>
              <a:rPr sz="1300" dirty="0">
                <a:solidFill>
                  <a:srgbClr val="007A33"/>
                </a:solidFill>
                <a:latin typeface="Arial"/>
              </a:rPr>
              <a:t>What each feature is → slide 9</a:t>
            </a:r>
          </a:p>
        </p:txBody>
      </p:sp>
      <p:sp>
        <p:nvSpPr>
          <p:cNvPr id="60" name="Rounded Rectangle 59"/>
          <p:cNvSpPr/>
          <p:nvPr/>
        </p:nvSpPr>
        <p:spPr>
          <a:xfrm>
            <a:off x="5029200" y="2011680"/>
            <a:ext cx="4114800" cy="822960"/>
          </a:xfrm>
          <a:prstGeom prst="roundRect">
            <a:avLst/>
          </a:prstGeom>
          <a:solidFill>
            <a:srgbClr val="FFFFFF"/>
          </a:solidFill>
          <a:ln w="19050">
            <a:solidFill>
              <a:srgbClr val="2E8B6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i="0" dirty="0">
                <a:solidFill>
                  <a:srgbClr val="063D22"/>
                </a:solidFill>
                <a:latin typeface="Arial"/>
              </a:rPr>
              <a:t>9 × </a:t>
            </a:r>
            <a:r>
              <a:rPr sz="1500" b="1" i="0" dirty="0" err="1">
                <a:solidFill>
                  <a:srgbClr val="063D22"/>
                </a:solidFill>
                <a:latin typeface="Arial"/>
              </a:rPr>
              <a:t>LightGBM</a:t>
            </a:r>
            <a:endParaRPr sz="1500" b="1" i="0" dirty="0">
              <a:solidFill>
                <a:srgbClr val="063D22"/>
              </a:solidFill>
              <a:latin typeface="Arial"/>
            </a:endParaRPr>
          </a:p>
          <a:p>
            <a:pPr algn="ctr"/>
            <a:r>
              <a:rPr sz="1150" b="0" i="0" dirty="0">
                <a:solidFill>
                  <a:srgbClr val="2E8B62"/>
                </a:solidFill>
                <a:latin typeface="Arial"/>
              </a:rPr>
              <a:t>Fast · native missing-value handling</a:t>
            </a:r>
            <a:r>
              <a:rPr lang="de-DE" sz="1150" b="0" i="0" dirty="0">
                <a:solidFill>
                  <a:srgbClr val="2E8B62"/>
                </a:solidFill>
                <a:latin typeface="Arial"/>
              </a:rPr>
              <a:t> </a:t>
            </a:r>
            <a:endParaRPr sz="1150" b="0" i="0" dirty="0">
              <a:solidFill>
                <a:srgbClr val="2E8B62"/>
              </a:solidFill>
              <a:latin typeface="Arial"/>
            </a:endParaRPr>
          </a:p>
          <a:p>
            <a:pPr algn="ctr"/>
            <a:r>
              <a:rPr sz="1000" b="0" i="0" dirty="0">
                <a:solidFill>
                  <a:srgbClr val="5C7268"/>
                </a:solidFill>
                <a:latin typeface="Arial"/>
              </a:rPr>
              <a:t>3 configs × 3 seeds</a:t>
            </a:r>
          </a:p>
        </p:txBody>
      </p:sp>
      <p:sp>
        <p:nvSpPr>
          <p:cNvPr id="61" name="Rounded Rectangle 60"/>
          <p:cNvSpPr/>
          <p:nvPr/>
        </p:nvSpPr>
        <p:spPr>
          <a:xfrm>
            <a:off x="5029200" y="2926080"/>
            <a:ext cx="4114800" cy="822960"/>
          </a:xfrm>
          <a:prstGeom prst="roundRect">
            <a:avLst/>
          </a:prstGeom>
          <a:solidFill>
            <a:srgbClr val="FFFFFF"/>
          </a:solidFill>
          <a:ln w="19050">
            <a:solidFill>
              <a:srgbClr val="2E8B6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i="0" dirty="0">
                <a:solidFill>
                  <a:srgbClr val="063D22"/>
                </a:solidFill>
                <a:latin typeface="Arial"/>
              </a:rPr>
              <a:t>3 × </a:t>
            </a:r>
            <a:r>
              <a:rPr sz="1500" b="1" i="0" dirty="0" err="1">
                <a:solidFill>
                  <a:srgbClr val="063D22"/>
                </a:solidFill>
                <a:latin typeface="Arial"/>
              </a:rPr>
              <a:t>XGBoost</a:t>
            </a:r>
            <a:endParaRPr sz="1500" b="1" i="0" dirty="0">
              <a:solidFill>
                <a:srgbClr val="063D22"/>
              </a:solidFill>
              <a:latin typeface="Arial"/>
            </a:endParaRPr>
          </a:p>
          <a:p>
            <a:pPr algn="ctr"/>
            <a:r>
              <a:rPr sz="1150" b="0" i="0" dirty="0">
                <a:solidFill>
                  <a:srgbClr val="2E8B62"/>
                </a:solidFill>
                <a:latin typeface="Arial"/>
              </a:rPr>
              <a:t>Different algorithm → adds diversity</a:t>
            </a:r>
          </a:p>
          <a:p>
            <a:pPr algn="ctr"/>
            <a:r>
              <a:rPr sz="1000" b="0" i="0" dirty="0">
                <a:solidFill>
                  <a:srgbClr val="5C7268"/>
                </a:solidFill>
                <a:latin typeface="Arial"/>
              </a:rPr>
              <a:t>3 seeds</a:t>
            </a:r>
          </a:p>
        </p:txBody>
      </p:sp>
      <p:sp>
        <p:nvSpPr>
          <p:cNvPr id="62" name="Rounded Rectangle 61"/>
          <p:cNvSpPr/>
          <p:nvPr/>
        </p:nvSpPr>
        <p:spPr>
          <a:xfrm>
            <a:off x="5029200" y="3840480"/>
            <a:ext cx="4114800" cy="822960"/>
          </a:xfrm>
          <a:prstGeom prst="roundRect">
            <a:avLst/>
          </a:prstGeom>
          <a:solidFill>
            <a:srgbClr val="FFFFFF"/>
          </a:solidFill>
          <a:ln w="19050">
            <a:solidFill>
              <a:srgbClr val="2E8B6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i="0">
                <a:solidFill>
                  <a:srgbClr val="063D22"/>
                </a:solidFill>
                <a:latin typeface="Arial"/>
              </a:rPr>
              <a:t>4 × CatBoost</a:t>
            </a:r>
          </a:p>
          <a:p>
            <a:pPr algn="ctr"/>
            <a:r>
              <a:rPr sz="1150" b="0" i="0">
                <a:solidFill>
                  <a:srgbClr val="2E8B62"/>
                </a:solidFill>
                <a:latin typeface="Arial"/>
              </a:rPr>
              <a:t>Best on categoricals (the analyst note)</a:t>
            </a:r>
          </a:p>
          <a:p>
            <a:pPr algn="ctr"/>
            <a:r>
              <a:rPr sz="1000" b="0" i="0">
                <a:solidFill>
                  <a:srgbClr val="5C7268"/>
                </a:solidFill>
                <a:latin typeface="Arial"/>
              </a:rPr>
              <a:t>2 configs × 2 seeds</a:t>
            </a:r>
          </a:p>
        </p:txBody>
      </p:sp>
      <p:cxnSp>
        <p:nvCxnSpPr>
          <p:cNvPr id="63" name="Connector 62"/>
          <p:cNvCxnSpPr/>
          <p:nvPr/>
        </p:nvCxnSpPr>
        <p:spPr>
          <a:xfrm flipV="1">
            <a:off x="3694176" y="2423160"/>
            <a:ext cx="1335024" cy="91440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694176" y="3337560"/>
            <a:ext cx="1335024" cy="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694176" y="3337560"/>
            <a:ext cx="1335024" cy="91440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144000" y="2423160"/>
            <a:ext cx="1280160" cy="91440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144000" y="3337560"/>
            <a:ext cx="1280160" cy="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144000" y="3337560"/>
            <a:ext cx="1280160" cy="914400"/>
          </a:xfrm>
          <a:prstGeom prst="line">
            <a:avLst/>
          </a:prstGeom>
          <a:ln w="28575">
            <a:solidFill>
              <a:srgbClr val="063D2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950976" y="4846320"/>
            <a:ext cx="16367759" cy="1417320"/>
          </a:xfrm>
          <a:prstGeom prst="roundRect">
            <a:avLst/>
          </a:prstGeom>
          <a:solidFill>
            <a:srgbClr val="F4F8F6"/>
          </a:solidFill>
          <a:ln w="12700">
            <a:solidFill>
              <a:srgbClr val="C8D4CF"/>
            </a:solid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bIns="109728" rtlCol="0" anchor="ctr"/>
          <a:lstStyle/>
          <a:p>
            <a:pPr algn="ctr">
              <a:spcAft>
                <a:spcPts val="300"/>
              </a:spcAft>
            </a:pPr>
            <a:r>
              <a:rPr sz="1600" b="1" i="0">
                <a:solidFill>
                  <a:srgbClr val="063D22"/>
                </a:solidFill>
                <a:latin typeface="Arial"/>
              </a:rPr>
              <a:t>Pseudo-labeling  -  learning from the new month</a:t>
            </a:r>
          </a:p>
          <a:p>
            <a:pPr algn="ctr">
              <a:spcAft>
                <a:spcPts val="300"/>
              </a:spcAft>
            </a:pPr>
            <a:r>
              <a:rPr sz="1400" b="0" i="0">
                <a:solidFill>
                  <a:srgbClr val="5C7268"/>
                </a:solidFill>
                <a:latin typeface="Arial"/>
              </a:rPr>
              <a:t>The ensemble's most confident test predictions (≥ 0.97) are added back into training as extra examples, at half weight, so the model adapts to the May-2026 patterns it has to predict.</a:t>
            </a:r>
          </a:p>
          <a:p>
            <a:pPr algn="ctr">
              <a:spcAft>
                <a:spcPts val="300"/>
              </a:spcAft>
            </a:pPr>
            <a:r>
              <a:rPr sz="1300" b="0" i="1">
                <a:solidFill>
                  <a:srgbClr val="5C7268"/>
                </a:solidFill>
                <a:latin typeface="Arial"/>
              </a:rPr>
              <a:t>Kept safe - only very confident rows, down-weighted - and the gain is measured, not assumed:  +0.14 pt on rolling validation.</a:t>
            </a:r>
          </a:p>
        </p:txBody>
      </p:sp>
      <p:sp>
        <p:nvSpPr>
          <p:cNvPr id="6" name="TextBox 5">
            <a:extLst>
              <a:ext uri="{FF2B5EF4-FFF2-40B4-BE49-F238E27FC236}">
                <a16:creationId xmlns:a16="http://schemas.microsoft.com/office/drawing/2014/main" id="{F0C4F650-6F9E-2C83-CF82-59BC68D8AEB7}"/>
              </a:ext>
            </a:extLst>
          </p:cNvPr>
          <p:cNvSpPr txBox="1"/>
          <p:nvPr/>
        </p:nvSpPr>
        <p:spPr>
          <a:xfrm>
            <a:off x="3590986" y="1952625"/>
            <a:ext cx="1438214" cy="292388"/>
          </a:xfrm>
          <a:prstGeom prst="rect">
            <a:avLst/>
          </a:prstGeom>
          <a:noFill/>
        </p:spPr>
        <p:txBody>
          <a:bodyPr wrap="none">
            <a:spAutoFit/>
          </a:bodyPr>
          <a:lstStyle/>
          <a:p>
            <a:r>
              <a:rPr lang="de-DE" sz="1300" b="1" dirty="0">
                <a:solidFill>
                  <a:srgbClr val="007A33"/>
                </a:solidFill>
                <a:latin typeface="Arial"/>
              </a:rPr>
              <a:t>Random </a:t>
            </a:r>
            <a:r>
              <a:rPr lang="de-DE" sz="1300" b="1" dirty="0" err="1">
                <a:solidFill>
                  <a:srgbClr val="007A33"/>
                </a:solidFill>
                <a:latin typeface="Arial"/>
              </a:rPr>
              <a:t>search</a:t>
            </a:r>
            <a:endParaRPr sz="1300" b="1" dirty="0">
              <a:solidFill>
                <a:srgbClr val="007A33"/>
              </a:solidFill>
              <a:latin typeface="Arial"/>
            </a:endParaRPr>
          </a:p>
        </p:txBody>
      </p:sp>
      <p:sp>
        <p:nvSpPr>
          <p:cNvPr id="7" name="TextBox 6">
            <a:extLst>
              <a:ext uri="{FF2B5EF4-FFF2-40B4-BE49-F238E27FC236}">
                <a16:creationId xmlns:a16="http://schemas.microsoft.com/office/drawing/2014/main" id="{27C5012B-4219-D21C-1146-55198B6A3D05}"/>
              </a:ext>
            </a:extLst>
          </p:cNvPr>
          <p:cNvSpPr txBox="1"/>
          <p:nvPr/>
        </p:nvSpPr>
        <p:spPr>
          <a:xfrm>
            <a:off x="9144000" y="1924786"/>
            <a:ext cx="1326004" cy="338554"/>
          </a:xfrm>
          <a:prstGeom prst="rect">
            <a:avLst/>
          </a:prstGeom>
          <a:noFill/>
        </p:spPr>
        <p:txBody>
          <a:bodyPr wrap="none">
            <a:spAutoFit/>
          </a:bodyPr>
          <a:lstStyle/>
          <a:p>
            <a:r>
              <a:rPr lang="de-DE" sz="1600" b="1" dirty="0" err="1">
                <a:solidFill>
                  <a:srgbClr val="007A33"/>
                </a:solidFill>
                <a:latin typeface="Arial"/>
              </a:rPr>
              <a:t>Grid</a:t>
            </a:r>
            <a:r>
              <a:rPr lang="de-DE" sz="1600" b="1" dirty="0">
                <a:solidFill>
                  <a:srgbClr val="007A33"/>
                </a:solidFill>
                <a:latin typeface="Arial"/>
              </a:rPr>
              <a:t> </a:t>
            </a:r>
            <a:r>
              <a:rPr lang="de-DE" sz="1600" b="1" dirty="0" err="1">
                <a:solidFill>
                  <a:srgbClr val="007A33"/>
                </a:solidFill>
                <a:latin typeface="Arial"/>
              </a:rPr>
              <a:t>search</a:t>
            </a:r>
            <a:endParaRPr sz="1600" b="1" dirty="0">
              <a:solidFill>
                <a:srgbClr val="007A33"/>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lang="en-GB"/>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09 · FEATURES WE BUILT</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The features we engineered</a:t>
            </a:r>
            <a:endParaRPr lang="en-US" sz="3600" dirty="0"/>
          </a:p>
        </p:txBody>
      </p:sp>
      <p:sp>
        <p:nvSpPr>
          <p:cNvPr id="20" name="Shape 18"/>
          <p:cNvSpPr/>
          <p:nvPr/>
        </p:nvSpPr>
        <p:spPr>
          <a:xfrm>
            <a:off x="952500" y="9239250"/>
            <a:ext cx="16383000" cy="9525"/>
          </a:xfrm>
          <a:prstGeom prst="rect">
            <a:avLst/>
          </a:prstGeom>
          <a:solidFill>
            <a:srgbClr val="D2E6DD"/>
          </a:solidFill>
          <a:ln/>
        </p:spPr>
        <p:txBody>
          <a:bodyPr/>
          <a:lstStyle/>
          <a:p>
            <a:endParaRPr lang="en-GB"/>
          </a:p>
        </p:txBody>
      </p:sp>
      <p:sp>
        <p:nvSpPr>
          <p:cNvPr id="21" name="Text 19"/>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src/prep.py · engineered features ranked on slide 8</a:t>
            </a:r>
            <a:endParaRPr lang="en-US" sz="1800" dirty="0"/>
          </a:p>
        </p:txBody>
      </p:sp>
      <p:graphicFrame>
        <p:nvGraphicFramePr>
          <p:cNvPr id="22" name="Table 21"/>
          <p:cNvGraphicFramePr>
            <a:graphicFrameLocks noGrp="1"/>
          </p:cNvGraphicFramePr>
          <p:nvPr/>
        </p:nvGraphicFramePr>
        <p:xfrm>
          <a:off x="950976" y="2468880"/>
          <a:ext cx="16367760" cy="6035040"/>
        </p:xfrm>
        <a:graphic>
          <a:graphicData uri="http://schemas.openxmlformats.org/drawingml/2006/table">
            <a:tbl>
              <a:tblPr>
                <a:tableStyleId>{5C22544A-7EE6-4342-B048-85BDC9FD1C3A}</a:tableStyleId>
              </a:tblPr>
              <a:tblGrid>
                <a:gridCol w="393192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754380">
                <a:tc>
                  <a:txBody>
                    <a:bodyPr/>
                    <a:lstStyle/>
                    <a:p>
                      <a:pPr algn="l"/>
                      <a:r>
                        <a:rPr sz="1600" b="1">
                          <a:solidFill>
                            <a:srgbClr val="FFFFFF"/>
                          </a:solidFill>
                          <a:latin typeface="Arial"/>
                        </a:rPr>
                        <a:t>Feature</a:t>
                      </a:r>
                    </a:p>
                  </a:txBody>
                  <a:tcPr marL="164592" marT="54864" marB="54864" anchor="ctr">
                    <a:solidFill>
                      <a:srgbClr val="063D22"/>
                    </a:solidFill>
                  </a:tcPr>
                </a:tc>
                <a:tc>
                  <a:txBody>
                    <a:bodyPr/>
                    <a:lstStyle/>
                    <a:p>
                      <a:pPr algn="l"/>
                      <a:r>
                        <a:rPr sz="1600" b="1">
                          <a:solidFill>
                            <a:srgbClr val="FFFFFF"/>
                          </a:solidFill>
                          <a:latin typeface="Arial"/>
                        </a:rPr>
                        <a:t>What it is</a:t>
                      </a:r>
                    </a:p>
                  </a:txBody>
                  <a:tcPr marL="164592" marT="54864" marB="54864" anchor="ctr">
                    <a:solidFill>
                      <a:srgbClr val="063D22"/>
                    </a:solidFill>
                  </a:tcPr>
                </a:tc>
                <a:tc>
                  <a:txBody>
                    <a:bodyPr/>
                    <a:lstStyle/>
                    <a:p>
                      <a:pPr algn="l"/>
                      <a:r>
                        <a:rPr sz="1600" b="1">
                          <a:solidFill>
                            <a:srgbClr val="FFFFFF"/>
                          </a:solidFill>
                          <a:latin typeface="Arial"/>
                        </a:rPr>
                        <a:t>Why we made it</a:t>
                      </a:r>
                    </a:p>
                  </a:txBody>
                  <a:tcPr marL="164592" marT="54864" marB="54864" anchor="ctr">
                    <a:solidFill>
                      <a:srgbClr val="063D22"/>
                    </a:solidFill>
                  </a:tcPr>
                </a:tc>
                <a:extLst>
                  <a:ext uri="{0D108BD9-81ED-4DB2-BD59-A6C34878D82A}">
                    <a16:rowId xmlns:a16="http://schemas.microsoft.com/office/drawing/2014/main" val="10000"/>
                  </a:ext>
                </a:extLst>
              </a:tr>
              <a:tr h="754380">
                <a:tc>
                  <a:txBody>
                    <a:bodyPr/>
                    <a:lstStyle/>
                    <a:p>
                      <a:pPr algn="l"/>
                      <a:r>
                        <a:rPr sz="1400">
                          <a:solidFill>
                            <a:srgbClr val="14533B"/>
                          </a:solidFill>
                          <a:latin typeface="Courier New"/>
                        </a:rPr>
                        <a:t>risk_mean · risk_max</a:t>
                      </a:r>
                    </a:p>
                  </a:txBody>
                  <a:tcPr marL="164592" marT="54864" marB="54864" anchor="ctr">
                    <a:solidFill>
                      <a:srgbClr val="EAF3EF"/>
                    </a:solidFill>
                  </a:tcPr>
                </a:tc>
                <a:tc>
                  <a:txBody>
                    <a:bodyPr/>
                    <a:lstStyle/>
                    <a:p>
                      <a:pPr algn="l"/>
                      <a:r>
                        <a:rPr sz="1400">
                          <a:solidFill>
                            <a:srgbClr val="143A2B"/>
                          </a:solidFill>
                          <a:latin typeface="Arial"/>
                        </a:rPr>
                        <a:t>Average, and the higher (worse), of the two risk scores</a:t>
                      </a:r>
                    </a:p>
                  </a:txBody>
                  <a:tcPr marL="164592" marT="54864" marB="54864" anchor="ctr">
                    <a:solidFill>
                      <a:srgbClr val="EAF3EF"/>
                    </a:solidFill>
                  </a:tcPr>
                </a:tc>
                <a:tc>
                  <a:txBody>
                    <a:bodyPr/>
                    <a:lstStyle/>
                    <a:p>
                      <a:pPr algn="l"/>
                      <a:r>
                        <a:rPr sz="1400">
                          <a:solidFill>
                            <a:srgbClr val="5C7268"/>
                          </a:solidFill>
                          <a:latin typeface="Arial"/>
                        </a:rPr>
                        <a:t>One combined risk level - plus a flag when either source is high</a:t>
                      </a:r>
                    </a:p>
                  </a:txBody>
                  <a:tcPr marL="164592" marT="54864" marB="54864" anchor="ctr">
                    <a:solidFill>
                      <a:srgbClr val="EAF3EF"/>
                    </a:solidFill>
                  </a:tcPr>
                </a:tc>
                <a:extLst>
                  <a:ext uri="{0D108BD9-81ED-4DB2-BD59-A6C34878D82A}">
                    <a16:rowId xmlns:a16="http://schemas.microsoft.com/office/drawing/2014/main" val="10001"/>
                  </a:ext>
                </a:extLst>
              </a:tr>
              <a:tr h="754380">
                <a:tc>
                  <a:txBody>
                    <a:bodyPr/>
                    <a:lstStyle/>
                    <a:p>
                      <a:pPr algn="l"/>
                      <a:r>
                        <a:rPr sz="1400">
                          <a:solidFill>
                            <a:srgbClr val="14533B"/>
                          </a:solidFill>
                          <a:latin typeface="Courier New"/>
                        </a:rPr>
                        <a:t>risk_dev</a:t>
                      </a:r>
                    </a:p>
                  </a:txBody>
                  <a:tcPr marL="164592" marT="54864" marB="54864" anchor="ctr">
                    <a:solidFill>
                      <a:srgbClr val="FFFFFF"/>
                    </a:solidFill>
                  </a:tcPr>
                </a:tc>
                <a:tc>
                  <a:txBody>
                    <a:bodyPr/>
                    <a:lstStyle/>
                    <a:p>
                      <a:pPr algn="l"/>
                      <a:r>
                        <a:rPr sz="1400">
                          <a:solidFill>
                            <a:srgbClr val="143A2B"/>
                          </a:solidFill>
                          <a:latin typeface="Arial"/>
                        </a:rPr>
                        <a:t>How far the risk score sits from the safe middle  (|risk − 55|)</a:t>
                      </a:r>
                    </a:p>
                  </a:txBody>
                  <a:tcPr marL="164592" marT="54864" marB="54864" anchor="ctr">
                    <a:solidFill>
                      <a:srgbClr val="FFFFFF"/>
                    </a:solidFill>
                  </a:tcPr>
                </a:tc>
                <a:tc>
                  <a:txBody>
                    <a:bodyPr/>
                    <a:lstStyle/>
                    <a:p>
                      <a:pPr algn="l"/>
                      <a:r>
                        <a:rPr sz="1400">
                          <a:solidFill>
                            <a:srgbClr val="5C7268"/>
                          </a:solidFill>
                          <a:latin typeface="Arial"/>
                        </a:rPr>
                        <a:t>Approval peaks mid-scale and drops at both ends - this captures that hump</a:t>
                      </a:r>
                    </a:p>
                  </a:txBody>
                  <a:tcPr marL="164592" marT="54864" marB="54864" anchor="ctr">
                    <a:solidFill>
                      <a:srgbClr val="FFFFFF"/>
                    </a:solidFill>
                  </a:tcPr>
                </a:tc>
                <a:extLst>
                  <a:ext uri="{0D108BD9-81ED-4DB2-BD59-A6C34878D82A}">
                    <a16:rowId xmlns:a16="http://schemas.microsoft.com/office/drawing/2014/main" val="10002"/>
                  </a:ext>
                </a:extLst>
              </a:tr>
              <a:tr h="754380">
                <a:tc>
                  <a:txBody>
                    <a:bodyPr/>
                    <a:lstStyle/>
                    <a:p>
                      <a:pPr algn="l"/>
                      <a:r>
                        <a:rPr sz="1400">
                          <a:solidFill>
                            <a:srgbClr val="14533B"/>
                          </a:solidFill>
                          <a:latin typeface="Courier New"/>
                        </a:rPr>
                        <a:t>amt_to_income</a:t>
                      </a:r>
                    </a:p>
                  </a:txBody>
                  <a:tcPr marL="164592" marT="54864" marB="54864" anchor="ctr">
                    <a:solidFill>
                      <a:srgbClr val="EAF3EF"/>
                    </a:solidFill>
                  </a:tcPr>
                </a:tc>
                <a:tc>
                  <a:txBody>
                    <a:bodyPr/>
                    <a:lstStyle/>
                    <a:p>
                      <a:pPr algn="l"/>
                      <a:r>
                        <a:rPr sz="1400">
                          <a:solidFill>
                            <a:srgbClr val="143A2B"/>
                          </a:solidFill>
                          <a:latin typeface="Arial"/>
                        </a:rPr>
                        <a:t>Loan amount ÷ total income</a:t>
                      </a:r>
                    </a:p>
                  </a:txBody>
                  <a:tcPr marL="164592" marT="54864" marB="54864" anchor="ctr">
                    <a:solidFill>
                      <a:srgbClr val="EAF3EF"/>
                    </a:solidFill>
                  </a:tcPr>
                </a:tc>
                <a:tc>
                  <a:txBody>
                    <a:bodyPr/>
                    <a:lstStyle/>
                    <a:p>
                      <a:pPr algn="l"/>
                      <a:r>
                        <a:rPr sz="1400">
                          <a:solidFill>
                            <a:srgbClr val="5C7268"/>
                          </a:solidFill>
                          <a:latin typeface="Arial"/>
                        </a:rPr>
                        <a:t>Affordability - loan size vs. what they earn (a credit standard)</a:t>
                      </a:r>
                    </a:p>
                  </a:txBody>
                  <a:tcPr marL="164592" marT="54864" marB="54864" anchor="ctr">
                    <a:solidFill>
                      <a:srgbClr val="EAF3EF"/>
                    </a:solidFill>
                  </a:tcPr>
                </a:tc>
                <a:extLst>
                  <a:ext uri="{0D108BD9-81ED-4DB2-BD59-A6C34878D82A}">
                    <a16:rowId xmlns:a16="http://schemas.microsoft.com/office/drawing/2014/main" val="10003"/>
                  </a:ext>
                </a:extLst>
              </a:tr>
              <a:tr h="754380">
                <a:tc>
                  <a:txBody>
                    <a:bodyPr/>
                    <a:lstStyle/>
                    <a:p>
                      <a:pPr algn="l"/>
                      <a:r>
                        <a:rPr sz="1400">
                          <a:solidFill>
                            <a:srgbClr val="14533B"/>
                          </a:solidFill>
                          <a:latin typeface="Courier New"/>
                        </a:rPr>
                        <a:t>total_income · log_income</a:t>
                      </a:r>
                    </a:p>
                  </a:txBody>
                  <a:tcPr marL="164592" marT="54864" marB="54864" anchor="ctr">
                    <a:solidFill>
                      <a:srgbClr val="FFFFFF"/>
                    </a:solidFill>
                  </a:tcPr>
                </a:tc>
                <a:tc>
                  <a:txBody>
                    <a:bodyPr/>
                    <a:lstStyle/>
                    <a:p>
                      <a:pPr algn="l"/>
                      <a:r>
                        <a:rPr sz="1400">
                          <a:solidFill>
                            <a:srgbClr val="143A2B"/>
                          </a:solidFill>
                          <a:latin typeface="Arial"/>
                        </a:rPr>
                        <a:t>Annual + other income combined (and its log)</a:t>
                      </a:r>
                    </a:p>
                  </a:txBody>
                  <a:tcPr marL="164592" marT="54864" marB="54864" anchor="ctr">
                    <a:solidFill>
                      <a:srgbClr val="FFFFFF"/>
                    </a:solidFill>
                  </a:tcPr>
                </a:tc>
                <a:tc>
                  <a:txBody>
                    <a:bodyPr/>
                    <a:lstStyle/>
                    <a:p>
                      <a:pPr algn="l"/>
                      <a:r>
                        <a:rPr sz="1400">
                          <a:solidFill>
                            <a:srgbClr val="5C7268"/>
                          </a:solidFill>
                          <a:latin typeface="Arial"/>
                        </a:rPr>
                        <a:t>Real disposable income; the log tames very large values</a:t>
                      </a:r>
                    </a:p>
                  </a:txBody>
                  <a:tcPr marL="164592" marT="54864" marB="54864" anchor="ctr">
                    <a:solidFill>
                      <a:srgbClr val="FFFFFF"/>
                    </a:solidFill>
                  </a:tcPr>
                </a:tc>
                <a:extLst>
                  <a:ext uri="{0D108BD9-81ED-4DB2-BD59-A6C34878D82A}">
                    <a16:rowId xmlns:a16="http://schemas.microsoft.com/office/drawing/2014/main" val="10004"/>
                  </a:ext>
                </a:extLst>
              </a:tr>
              <a:tr h="754380">
                <a:tc>
                  <a:txBody>
                    <a:bodyPr/>
                    <a:lstStyle/>
                    <a:p>
                      <a:pPr algn="l"/>
                      <a:r>
                        <a:rPr sz="1400">
                          <a:solidFill>
                            <a:srgbClr val="14533B"/>
                          </a:solidFill>
                          <a:latin typeface="Courier New"/>
                        </a:rPr>
                        <a:t>credit_z</a:t>
                      </a:r>
                    </a:p>
                  </a:txBody>
                  <a:tcPr marL="164592" marT="54864" marB="54864" anchor="ctr">
                    <a:solidFill>
                      <a:srgbClr val="EAF3EF"/>
                    </a:solidFill>
                  </a:tcPr>
                </a:tc>
                <a:tc>
                  <a:txBody>
                    <a:bodyPr/>
                    <a:lstStyle/>
                    <a:p>
                      <a:pPr algn="l"/>
                      <a:r>
                        <a:rPr sz="1400">
                          <a:solidFill>
                            <a:srgbClr val="143A2B"/>
                          </a:solidFill>
                          <a:latin typeface="Arial"/>
                        </a:rPr>
                        <a:t>The 3 bureau scores put on one scale and merged</a:t>
                      </a:r>
                    </a:p>
                  </a:txBody>
                  <a:tcPr marL="164592" marT="54864" marB="54864" anchor="ctr">
                    <a:solidFill>
                      <a:srgbClr val="EAF3EF"/>
                    </a:solidFill>
                  </a:tcPr>
                </a:tc>
                <a:tc>
                  <a:txBody>
                    <a:bodyPr/>
                    <a:lstStyle/>
                    <a:p>
                      <a:pPr algn="l"/>
                      <a:r>
                        <a:rPr sz="1400">
                          <a:solidFill>
                            <a:srgbClr val="5C7268"/>
                          </a:solidFill>
                          <a:latin typeface="Arial"/>
                        </a:rPr>
                        <a:t>Each person has one score on a different scale - makes them comparable</a:t>
                      </a:r>
                    </a:p>
                  </a:txBody>
                  <a:tcPr marL="164592" marT="54864" marB="54864" anchor="ctr">
                    <a:solidFill>
                      <a:srgbClr val="EAF3EF"/>
                    </a:solidFill>
                  </a:tcPr>
                </a:tc>
                <a:extLst>
                  <a:ext uri="{0D108BD9-81ED-4DB2-BD59-A6C34878D82A}">
                    <a16:rowId xmlns:a16="http://schemas.microsoft.com/office/drawing/2014/main" val="10005"/>
                  </a:ext>
                </a:extLst>
              </a:tr>
              <a:tr h="754380">
                <a:tc>
                  <a:txBody>
                    <a:bodyPr/>
                    <a:lstStyle/>
                    <a:p>
                      <a:pPr algn="l"/>
                      <a:r>
                        <a:rPr sz="1400">
                          <a:solidFill>
                            <a:srgbClr val="14533B"/>
                          </a:solidFill>
                          <a:latin typeface="Courier New"/>
                        </a:rPr>
                        <a:t>has_score · *_missing</a:t>
                      </a:r>
                    </a:p>
                  </a:txBody>
                  <a:tcPr marL="164592" marT="54864" marB="54864" anchor="ctr">
                    <a:solidFill>
                      <a:srgbClr val="FFFFFF"/>
                    </a:solidFill>
                  </a:tcPr>
                </a:tc>
                <a:tc>
                  <a:txBody>
                    <a:bodyPr/>
                    <a:lstStyle/>
                    <a:p>
                      <a:pPr algn="l"/>
                      <a:r>
                        <a:rPr sz="1400">
                          <a:solidFill>
                            <a:srgbClr val="143A2B"/>
                          </a:solidFill>
                          <a:latin typeface="Arial"/>
                        </a:rPr>
                        <a:t>Flags for whether a value is present</a:t>
                      </a:r>
                    </a:p>
                  </a:txBody>
                  <a:tcPr marL="164592" marT="54864" marB="54864" anchor="ctr">
                    <a:solidFill>
                      <a:srgbClr val="FFFFFF"/>
                    </a:solidFill>
                  </a:tcPr>
                </a:tc>
                <a:tc>
                  <a:txBody>
                    <a:bodyPr/>
                    <a:lstStyle/>
                    <a:p>
                      <a:pPr algn="l"/>
                      <a:r>
                        <a:rPr sz="1400">
                          <a:solidFill>
                            <a:srgbClr val="5C7268"/>
                          </a:solidFill>
                          <a:latin typeface="Arial"/>
                        </a:rPr>
                        <a:t>Whether a field is missing is itself a useful signal</a:t>
                      </a:r>
                    </a:p>
                  </a:txBody>
                  <a:tcPr marL="164592" marT="54864" marB="54864" anchor="ctr">
                    <a:solidFill>
                      <a:srgbClr val="FFFFFF"/>
                    </a:solidFill>
                  </a:tcPr>
                </a:tc>
                <a:extLst>
                  <a:ext uri="{0D108BD9-81ED-4DB2-BD59-A6C34878D82A}">
                    <a16:rowId xmlns:a16="http://schemas.microsoft.com/office/drawing/2014/main" val="10006"/>
                  </a:ext>
                </a:extLst>
              </a:tr>
              <a:tr h="754380">
                <a:tc>
                  <a:txBody>
                    <a:bodyPr/>
                    <a:lstStyle/>
                    <a:p>
                      <a:pPr algn="l"/>
                      <a:r>
                        <a:rPr sz="1400">
                          <a:solidFill>
                            <a:srgbClr val="14533B"/>
                          </a:solidFill>
                          <a:latin typeface="Courier New"/>
                        </a:rPr>
                        <a:t>year · month</a:t>
                      </a:r>
                    </a:p>
                  </a:txBody>
                  <a:tcPr marL="164592" marT="54864" marB="54864" anchor="ctr">
                    <a:solidFill>
                      <a:srgbClr val="EAF3EF"/>
                    </a:solidFill>
                  </a:tcPr>
                </a:tc>
                <a:tc>
                  <a:txBody>
                    <a:bodyPr/>
                    <a:lstStyle/>
                    <a:p>
                      <a:pPr algn="l"/>
                      <a:r>
                        <a:rPr sz="1400">
                          <a:solidFill>
                            <a:srgbClr val="143A2B"/>
                          </a:solidFill>
                          <a:latin typeface="Arial"/>
                        </a:rPr>
                        <a:t>Taken from the application date</a:t>
                      </a:r>
                    </a:p>
                  </a:txBody>
                  <a:tcPr marL="164592" marT="54864" marB="54864" anchor="ctr">
                    <a:solidFill>
                      <a:srgbClr val="EAF3EF"/>
                    </a:solidFill>
                  </a:tcPr>
                </a:tc>
                <a:tc>
                  <a:txBody>
                    <a:bodyPr/>
                    <a:lstStyle/>
                    <a:p>
                      <a:pPr algn="l"/>
                      <a:r>
                        <a:rPr sz="1400">
                          <a:solidFill>
                            <a:srgbClr val="5C7268"/>
                          </a:solidFill>
                          <a:latin typeface="Arial"/>
                        </a:rPr>
                        <a:t>Captures the approval-rate trend over time (down toward 2026)</a:t>
                      </a:r>
                    </a:p>
                  </a:txBody>
                  <a:tcPr marL="164592" marT="54864" marB="54864" anchor="ctr">
                    <a:solidFill>
                      <a:srgbClr val="EAF3E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endParaRPr/>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10 · RESULTS</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Our own validation predicted the result in advance</a:t>
            </a:r>
            <a:endParaRPr lang="en-US" sz="3600" dirty="0"/>
          </a:p>
        </p:txBody>
      </p:sp>
      <p:sp>
        <p:nvSpPr>
          <p:cNvPr id="5" name="Text 3"/>
          <p:cNvSpPr/>
          <p:nvPr/>
        </p:nvSpPr>
        <p:spPr>
          <a:xfrm>
            <a:off x="822343" y="5067858"/>
            <a:ext cx="1105007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5" dirty="0">
                <a:solidFill>
                  <a:srgbClr val="007A33"/>
                </a:solidFill>
                <a:latin typeface="Courier New" pitchFamily="34" charset="0"/>
                <a:ea typeface="Courier New" pitchFamily="34" charset="-122"/>
                <a:cs typeface="Courier New" pitchFamily="34" charset="-120"/>
              </a:rPr>
              <a:t>FINAL SUBMISSIONS SELECTED - v6 + v10</a:t>
            </a:r>
            <a:endParaRPr lang="en-US" sz="1800" dirty="0"/>
          </a:p>
        </p:txBody>
      </p:sp>
      <p:sp>
        <p:nvSpPr>
          <p:cNvPr id="6" name="Shape 4"/>
          <p:cNvSpPr/>
          <p:nvPr/>
        </p:nvSpPr>
        <p:spPr>
          <a:xfrm>
            <a:off x="822343" y="6383290"/>
            <a:ext cx="704627" cy="19050"/>
          </a:xfrm>
          <a:prstGeom prst="rect">
            <a:avLst/>
          </a:prstGeom>
          <a:solidFill>
            <a:srgbClr val="1A7A57"/>
          </a:solidFill>
          <a:ln/>
        </p:spPr>
        <p:txBody>
          <a:bodyPr/>
          <a:lstStyle/>
          <a:p>
            <a:endParaRPr/>
          </a:p>
        </p:txBody>
      </p:sp>
      <p:sp>
        <p:nvSpPr>
          <p:cNvPr id="7" name="Text 5"/>
          <p:cNvSpPr/>
          <p:nvPr/>
        </p:nvSpPr>
        <p:spPr>
          <a:xfrm>
            <a:off x="936643" y="6011815"/>
            <a:ext cx="552227"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063D22"/>
                </a:solidFill>
                <a:latin typeface="Arial" pitchFamily="34" charset="0"/>
                <a:ea typeface="Arial" pitchFamily="34" charset="-122"/>
                <a:cs typeface="Arial" pitchFamily="34" charset="-120"/>
              </a:rPr>
              <a:t>Ver</a:t>
            </a:r>
            <a:endParaRPr lang="en-US" sz="1875" dirty="0"/>
          </a:p>
        </p:txBody>
      </p:sp>
      <p:sp>
        <p:nvSpPr>
          <p:cNvPr id="8" name="Shape 6"/>
          <p:cNvSpPr/>
          <p:nvPr/>
        </p:nvSpPr>
        <p:spPr>
          <a:xfrm>
            <a:off x="1526970" y="6383290"/>
            <a:ext cx="5770736" cy="19050"/>
          </a:xfrm>
          <a:prstGeom prst="rect">
            <a:avLst/>
          </a:prstGeom>
          <a:solidFill>
            <a:srgbClr val="1A7A57"/>
          </a:solidFill>
          <a:ln/>
        </p:spPr>
        <p:txBody>
          <a:bodyPr/>
          <a:lstStyle/>
          <a:p>
            <a:endParaRPr/>
          </a:p>
        </p:txBody>
      </p:sp>
      <p:sp>
        <p:nvSpPr>
          <p:cNvPr id="9" name="Text 7"/>
          <p:cNvSpPr/>
          <p:nvPr/>
        </p:nvSpPr>
        <p:spPr>
          <a:xfrm>
            <a:off x="1641270" y="6011815"/>
            <a:ext cx="5715258" cy="314325"/>
          </a:xfrm>
          <a:prstGeom prst="rect">
            <a:avLst/>
          </a:prstGeom>
          <a:noFill/>
          <a:ln/>
        </p:spPr>
        <p:txBody>
          <a:bodyPr wrap="square" lIns="25400" tIns="25400" rIns="25400" bIns="25400" rtlCol="0" anchor="ctr">
            <a:normAutofit lnSpcReduction="10000"/>
          </a:bodyPr>
          <a:lstStyle/>
          <a:p>
            <a:pPr marL="0" indent="0" algn="l">
              <a:buNone/>
            </a:pPr>
            <a:r>
              <a:rPr lang="en-US" sz="1875" b="1" dirty="0">
                <a:solidFill>
                  <a:srgbClr val="063D22"/>
                </a:solidFill>
                <a:latin typeface="Arial" pitchFamily="34" charset="0"/>
                <a:ea typeface="Arial" pitchFamily="34" charset="-122"/>
                <a:cs typeface="Arial" pitchFamily="34" charset="-120"/>
              </a:rPr>
              <a:t>Approach</a:t>
            </a:r>
            <a:endParaRPr lang="en-US" sz="1875" dirty="0"/>
          </a:p>
        </p:txBody>
      </p:sp>
      <p:sp>
        <p:nvSpPr>
          <p:cNvPr id="10" name="Shape 8"/>
          <p:cNvSpPr/>
          <p:nvPr/>
        </p:nvSpPr>
        <p:spPr>
          <a:xfrm>
            <a:off x="7297706" y="6383290"/>
            <a:ext cx="1164357" cy="19050"/>
          </a:xfrm>
          <a:prstGeom prst="rect">
            <a:avLst/>
          </a:prstGeom>
          <a:solidFill>
            <a:srgbClr val="1A7A57"/>
          </a:solidFill>
          <a:ln/>
        </p:spPr>
        <p:txBody>
          <a:bodyPr/>
          <a:lstStyle/>
          <a:p>
            <a:endParaRPr/>
          </a:p>
        </p:txBody>
      </p:sp>
      <p:sp>
        <p:nvSpPr>
          <p:cNvPr id="11" name="Text 9"/>
          <p:cNvSpPr/>
          <p:nvPr/>
        </p:nvSpPr>
        <p:spPr>
          <a:xfrm>
            <a:off x="7335806" y="6011815"/>
            <a:ext cx="1011957" cy="314325"/>
          </a:xfrm>
          <a:prstGeom prst="rect">
            <a:avLst/>
          </a:prstGeom>
          <a:noFill/>
          <a:ln/>
        </p:spPr>
        <p:txBody>
          <a:bodyPr wrap="square" lIns="25400" tIns="25400" rIns="25400" bIns="25400" rtlCol="0" anchor="ctr">
            <a:normAutofit lnSpcReduction="10000"/>
          </a:bodyPr>
          <a:lstStyle/>
          <a:p>
            <a:pPr marL="0" indent="0" algn="r">
              <a:buNone/>
            </a:pPr>
            <a:r>
              <a:rPr lang="en-US" sz="1875" b="1" dirty="0">
                <a:solidFill>
                  <a:srgbClr val="063D22"/>
                </a:solidFill>
                <a:latin typeface="Arial" pitchFamily="34" charset="0"/>
                <a:ea typeface="Arial" pitchFamily="34" charset="-122"/>
                <a:cs typeface="Arial" pitchFamily="34" charset="-120"/>
              </a:rPr>
              <a:t>OOF</a:t>
            </a:r>
            <a:endParaRPr lang="en-US" sz="1875" dirty="0"/>
          </a:p>
        </p:txBody>
      </p:sp>
      <p:sp>
        <p:nvSpPr>
          <p:cNvPr id="12" name="Shape 10"/>
          <p:cNvSpPr/>
          <p:nvPr/>
        </p:nvSpPr>
        <p:spPr>
          <a:xfrm>
            <a:off x="8462063" y="6383290"/>
            <a:ext cx="1394520" cy="19050"/>
          </a:xfrm>
          <a:prstGeom prst="rect">
            <a:avLst/>
          </a:prstGeom>
          <a:solidFill>
            <a:srgbClr val="1A7A57"/>
          </a:solidFill>
          <a:ln/>
        </p:spPr>
        <p:txBody>
          <a:bodyPr/>
          <a:lstStyle/>
          <a:p>
            <a:endParaRPr/>
          </a:p>
        </p:txBody>
      </p:sp>
      <p:sp>
        <p:nvSpPr>
          <p:cNvPr id="13" name="Text 11"/>
          <p:cNvSpPr/>
          <p:nvPr/>
        </p:nvSpPr>
        <p:spPr>
          <a:xfrm>
            <a:off x="8500163" y="6011815"/>
            <a:ext cx="1242120" cy="314325"/>
          </a:xfrm>
          <a:prstGeom prst="rect">
            <a:avLst/>
          </a:prstGeom>
          <a:noFill/>
          <a:ln/>
        </p:spPr>
        <p:txBody>
          <a:bodyPr wrap="square" lIns="25400" tIns="25400" rIns="25400" bIns="25400" rtlCol="0" anchor="ctr">
            <a:normAutofit lnSpcReduction="10000"/>
          </a:bodyPr>
          <a:lstStyle/>
          <a:p>
            <a:pPr marL="0" indent="0" algn="r">
              <a:buNone/>
            </a:pPr>
            <a:r>
              <a:rPr lang="en-US" sz="1875" b="1" dirty="0">
                <a:solidFill>
                  <a:srgbClr val="063D22"/>
                </a:solidFill>
                <a:latin typeface="Arial" pitchFamily="34" charset="0"/>
                <a:ea typeface="Arial" pitchFamily="34" charset="-122"/>
                <a:cs typeface="Arial" pitchFamily="34" charset="-120"/>
              </a:rPr>
              <a:t>Public LB</a:t>
            </a:r>
            <a:endParaRPr lang="en-US" sz="1875" dirty="0"/>
          </a:p>
        </p:txBody>
      </p:sp>
      <p:sp>
        <p:nvSpPr>
          <p:cNvPr id="14" name="Shape 12"/>
          <p:cNvSpPr/>
          <p:nvPr/>
        </p:nvSpPr>
        <p:spPr>
          <a:xfrm>
            <a:off x="9856582" y="6383290"/>
            <a:ext cx="1011287" cy="19050"/>
          </a:xfrm>
          <a:prstGeom prst="rect">
            <a:avLst/>
          </a:prstGeom>
          <a:solidFill>
            <a:srgbClr val="1A7A57"/>
          </a:solidFill>
          <a:ln/>
        </p:spPr>
        <p:txBody>
          <a:bodyPr/>
          <a:lstStyle/>
          <a:p>
            <a:endParaRPr/>
          </a:p>
        </p:txBody>
      </p:sp>
      <p:sp>
        <p:nvSpPr>
          <p:cNvPr id="15" name="Text 13"/>
          <p:cNvSpPr/>
          <p:nvPr/>
        </p:nvSpPr>
        <p:spPr>
          <a:xfrm>
            <a:off x="9894682" y="6011815"/>
            <a:ext cx="858887" cy="314325"/>
          </a:xfrm>
          <a:prstGeom prst="rect">
            <a:avLst/>
          </a:prstGeom>
          <a:noFill/>
          <a:ln/>
        </p:spPr>
        <p:txBody>
          <a:bodyPr wrap="square" lIns="25400" tIns="25400" rIns="25400" bIns="25400" rtlCol="0" anchor="ctr">
            <a:normAutofit lnSpcReduction="10000"/>
          </a:bodyPr>
          <a:lstStyle/>
          <a:p>
            <a:pPr marL="0" indent="0" algn="r">
              <a:buNone/>
            </a:pPr>
            <a:r>
              <a:rPr lang="en-US" sz="1875" b="1" dirty="0">
                <a:solidFill>
                  <a:srgbClr val="063D22"/>
                </a:solidFill>
                <a:latin typeface="Arial" pitchFamily="34" charset="0"/>
                <a:ea typeface="Arial" pitchFamily="34" charset="-122"/>
                <a:cs typeface="Arial" pitchFamily="34" charset="-120"/>
              </a:rPr>
              <a:t>Appr.</a:t>
            </a:r>
            <a:endParaRPr lang="en-US" sz="1875" dirty="0"/>
          </a:p>
        </p:txBody>
      </p:sp>
      <p:sp>
        <p:nvSpPr>
          <p:cNvPr id="16" name="Shape 14"/>
          <p:cNvSpPr/>
          <p:nvPr/>
        </p:nvSpPr>
        <p:spPr>
          <a:xfrm>
            <a:off x="822343" y="6892877"/>
            <a:ext cx="704627" cy="9525"/>
          </a:xfrm>
          <a:prstGeom prst="rect">
            <a:avLst/>
          </a:prstGeom>
          <a:solidFill>
            <a:srgbClr val="D2E6DD"/>
          </a:solidFill>
          <a:ln/>
        </p:spPr>
        <p:txBody>
          <a:bodyPr/>
          <a:lstStyle/>
          <a:p>
            <a:endParaRPr/>
          </a:p>
        </p:txBody>
      </p:sp>
      <p:sp>
        <p:nvSpPr>
          <p:cNvPr id="17" name="Text 15"/>
          <p:cNvSpPr/>
          <p:nvPr/>
        </p:nvSpPr>
        <p:spPr>
          <a:xfrm>
            <a:off x="936643" y="6507115"/>
            <a:ext cx="552227" cy="319088"/>
          </a:xfrm>
          <a:prstGeom prst="rect">
            <a:avLst/>
          </a:prstGeom>
          <a:noFill/>
          <a:ln/>
        </p:spPr>
        <p:txBody>
          <a:bodyPr wrap="square" lIns="25400" tIns="25400" rIns="25400" bIns="25400" rtlCol="0" anchor="ctr">
            <a:normAutofit lnSpcReduction="10000"/>
          </a:bodyPr>
          <a:lstStyle/>
          <a:p>
            <a:pPr marL="0" indent="0" algn="l">
              <a:buNone/>
            </a:pPr>
            <a:r>
              <a:rPr lang="en-US" sz="1875" dirty="0">
                <a:solidFill>
                  <a:srgbClr val="244236"/>
                </a:solidFill>
                <a:latin typeface="Courier New" pitchFamily="34" charset="0"/>
                <a:ea typeface="Courier New" pitchFamily="34" charset="-122"/>
                <a:cs typeface="Courier New" pitchFamily="34" charset="-120"/>
              </a:rPr>
              <a:t>v1</a:t>
            </a:r>
            <a:endParaRPr lang="en-US" sz="1875" dirty="0"/>
          </a:p>
        </p:txBody>
      </p:sp>
      <p:sp>
        <p:nvSpPr>
          <p:cNvPr id="18" name="Shape 16"/>
          <p:cNvSpPr/>
          <p:nvPr/>
        </p:nvSpPr>
        <p:spPr>
          <a:xfrm>
            <a:off x="1526970" y="6892877"/>
            <a:ext cx="5770736" cy="9525"/>
          </a:xfrm>
          <a:prstGeom prst="rect">
            <a:avLst/>
          </a:prstGeom>
          <a:solidFill>
            <a:srgbClr val="D2E6DD"/>
          </a:solidFill>
          <a:ln/>
        </p:spPr>
        <p:txBody>
          <a:bodyPr/>
          <a:lstStyle/>
          <a:p>
            <a:endParaRPr/>
          </a:p>
        </p:txBody>
      </p:sp>
      <p:sp>
        <p:nvSpPr>
          <p:cNvPr id="19" name="Text 17"/>
          <p:cNvSpPr/>
          <p:nvPr/>
        </p:nvSpPr>
        <p:spPr>
          <a:xfrm>
            <a:off x="1641270" y="6507115"/>
            <a:ext cx="5715258" cy="319088"/>
          </a:xfrm>
          <a:prstGeom prst="rect">
            <a:avLst/>
          </a:prstGeom>
          <a:noFill/>
          <a:ln/>
        </p:spPr>
        <p:txBody>
          <a:bodyPr wrap="square" lIns="25400" tIns="25400" rIns="25400" bIns="25400" rtlCol="0" anchor="ctr">
            <a:normAutofit lnSpcReduction="10000"/>
          </a:bodyPr>
          <a:lstStyle/>
          <a:p>
            <a:pPr marL="0" indent="0" algn="l">
              <a:buNone/>
            </a:pPr>
            <a:r>
              <a:rPr lang="en-US" sz="1875" dirty="0">
                <a:solidFill>
                  <a:srgbClr val="244236"/>
                </a:solidFill>
                <a:latin typeface="Arial" pitchFamily="34" charset="0"/>
                <a:ea typeface="Arial" pitchFamily="34" charset="-122"/>
                <a:cs typeface="Arial" pitchFamily="34" charset="-120"/>
              </a:rPr>
              <a:t>Single LightGBM</a:t>
            </a:r>
            <a:endParaRPr lang="en-US" sz="1875" dirty="0"/>
          </a:p>
        </p:txBody>
      </p:sp>
      <p:sp>
        <p:nvSpPr>
          <p:cNvPr id="20" name="Shape 18"/>
          <p:cNvSpPr/>
          <p:nvPr/>
        </p:nvSpPr>
        <p:spPr>
          <a:xfrm>
            <a:off x="7297706" y="6892877"/>
            <a:ext cx="1164357" cy="9525"/>
          </a:xfrm>
          <a:prstGeom prst="rect">
            <a:avLst/>
          </a:prstGeom>
          <a:solidFill>
            <a:srgbClr val="D2E6DD"/>
          </a:solidFill>
          <a:ln/>
        </p:spPr>
        <p:txBody>
          <a:bodyPr/>
          <a:lstStyle/>
          <a:p>
            <a:endParaRPr/>
          </a:p>
        </p:txBody>
      </p:sp>
      <p:sp>
        <p:nvSpPr>
          <p:cNvPr id="21" name="Text 19"/>
          <p:cNvSpPr/>
          <p:nvPr/>
        </p:nvSpPr>
        <p:spPr>
          <a:xfrm>
            <a:off x="7335806" y="6507115"/>
            <a:ext cx="1011957" cy="319088"/>
          </a:xfrm>
          <a:prstGeom prst="rect">
            <a:avLst/>
          </a:prstGeom>
          <a:noFill/>
          <a:ln/>
        </p:spPr>
        <p:txBody>
          <a:bodyPr wrap="square" lIns="25400" tIns="25400" rIns="25400" bIns="25400" rtlCol="0" anchor="ctr">
            <a:normAutofit lnSpcReduction="10000"/>
          </a:bodyPr>
          <a:lstStyle/>
          <a:p>
            <a:pPr marL="0" indent="0" algn="r">
              <a:buNone/>
            </a:pPr>
            <a:r>
              <a:rPr lang="en-US" sz="1875" dirty="0">
                <a:solidFill>
                  <a:srgbClr val="244236"/>
                </a:solidFill>
                <a:latin typeface="Courier New" pitchFamily="34" charset="0"/>
                <a:ea typeface="Courier New" pitchFamily="34" charset="-122"/>
                <a:cs typeface="Courier New" pitchFamily="34" charset="-120"/>
              </a:rPr>
              <a:t>0.8525</a:t>
            </a:r>
            <a:endParaRPr lang="en-US" sz="1875" dirty="0"/>
          </a:p>
        </p:txBody>
      </p:sp>
      <p:sp>
        <p:nvSpPr>
          <p:cNvPr id="22" name="Shape 20"/>
          <p:cNvSpPr/>
          <p:nvPr/>
        </p:nvSpPr>
        <p:spPr>
          <a:xfrm>
            <a:off x="8462063" y="6892877"/>
            <a:ext cx="1394520" cy="9525"/>
          </a:xfrm>
          <a:prstGeom prst="rect">
            <a:avLst/>
          </a:prstGeom>
          <a:solidFill>
            <a:srgbClr val="D2E6DD"/>
          </a:solidFill>
          <a:ln/>
        </p:spPr>
        <p:txBody>
          <a:bodyPr/>
          <a:lstStyle/>
          <a:p>
            <a:endParaRPr/>
          </a:p>
        </p:txBody>
      </p:sp>
      <p:sp>
        <p:nvSpPr>
          <p:cNvPr id="23" name="Text 21"/>
          <p:cNvSpPr/>
          <p:nvPr/>
        </p:nvSpPr>
        <p:spPr>
          <a:xfrm>
            <a:off x="8500163" y="6507115"/>
            <a:ext cx="1242120" cy="319088"/>
          </a:xfrm>
          <a:prstGeom prst="rect">
            <a:avLst/>
          </a:prstGeom>
          <a:noFill/>
          <a:ln/>
        </p:spPr>
        <p:txBody>
          <a:bodyPr wrap="square" lIns="25400" tIns="25400" rIns="25400" bIns="25400" rtlCol="0" anchor="ctr">
            <a:normAutofit lnSpcReduction="10000"/>
          </a:bodyPr>
          <a:lstStyle/>
          <a:p>
            <a:pPr marL="0" indent="0" algn="r">
              <a:buNone/>
            </a:pPr>
            <a:r>
              <a:rPr lang="en-US" sz="1875" dirty="0">
                <a:solidFill>
                  <a:srgbClr val="244236"/>
                </a:solidFill>
                <a:latin typeface="Courier New" pitchFamily="34" charset="0"/>
                <a:ea typeface="Courier New" pitchFamily="34" charset="-122"/>
                <a:cs typeface="Courier New" pitchFamily="34" charset="-120"/>
              </a:rPr>
              <a:t>0.8515</a:t>
            </a:r>
            <a:endParaRPr lang="en-US" sz="1875" dirty="0"/>
          </a:p>
        </p:txBody>
      </p:sp>
      <p:sp>
        <p:nvSpPr>
          <p:cNvPr id="24" name="Shape 22"/>
          <p:cNvSpPr/>
          <p:nvPr/>
        </p:nvSpPr>
        <p:spPr>
          <a:xfrm>
            <a:off x="9856582" y="6892877"/>
            <a:ext cx="1011287" cy="9525"/>
          </a:xfrm>
          <a:prstGeom prst="rect">
            <a:avLst/>
          </a:prstGeom>
          <a:solidFill>
            <a:srgbClr val="D2E6DD"/>
          </a:solidFill>
          <a:ln/>
        </p:spPr>
        <p:txBody>
          <a:bodyPr/>
          <a:lstStyle/>
          <a:p>
            <a:endParaRPr/>
          </a:p>
        </p:txBody>
      </p:sp>
      <p:sp>
        <p:nvSpPr>
          <p:cNvPr id="25" name="Text 23"/>
          <p:cNvSpPr/>
          <p:nvPr/>
        </p:nvSpPr>
        <p:spPr>
          <a:xfrm>
            <a:off x="9894682" y="6507115"/>
            <a:ext cx="858887" cy="319088"/>
          </a:xfrm>
          <a:prstGeom prst="rect">
            <a:avLst/>
          </a:prstGeom>
          <a:noFill/>
          <a:ln/>
        </p:spPr>
        <p:txBody>
          <a:bodyPr wrap="square" lIns="25400" tIns="25400" rIns="25400" bIns="25400" rtlCol="0" anchor="ctr">
            <a:normAutofit lnSpcReduction="10000"/>
          </a:bodyPr>
          <a:lstStyle/>
          <a:p>
            <a:pPr marL="0" indent="0" algn="r">
              <a:buNone/>
            </a:pPr>
            <a:r>
              <a:rPr lang="en-US" sz="1875" dirty="0">
                <a:solidFill>
                  <a:srgbClr val="5C7268"/>
                </a:solidFill>
                <a:latin typeface="Courier New" pitchFamily="34" charset="0"/>
                <a:ea typeface="Courier New" pitchFamily="34" charset="-122"/>
                <a:cs typeface="Courier New" pitchFamily="34" charset="-120"/>
              </a:rPr>
              <a:t>0.506</a:t>
            </a:r>
            <a:endParaRPr lang="en-US" sz="1875" dirty="0"/>
          </a:p>
        </p:txBody>
      </p:sp>
      <p:sp>
        <p:nvSpPr>
          <p:cNvPr id="26" name="Shape 24"/>
          <p:cNvSpPr/>
          <p:nvPr/>
        </p:nvSpPr>
        <p:spPr>
          <a:xfrm>
            <a:off x="822343" y="6902402"/>
            <a:ext cx="10045526" cy="528638"/>
          </a:xfrm>
          <a:prstGeom prst="rect">
            <a:avLst/>
          </a:prstGeom>
          <a:solidFill>
            <a:srgbClr val="E6F5EF"/>
          </a:solidFill>
          <a:ln/>
        </p:spPr>
        <p:txBody>
          <a:bodyPr/>
          <a:lstStyle/>
          <a:p>
            <a:endParaRPr/>
          </a:p>
        </p:txBody>
      </p:sp>
      <p:sp>
        <p:nvSpPr>
          <p:cNvPr id="27" name="Shape 25"/>
          <p:cNvSpPr/>
          <p:nvPr/>
        </p:nvSpPr>
        <p:spPr>
          <a:xfrm>
            <a:off x="822343" y="7421515"/>
            <a:ext cx="704627" cy="9525"/>
          </a:xfrm>
          <a:prstGeom prst="rect">
            <a:avLst/>
          </a:prstGeom>
          <a:solidFill>
            <a:srgbClr val="D2E6DD"/>
          </a:solidFill>
          <a:ln/>
        </p:spPr>
        <p:txBody>
          <a:bodyPr/>
          <a:lstStyle/>
          <a:p>
            <a:endParaRPr/>
          </a:p>
        </p:txBody>
      </p:sp>
      <p:sp>
        <p:nvSpPr>
          <p:cNvPr id="28" name="Text 26"/>
          <p:cNvSpPr/>
          <p:nvPr/>
        </p:nvSpPr>
        <p:spPr>
          <a:xfrm>
            <a:off x="936643" y="7007177"/>
            <a:ext cx="552227" cy="347663"/>
          </a:xfrm>
          <a:prstGeom prst="rect">
            <a:avLst/>
          </a:prstGeom>
          <a:noFill/>
          <a:ln/>
        </p:spPr>
        <p:txBody>
          <a:bodyPr wrap="square" lIns="25400" tIns="25400" rIns="25400" bIns="25400" rtlCol="0" anchor="ctr">
            <a:normAutofit/>
          </a:bodyPr>
          <a:lstStyle/>
          <a:p>
            <a:pPr marL="0" indent="0" algn="l">
              <a:buNone/>
            </a:pPr>
            <a:r>
              <a:rPr lang="en-US" sz="1875" b="1" dirty="0">
                <a:solidFill>
                  <a:srgbClr val="063D22"/>
                </a:solidFill>
                <a:latin typeface="Courier New" pitchFamily="34" charset="0"/>
                <a:ea typeface="Courier New" pitchFamily="34" charset="-122"/>
                <a:cs typeface="Courier New" pitchFamily="34" charset="-120"/>
              </a:rPr>
              <a:t>v6</a:t>
            </a:r>
            <a:endParaRPr lang="en-US" sz="1875" dirty="0"/>
          </a:p>
        </p:txBody>
      </p:sp>
      <p:sp>
        <p:nvSpPr>
          <p:cNvPr id="29" name="Shape 27"/>
          <p:cNvSpPr/>
          <p:nvPr/>
        </p:nvSpPr>
        <p:spPr>
          <a:xfrm>
            <a:off x="1526970" y="7421515"/>
            <a:ext cx="5770736" cy="9525"/>
          </a:xfrm>
          <a:prstGeom prst="rect">
            <a:avLst/>
          </a:prstGeom>
          <a:solidFill>
            <a:srgbClr val="D2E6DD"/>
          </a:solidFill>
          <a:ln/>
        </p:spPr>
        <p:txBody>
          <a:bodyPr/>
          <a:lstStyle/>
          <a:p>
            <a:endParaRPr/>
          </a:p>
        </p:txBody>
      </p:sp>
      <p:sp>
        <p:nvSpPr>
          <p:cNvPr id="30" name="Text 28"/>
          <p:cNvSpPr/>
          <p:nvPr/>
        </p:nvSpPr>
        <p:spPr>
          <a:xfrm>
            <a:off x="1641270" y="7007177"/>
            <a:ext cx="5715258" cy="347663"/>
          </a:xfrm>
          <a:prstGeom prst="rect">
            <a:avLst/>
          </a:prstGeom>
          <a:noFill/>
          <a:ln/>
        </p:spPr>
        <p:txBody>
          <a:bodyPr wrap="square" lIns="25400" tIns="25400" rIns="25400" bIns="25400" rtlCol="0" anchor="ctr">
            <a:normAutofit/>
          </a:bodyPr>
          <a:lstStyle/>
          <a:p>
            <a:pPr marL="0" indent="0" algn="l">
              <a:buNone/>
            </a:pPr>
            <a:r>
              <a:rPr lang="en-US" sz="1875" b="1" dirty="0">
                <a:solidFill>
                  <a:srgbClr val="244236"/>
                </a:solidFill>
                <a:latin typeface="Arial" pitchFamily="34" charset="0"/>
                <a:ea typeface="Arial" pitchFamily="34" charset="-122"/>
                <a:cs typeface="Arial" pitchFamily="34" charset="-120"/>
              </a:rPr>
              <a:t>9× CatBoost blend</a:t>
            </a:r>
            <a:endParaRPr lang="en-US" sz="1875" dirty="0"/>
          </a:p>
        </p:txBody>
      </p:sp>
      <p:sp>
        <p:nvSpPr>
          <p:cNvPr id="31" name="Shape 29"/>
          <p:cNvSpPr/>
          <p:nvPr/>
        </p:nvSpPr>
        <p:spPr>
          <a:xfrm>
            <a:off x="7297706" y="7421515"/>
            <a:ext cx="1164357" cy="9525"/>
          </a:xfrm>
          <a:prstGeom prst="rect">
            <a:avLst/>
          </a:prstGeom>
          <a:solidFill>
            <a:srgbClr val="D2E6DD"/>
          </a:solidFill>
          <a:ln/>
        </p:spPr>
        <p:txBody>
          <a:bodyPr/>
          <a:lstStyle/>
          <a:p>
            <a:endParaRPr/>
          </a:p>
        </p:txBody>
      </p:sp>
      <p:sp>
        <p:nvSpPr>
          <p:cNvPr id="32" name="Text 30"/>
          <p:cNvSpPr/>
          <p:nvPr/>
        </p:nvSpPr>
        <p:spPr>
          <a:xfrm>
            <a:off x="7335806" y="7007177"/>
            <a:ext cx="1011957" cy="347663"/>
          </a:xfrm>
          <a:prstGeom prst="rect">
            <a:avLst/>
          </a:prstGeom>
          <a:noFill/>
          <a:ln/>
        </p:spPr>
        <p:txBody>
          <a:bodyPr wrap="square" lIns="25400" tIns="25400" rIns="25400" bIns="25400" rtlCol="0" anchor="ctr">
            <a:normAutofit/>
          </a:bodyPr>
          <a:lstStyle/>
          <a:p>
            <a:pPr marL="0" indent="0" algn="r">
              <a:buNone/>
            </a:pPr>
            <a:r>
              <a:rPr lang="en-US" sz="1875" b="1" dirty="0">
                <a:solidFill>
                  <a:srgbClr val="244236"/>
                </a:solidFill>
                <a:latin typeface="Courier New" pitchFamily="34" charset="0"/>
                <a:ea typeface="Courier New" pitchFamily="34" charset="-122"/>
                <a:cs typeface="Courier New" pitchFamily="34" charset="-120"/>
              </a:rPr>
              <a:t>0.8615</a:t>
            </a:r>
            <a:endParaRPr lang="en-US" sz="1875" dirty="0"/>
          </a:p>
        </p:txBody>
      </p:sp>
      <p:sp>
        <p:nvSpPr>
          <p:cNvPr id="33" name="Shape 31"/>
          <p:cNvSpPr/>
          <p:nvPr/>
        </p:nvSpPr>
        <p:spPr>
          <a:xfrm>
            <a:off x="8462063" y="7421515"/>
            <a:ext cx="1394520" cy="9525"/>
          </a:xfrm>
          <a:prstGeom prst="rect">
            <a:avLst/>
          </a:prstGeom>
          <a:solidFill>
            <a:srgbClr val="D2E6DD"/>
          </a:solidFill>
          <a:ln/>
        </p:spPr>
        <p:txBody>
          <a:bodyPr/>
          <a:lstStyle/>
          <a:p>
            <a:endParaRPr/>
          </a:p>
        </p:txBody>
      </p:sp>
      <p:sp>
        <p:nvSpPr>
          <p:cNvPr id="34" name="Text 32"/>
          <p:cNvSpPr/>
          <p:nvPr/>
        </p:nvSpPr>
        <p:spPr>
          <a:xfrm>
            <a:off x="8500163" y="7007177"/>
            <a:ext cx="1242120" cy="347663"/>
          </a:xfrm>
          <a:prstGeom prst="rect">
            <a:avLst/>
          </a:prstGeom>
          <a:noFill/>
          <a:ln/>
        </p:spPr>
        <p:txBody>
          <a:bodyPr wrap="square" lIns="25400" tIns="25400" rIns="25400" bIns="25400" rtlCol="0" anchor="ctr">
            <a:normAutofit/>
          </a:bodyPr>
          <a:lstStyle/>
          <a:p>
            <a:pPr marL="0" indent="0" algn="r">
              <a:buNone/>
            </a:pPr>
            <a:r>
              <a:rPr lang="en-US" sz="1875" b="1" dirty="0">
                <a:solidFill>
                  <a:srgbClr val="1A7A57"/>
                </a:solidFill>
                <a:latin typeface="Courier New" pitchFamily="34" charset="0"/>
                <a:ea typeface="Courier New" pitchFamily="34" charset="-122"/>
                <a:cs typeface="Courier New" pitchFamily="34" charset="-120"/>
              </a:rPr>
              <a:t>0.8565</a:t>
            </a:r>
            <a:endParaRPr lang="en-US" sz="1875" dirty="0"/>
          </a:p>
        </p:txBody>
      </p:sp>
      <p:sp>
        <p:nvSpPr>
          <p:cNvPr id="35" name="Shape 33"/>
          <p:cNvSpPr/>
          <p:nvPr/>
        </p:nvSpPr>
        <p:spPr>
          <a:xfrm>
            <a:off x="9856582" y="7421515"/>
            <a:ext cx="1011287" cy="9525"/>
          </a:xfrm>
          <a:prstGeom prst="rect">
            <a:avLst/>
          </a:prstGeom>
          <a:solidFill>
            <a:srgbClr val="D2E6DD"/>
          </a:solidFill>
          <a:ln/>
        </p:spPr>
        <p:txBody>
          <a:bodyPr/>
          <a:lstStyle/>
          <a:p>
            <a:endParaRPr/>
          </a:p>
        </p:txBody>
      </p:sp>
      <p:sp>
        <p:nvSpPr>
          <p:cNvPr id="36" name="Text 34"/>
          <p:cNvSpPr/>
          <p:nvPr/>
        </p:nvSpPr>
        <p:spPr>
          <a:xfrm>
            <a:off x="9894682" y="7007177"/>
            <a:ext cx="858887" cy="347663"/>
          </a:xfrm>
          <a:prstGeom prst="rect">
            <a:avLst/>
          </a:prstGeom>
          <a:noFill/>
          <a:ln/>
        </p:spPr>
        <p:txBody>
          <a:bodyPr wrap="square" lIns="25400" tIns="25400" rIns="25400" bIns="25400" rtlCol="0" anchor="ctr">
            <a:normAutofit/>
          </a:bodyPr>
          <a:lstStyle/>
          <a:p>
            <a:pPr marL="0" indent="0" algn="r">
              <a:buNone/>
            </a:pPr>
            <a:r>
              <a:rPr lang="en-US" sz="1875" dirty="0">
                <a:solidFill>
                  <a:srgbClr val="5C7268"/>
                </a:solidFill>
                <a:latin typeface="Courier New" pitchFamily="34" charset="0"/>
                <a:ea typeface="Courier New" pitchFamily="34" charset="-122"/>
                <a:cs typeface="Courier New" pitchFamily="34" charset="-120"/>
              </a:rPr>
              <a:t>0.512</a:t>
            </a:r>
            <a:endParaRPr lang="en-US" sz="1875" dirty="0"/>
          </a:p>
        </p:txBody>
      </p:sp>
      <p:sp>
        <p:nvSpPr>
          <p:cNvPr id="37" name="Shape 35"/>
          <p:cNvSpPr/>
          <p:nvPr/>
        </p:nvSpPr>
        <p:spPr>
          <a:xfrm>
            <a:off x="822343" y="7431040"/>
            <a:ext cx="10045526" cy="523875"/>
          </a:xfrm>
          <a:prstGeom prst="rect">
            <a:avLst/>
          </a:prstGeom>
          <a:solidFill>
            <a:srgbClr val="E6F5EF"/>
          </a:solidFill>
          <a:ln/>
        </p:spPr>
        <p:txBody>
          <a:bodyPr/>
          <a:lstStyle/>
          <a:p>
            <a:endParaRPr/>
          </a:p>
        </p:txBody>
      </p:sp>
      <p:sp>
        <p:nvSpPr>
          <p:cNvPr id="38" name="Text 36"/>
          <p:cNvSpPr/>
          <p:nvPr/>
        </p:nvSpPr>
        <p:spPr>
          <a:xfrm>
            <a:off x="936643" y="7535815"/>
            <a:ext cx="552227" cy="352425"/>
          </a:xfrm>
          <a:prstGeom prst="rect">
            <a:avLst/>
          </a:prstGeom>
          <a:noFill/>
          <a:ln/>
        </p:spPr>
        <p:txBody>
          <a:bodyPr wrap="square" lIns="25400" tIns="25400" rIns="25400" bIns="25400" rtlCol="0" anchor="ctr">
            <a:normAutofit/>
          </a:bodyPr>
          <a:lstStyle/>
          <a:p>
            <a:pPr marL="0" indent="0" algn="l">
              <a:buNone/>
            </a:pPr>
            <a:r>
              <a:rPr lang="en-US" sz="1875" b="1" dirty="0">
                <a:solidFill>
                  <a:srgbClr val="063D22"/>
                </a:solidFill>
                <a:latin typeface="Courier New" pitchFamily="34" charset="0"/>
                <a:ea typeface="Courier New" pitchFamily="34" charset="-122"/>
                <a:cs typeface="Courier New" pitchFamily="34" charset="-120"/>
              </a:rPr>
              <a:t>v10</a:t>
            </a:r>
            <a:endParaRPr lang="en-US" sz="1875" dirty="0"/>
          </a:p>
        </p:txBody>
      </p:sp>
      <p:sp>
        <p:nvSpPr>
          <p:cNvPr id="39" name="Text 37"/>
          <p:cNvSpPr/>
          <p:nvPr/>
        </p:nvSpPr>
        <p:spPr>
          <a:xfrm>
            <a:off x="1641270" y="7535815"/>
            <a:ext cx="5715258" cy="352425"/>
          </a:xfrm>
          <a:prstGeom prst="rect">
            <a:avLst/>
          </a:prstGeom>
          <a:noFill/>
          <a:ln/>
        </p:spPr>
        <p:txBody>
          <a:bodyPr wrap="square" lIns="25400" tIns="25400" rIns="25400" bIns="25400" rtlCol="0" anchor="ctr">
            <a:normAutofit/>
          </a:bodyPr>
          <a:lstStyle/>
          <a:p>
            <a:pPr marL="0" indent="0" algn="l">
              <a:buNone/>
            </a:pPr>
            <a:r>
              <a:rPr lang="en-US" sz="1875" b="1" dirty="0">
                <a:solidFill>
                  <a:srgbClr val="244236"/>
                </a:solidFill>
                <a:latin typeface="Arial" pitchFamily="34" charset="0"/>
                <a:ea typeface="Arial" pitchFamily="34" charset="-122"/>
                <a:cs typeface="Arial" pitchFamily="34" charset="-120"/>
              </a:rPr>
              <a:t>Clean prep + pseudo-label + smooth threshold</a:t>
            </a:r>
            <a:endParaRPr lang="en-US" sz="1875" dirty="0"/>
          </a:p>
        </p:txBody>
      </p:sp>
      <p:sp>
        <p:nvSpPr>
          <p:cNvPr id="40" name="Text 38"/>
          <p:cNvSpPr/>
          <p:nvPr/>
        </p:nvSpPr>
        <p:spPr>
          <a:xfrm>
            <a:off x="7335806" y="7535815"/>
            <a:ext cx="1011957" cy="352425"/>
          </a:xfrm>
          <a:prstGeom prst="rect">
            <a:avLst/>
          </a:prstGeom>
          <a:noFill/>
          <a:ln/>
        </p:spPr>
        <p:txBody>
          <a:bodyPr wrap="square" lIns="25400" tIns="25400" rIns="25400" bIns="25400" rtlCol="0" anchor="ctr">
            <a:normAutofit/>
          </a:bodyPr>
          <a:lstStyle/>
          <a:p>
            <a:pPr marL="0" indent="0" algn="r">
              <a:buNone/>
            </a:pPr>
            <a:r>
              <a:rPr lang="en-US" sz="1875" b="1" dirty="0">
                <a:solidFill>
                  <a:srgbClr val="244236"/>
                </a:solidFill>
                <a:latin typeface="Courier New" pitchFamily="34" charset="0"/>
                <a:ea typeface="Courier New" pitchFamily="34" charset="-122"/>
                <a:cs typeface="Courier New" pitchFamily="34" charset="-120"/>
              </a:rPr>
              <a:t>0.8590</a:t>
            </a:r>
            <a:endParaRPr lang="en-US" sz="1875" dirty="0"/>
          </a:p>
        </p:txBody>
      </p:sp>
      <p:sp>
        <p:nvSpPr>
          <p:cNvPr id="41" name="Text 39"/>
          <p:cNvSpPr/>
          <p:nvPr/>
        </p:nvSpPr>
        <p:spPr>
          <a:xfrm>
            <a:off x="8500163" y="7535815"/>
            <a:ext cx="1242120" cy="352425"/>
          </a:xfrm>
          <a:prstGeom prst="rect">
            <a:avLst/>
          </a:prstGeom>
          <a:noFill/>
          <a:ln/>
        </p:spPr>
        <p:txBody>
          <a:bodyPr wrap="square" lIns="25400" tIns="25400" rIns="25400" bIns="25400" rtlCol="0" anchor="ctr">
            <a:normAutofit/>
          </a:bodyPr>
          <a:lstStyle/>
          <a:p>
            <a:pPr marL="0" indent="0" algn="r">
              <a:buNone/>
            </a:pPr>
            <a:r>
              <a:rPr lang="en-US" sz="1875" b="1" dirty="0">
                <a:solidFill>
                  <a:srgbClr val="244236"/>
                </a:solidFill>
                <a:latin typeface="Courier New" pitchFamily="34" charset="0"/>
                <a:ea typeface="Courier New" pitchFamily="34" charset="-122"/>
                <a:cs typeface="Courier New" pitchFamily="34" charset="-120"/>
              </a:rPr>
              <a:t>0.8535</a:t>
            </a:r>
            <a:endParaRPr lang="en-US" sz="1875" dirty="0"/>
          </a:p>
        </p:txBody>
      </p:sp>
      <p:sp>
        <p:nvSpPr>
          <p:cNvPr id="42" name="Text 40"/>
          <p:cNvSpPr/>
          <p:nvPr/>
        </p:nvSpPr>
        <p:spPr>
          <a:xfrm>
            <a:off x="9894682" y="7535815"/>
            <a:ext cx="858887" cy="352425"/>
          </a:xfrm>
          <a:prstGeom prst="rect">
            <a:avLst/>
          </a:prstGeom>
          <a:noFill/>
          <a:ln/>
        </p:spPr>
        <p:txBody>
          <a:bodyPr wrap="square" lIns="25400" tIns="25400" rIns="25400" bIns="25400" rtlCol="0" anchor="ctr">
            <a:normAutofit/>
          </a:bodyPr>
          <a:lstStyle/>
          <a:p>
            <a:pPr marL="0" indent="0" algn="r">
              <a:buNone/>
            </a:pPr>
            <a:r>
              <a:rPr lang="en-US" sz="1875" dirty="0">
                <a:solidFill>
                  <a:srgbClr val="5C7268"/>
                </a:solidFill>
                <a:latin typeface="Courier New" pitchFamily="34" charset="0"/>
                <a:ea typeface="Courier New" pitchFamily="34" charset="-122"/>
                <a:cs typeface="Courier New" pitchFamily="34" charset="-120"/>
              </a:rPr>
              <a:t>0.509</a:t>
            </a:r>
            <a:endParaRPr lang="en-US" sz="1875" dirty="0"/>
          </a:p>
        </p:txBody>
      </p:sp>
      <p:sp>
        <p:nvSpPr>
          <p:cNvPr id="56" name="Text 54"/>
          <p:cNvSpPr/>
          <p:nvPr/>
        </p:nvSpPr>
        <p:spPr>
          <a:xfrm>
            <a:off x="11442509" y="5016365"/>
            <a:ext cx="6384481" cy="87057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6900" b="1" dirty="0">
                <a:solidFill>
                  <a:srgbClr val="1A7A57"/>
                </a:solidFill>
                <a:latin typeface="Arial" pitchFamily="34" charset="0"/>
                <a:ea typeface="Arial" pitchFamily="34" charset="-122"/>
                <a:cs typeface="Arial" pitchFamily="34" charset="-120"/>
              </a:rPr>
              <a:t>0.8565</a:t>
            </a:r>
            <a:endParaRPr lang="en-US" sz="6900" dirty="0"/>
          </a:p>
        </p:txBody>
      </p:sp>
      <p:sp>
        <p:nvSpPr>
          <p:cNvPr id="57" name="Text 55"/>
          <p:cNvSpPr/>
          <p:nvPr/>
        </p:nvSpPr>
        <p:spPr>
          <a:xfrm>
            <a:off x="11442509" y="6227666"/>
            <a:ext cx="5978196" cy="733425"/>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63D22"/>
                </a:solidFill>
                <a:latin typeface="Arial" pitchFamily="34" charset="0"/>
                <a:ea typeface="Arial" pitchFamily="34" charset="-122"/>
                <a:cs typeface="Arial" pitchFamily="34" charset="-120"/>
              </a:rPr>
              <a:t>0.8565 public accuracy - no leak, no protected attributes.</a:t>
            </a:r>
            <a:endParaRPr lang="en-US" sz="2250" dirty="0"/>
          </a:p>
        </p:txBody>
      </p:sp>
      <p:sp>
        <p:nvSpPr>
          <p:cNvPr id="58" name="Text 56"/>
          <p:cNvSpPr/>
          <p:nvPr/>
        </p:nvSpPr>
        <p:spPr>
          <a:xfrm>
            <a:off x="11442509" y="7189691"/>
            <a:ext cx="5978196" cy="1204913"/>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025" dirty="0">
                <a:solidFill>
                  <a:srgbClr val="244236"/>
                </a:solidFill>
                <a:latin typeface="Arial" pitchFamily="34" charset="0"/>
                <a:ea typeface="Arial" pitchFamily="34" charset="-122"/>
                <a:cs typeface="Arial" pitchFamily="34" charset="-120"/>
              </a:rPr>
              <a:t>Our held-back validation tracked just above the live score the whole way - it </a:t>
            </a:r>
            <a:r>
              <a:rPr lang="en-US" sz="2025" b="1" dirty="0">
                <a:solidFill>
                  <a:srgbClr val="063D22"/>
                </a:solidFill>
                <a:latin typeface="Arial" pitchFamily="34" charset="0"/>
                <a:ea typeface="Arial" pitchFamily="34" charset="-122"/>
                <a:cs typeface="Arial" pitchFamily="34" charset="-120"/>
              </a:rPr>
              <a:t>called the result in advance </a:t>
            </a:r>
            <a:r>
              <a:rPr lang="en-US" sz="2025" dirty="0">
                <a:solidFill>
                  <a:srgbClr val="244236"/>
                </a:solidFill>
                <a:latin typeface="Arial" pitchFamily="34" charset="0"/>
                <a:ea typeface="Arial" pitchFamily="34" charset="-122"/>
                <a:cs typeface="Arial" pitchFamily="34" charset="-120"/>
              </a:rPr>
              <a:t>.</a:t>
            </a:r>
            <a:endParaRPr lang="en-US" sz="2025" dirty="0"/>
          </a:p>
        </p:txBody>
      </p:sp>
      <p:sp>
        <p:nvSpPr>
          <p:cNvPr id="60" name="Shape 58"/>
          <p:cNvSpPr/>
          <p:nvPr/>
        </p:nvSpPr>
        <p:spPr>
          <a:xfrm>
            <a:off x="952500" y="9239250"/>
            <a:ext cx="16383000" cy="9525"/>
          </a:xfrm>
          <a:prstGeom prst="rect">
            <a:avLst/>
          </a:prstGeom>
          <a:solidFill>
            <a:srgbClr val="D2E6DD"/>
          </a:solidFill>
          <a:ln/>
        </p:spPr>
        <p:txBody>
          <a:bodyPr/>
          <a:lstStyle/>
          <a:p>
            <a:endParaRPr lang="en-GB"/>
          </a:p>
        </p:txBody>
      </p:sp>
      <p:sp>
        <p:nvSpPr>
          <p:cNvPr id="61" name="Text 59"/>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Kaggle public leaderboard · 10 submissions, v1 → v10</a:t>
            </a:r>
            <a:endParaRPr lang="en-US" sz="1800" dirty="0"/>
          </a:p>
        </p:txBody>
      </p:sp>
      <p:pic>
        <p:nvPicPr>
          <p:cNvPr id="62" name="Picture 61" descr="deck_progression.png"/>
          <p:cNvPicPr>
            <a:picLocks noChangeAspect="1"/>
          </p:cNvPicPr>
          <p:nvPr/>
        </p:nvPicPr>
        <p:blipFill>
          <a:blip r:embed="rId3"/>
          <a:stretch>
            <a:fillRect/>
          </a:stretch>
        </p:blipFill>
        <p:spPr>
          <a:xfrm>
            <a:off x="822343" y="2694776"/>
            <a:ext cx="15361920" cy="16322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52500" y="1912218"/>
            <a:ext cx="16383000" cy="19050"/>
          </a:xfrm>
          <a:prstGeom prst="rect">
            <a:avLst/>
          </a:prstGeom>
          <a:solidFill>
            <a:srgbClr val="1A7A57"/>
          </a:solidFill>
          <a:ln/>
        </p:spPr>
        <p:txBody>
          <a:bodyPr/>
          <a:lstStyle/>
          <a:p>
            <a:pPr algn="l"/>
            <a:endParaRPr/>
          </a:p>
        </p:txBody>
      </p:sp>
      <p:sp>
        <p:nvSpPr>
          <p:cNvPr id="3" name="Text 1"/>
          <p:cNvSpPr/>
          <p:nvPr/>
        </p:nvSpPr>
        <p:spPr>
          <a:xfrm>
            <a:off x="952500" y="742950"/>
            <a:ext cx="1802130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007A33"/>
                </a:solidFill>
                <a:latin typeface="Courier New" pitchFamily="34" charset="0"/>
                <a:ea typeface="Courier New" pitchFamily="34" charset="-122"/>
                <a:cs typeface="Courier New" pitchFamily="34" charset="-120"/>
              </a:rPr>
              <a:t>11 · KEY CODE</a:t>
            </a:r>
            <a:endParaRPr lang="en-US" sz="1800" dirty="0"/>
          </a:p>
        </p:txBody>
      </p:sp>
      <p:sp>
        <p:nvSpPr>
          <p:cNvPr id="4" name="Text 2"/>
          <p:cNvSpPr/>
          <p:nvPr/>
        </p:nvSpPr>
        <p:spPr>
          <a:xfrm>
            <a:off x="952500" y="1152525"/>
            <a:ext cx="18021300" cy="550143"/>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3600" b="1" kern="0" spc="-37" dirty="0">
                <a:solidFill>
                  <a:srgbClr val="063D22"/>
                </a:solidFill>
                <a:latin typeface="Arial" pitchFamily="34" charset="0"/>
                <a:ea typeface="Arial" pitchFamily="34" charset="-122"/>
                <a:cs typeface="Arial" pitchFamily="34" charset="-120"/>
              </a:rPr>
              <a:t>The code behind the method</a:t>
            </a:r>
            <a:endParaRPr lang="en-US" sz="3600" dirty="0"/>
          </a:p>
        </p:txBody>
      </p:sp>
      <p:sp>
        <p:nvSpPr>
          <p:cNvPr id="20" name="Shape 18"/>
          <p:cNvSpPr/>
          <p:nvPr/>
        </p:nvSpPr>
        <p:spPr>
          <a:xfrm>
            <a:off x="952500" y="9239250"/>
            <a:ext cx="16383000" cy="9525"/>
          </a:xfrm>
          <a:prstGeom prst="rect">
            <a:avLst/>
          </a:prstGeom>
          <a:solidFill>
            <a:srgbClr val="D2E6DD"/>
          </a:solidFill>
          <a:ln/>
        </p:spPr>
        <p:txBody>
          <a:bodyPr/>
          <a:lstStyle/>
          <a:p>
            <a:pPr algn="l"/>
            <a:endParaRPr/>
          </a:p>
        </p:txBody>
      </p:sp>
      <p:sp>
        <p:nvSpPr>
          <p:cNvPr id="21" name="Text 19"/>
          <p:cNvSpPr/>
          <p:nvPr/>
        </p:nvSpPr>
        <p:spPr>
          <a:xfrm>
            <a:off x="952500" y="9458325"/>
            <a:ext cx="1687449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C7268"/>
                </a:solidFill>
                <a:latin typeface="Courier New" pitchFamily="34" charset="0"/>
                <a:ea typeface="Courier New" pitchFamily="34" charset="-122"/>
                <a:cs typeface="Courier New" pitchFamily="34" charset="-120"/>
              </a:rPr>
              <a:t>Source: src/prep.py · src/model_v10.py · full notebook in repo</a:t>
            </a:r>
            <a:endParaRPr lang="en-US" sz="1800" dirty="0"/>
          </a:p>
        </p:txBody>
      </p:sp>
      <p:sp>
        <p:nvSpPr>
          <p:cNvPr id="22" name="TextBox 21"/>
          <p:cNvSpPr txBox="1"/>
          <p:nvPr/>
        </p:nvSpPr>
        <p:spPr>
          <a:xfrm>
            <a:off x="950976" y="2395728"/>
            <a:ext cx="10058400" cy="365760"/>
          </a:xfrm>
          <a:prstGeom prst="rect">
            <a:avLst/>
          </a:prstGeom>
          <a:noFill/>
        </p:spPr>
        <p:txBody>
          <a:bodyPr wrap="none">
            <a:spAutoFit/>
          </a:bodyPr>
          <a:lstStyle/>
          <a:p>
            <a:r>
              <a:rPr sz="2100" b="1">
                <a:solidFill>
                  <a:srgbClr val="063D22"/>
                </a:solidFill>
                <a:latin typeface="Arial"/>
              </a:rPr>
              <a:t>Catching the planted leak</a:t>
            </a:r>
          </a:p>
        </p:txBody>
      </p:sp>
      <p:sp>
        <p:nvSpPr>
          <p:cNvPr id="23" name="Rounded Rectangle 22"/>
          <p:cNvSpPr/>
          <p:nvPr/>
        </p:nvSpPr>
        <p:spPr>
          <a:xfrm>
            <a:off x="950976" y="2807208"/>
            <a:ext cx="9692640" cy="1344168"/>
          </a:xfrm>
          <a:prstGeom prst="roundRect">
            <a:avLst/>
          </a:prstGeom>
          <a:solidFill>
            <a:srgbClr val="EAF3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137160" bIns="109728" rtlCol="0" anchor="ctr"/>
          <a:lstStyle/>
          <a:p>
            <a:pPr algn="l">
              <a:spcAft>
                <a:spcPts val="400"/>
              </a:spcAft>
            </a:pPr>
            <a:r>
              <a:rPr sz="1500">
                <a:solidFill>
                  <a:srgbClr val="14533B"/>
                </a:solidFill>
                <a:latin typeface="Courier New"/>
              </a:rPr>
              <a:t>tr_op = train.analyst_opinion.map(approval_rate)</a:t>
            </a:r>
          </a:p>
          <a:p>
            <a:pPr algn="l">
              <a:spcAft>
                <a:spcPts val="400"/>
              </a:spcAft>
            </a:pPr>
            <a:r>
              <a:rPr sz="1500">
                <a:solidFill>
                  <a:srgbClr val="14533B"/>
                </a:solidFill>
                <a:latin typeface="Courier New"/>
              </a:rPr>
              <a:t>train.internal_code.corr(tr_op)</a:t>
            </a:r>
            <a:r>
              <a:rPr sz="1500">
                <a:solidFill>
                  <a:srgbClr val="8A9A93"/>
                </a:solidFill>
                <a:latin typeface="Courier New"/>
              </a:rPr>
              <a:t>   # +0.46  real signal</a:t>
            </a:r>
          </a:p>
          <a:p>
            <a:pPr algn="l">
              <a:spcAft>
                <a:spcPts val="400"/>
              </a:spcAft>
            </a:pPr>
            <a:r>
              <a:rPr sz="1500">
                <a:solidFill>
                  <a:srgbClr val="14533B"/>
                </a:solidFill>
                <a:latin typeface="Courier New"/>
              </a:rPr>
              <a:t>test.internal_code.corr(te_op)</a:t>
            </a:r>
            <a:r>
              <a:rPr sz="1500">
                <a:solidFill>
                  <a:srgbClr val="8A9A93"/>
                </a:solidFill>
                <a:latin typeface="Courier New"/>
              </a:rPr>
              <a:t>    # -0.02  noise -&gt; DROP</a:t>
            </a:r>
          </a:p>
        </p:txBody>
      </p:sp>
      <p:sp>
        <p:nvSpPr>
          <p:cNvPr id="24" name="TextBox 23"/>
          <p:cNvSpPr txBox="1"/>
          <p:nvPr/>
        </p:nvSpPr>
        <p:spPr>
          <a:xfrm>
            <a:off x="11338560" y="2852928"/>
            <a:ext cx="6400800" cy="1371600"/>
          </a:xfrm>
          <a:prstGeom prst="rect">
            <a:avLst/>
          </a:prstGeom>
          <a:noFill/>
        </p:spPr>
        <p:txBody>
          <a:bodyPr wrap="square">
            <a:spAutoFit/>
          </a:bodyPr>
          <a:lstStyle/>
          <a:p>
            <a:r>
              <a:rPr sz="1700">
                <a:solidFill>
                  <a:srgbClr val="5C7268"/>
                </a:solidFill>
                <a:latin typeface="Arial"/>
              </a:rPr>
              <a:t>The column that predicts in training is random noise in test - proof it was scrambled on purpose.</a:t>
            </a:r>
          </a:p>
        </p:txBody>
      </p:sp>
      <p:sp>
        <p:nvSpPr>
          <p:cNvPr id="25" name="TextBox 24"/>
          <p:cNvSpPr txBox="1"/>
          <p:nvPr/>
        </p:nvSpPr>
        <p:spPr>
          <a:xfrm>
            <a:off x="950976" y="4681728"/>
            <a:ext cx="10058400" cy="365760"/>
          </a:xfrm>
          <a:prstGeom prst="rect">
            <a:avLst/>
          </a:prstGeom>
          <a:noFill/>
        </p:spPr>
        <p:txBody>
          <a:bodyPr wrap="none">
            <a:spAutoFit/>
          </a:bodyPr>
          <a:lstStyle/>
          <a:p>
            <a:r>
              <a:rPr sz="2100" b="1">
                <a:solidFill>
                  <a:srgbClr val="063D22"/>
                </a:solidFill>
                <a:latin typeface="Arial"/>
              </a:rPr>
              <a:t>Fixing the legacy mess</a:t>
            </a:r>
          </a:p>
        </p:txBody>
      </p:sp>
      <p:sp>
        <p:nvSpPr>
          <p:cNvPr id="26" name="Rounded Rectangle 25"/>
          <p:cNvSpPr/>
          <p:nvPr/>
        </p:nvSpPr>
        <p:spPr>
          <a:xfrm>
            <a:off x="950976" y="5093208"/>
            <a:ext cx="9692640" cy="1344168"/>
          </a:xfrm>
          <a:prstGeom prst="roundRect">
            <a:avLst/>
          </a:prstGeom>
          <a:solidFill>
            <a:srgbClr val="EAF3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137160" bIns="109728" rtlCol="0" anchor="ctr"/>
          <a:lstStyle/>
          <a:p>
            <a:pPr algn="l">
              <a:spcAft>
                <a:spcPts val="400"/>
              </a:spcAft>
            </a:pPr>
            <a:r>
              <a:rPr sz="1500">
                <a:solidFill>
                  <a:srgbClr val="14533B"/>
                </a:solidFill>
                <a:latin typeface="Courier New"/>
              </a:rPr>
              <a:t>ann_income = np.where(inc &lt; 700, inc*1000, inc)</a:t>
            </a:r>
            <a:r>
              <a:rPr sz="1500">
                <a:solidFill>
                  <a:srgbClr val="8A9A93"/>
                </a:solidFill>
                <a:latin typeface="Courier New"/>
              </a:rPr>
              <a:t>  # units</a:t>
            </a:r>
          </a:p>
          <a:p>
            <a:pPr algn="l">
              <a:spcAft>
                <a:spcPts val="400"/>
              </a:spcAft>
            </a:pPr>
            <a:r>
              <a:rPr sz="1500">
                <a:solidFill>
                  <a:srgbClr val="14533B"/>
                </a:solidFill>
                <a:latin typeface="Courier New"/>
              </a:rPr>
              <a:t>risk12 = risk_1.fillna(risk_2)</a:t>
            </a:r>
            <a:r>
              <a:rPr sz="1500">
                <a:solidFill>
                  <a:srgbClr val="8A9A93"/>
                </a:solidFill>
                <a:latin typeface="Courier New"/>
              </a:rPr>
              <a:t>                  # r1 == r2</a:t>
            </a:r>
          </a:p>
          <a:p>
            <a:pPr algn="l">
              <a:spcAft>
                <a:spcPts val="400"/>
              </a:spcAft>
            </a:pPr>
            <a:r>
              <a:rPr sz="1500">
                <a:solidFill>
                  <a:srgbClr val="14533B"/>
                </a:solidFill>
                <a:latin typeface="Courier New"/>
              </a:rPr>
              <a:t>risk_dev = (risk - 55).abs()</a:t>
            </a:r>
            <a:r>
              <a:rPr sz="1500">
                <a:solidFill>
                  <a:srgbClr val="8A9A93"/>
                </a:solidFill>
                <a:latin typeface="Courier New"/>
              </a:rPr>
              <a:t>                    # inverted-U</a:t>
            </a:r>
          </a:p>
        </p:txBody>
      </p:sp>
      <p:sp>
        <p:nvSpPr>
          <p:cNvPr id="27" name="TextBox 26"/>
          <p:cNvSpPr txBox="1"/>
          <p:nvPr/>
        </p:nvSpPr>
        <p:spPr>
          <a:xfrm>
            <a:off x="11338560" y="5138928"/>
            <a:ext cx="6400800" cy="1371600"/>
          </a:xfrm>
          <a:prstGeom prst="rect">
            <a:avLst/>
          </a:prstGeom>
          <a:noFill/>
        </p:spPr>
        <p:txBody>
          <a:bodyPr wrap="square">
            <a:spAutoFit/>
          </a:bodyPr>
          <a:lstStyle/>
          <a:p>
            <a:r>
              <a:rPr sz="1700">
                <a:solidFill>
                  <a:srgbClr val="5C7268"/>
                </a:solidFill>
                <a:latin typeface="Arial"/>
              </a:rPr>
              <a:t>Three of the highest-value fixes: unit rescaling, one duplicate column, and the risk-shape feature.</a:t>
            </a:r>
          </a:p>
        </p:txBody>
      </p:sp>
      <p:sp>
        <p:nvSpPr>
          <p:cNvPr id="28" name="TextBox 27"/>
          <p:cNvSpPr txBox="1"/>
          <p:nvPr/>
        </p:nvSpPr>
        <p:spPr>
          <a:xfrm>
            <a:off x="950976" y="6967728"/>
            <a:ext cx="10058400" cy="365760"/>
          </a:xfrm>
          <a:prstGeom prst="rect">
            <a:avLst/>
          </a:prstGeom>
          <a:noFill/>
        </p:spPr>
        <p:txBody>
          <a:bodyPr wrap="none">
            <a:spAutoFit/>
          </a:bodyPr>
          <a:lstStyle/>
          <a:p>
            <a:r>
              <a:rPr sz="2100" b="1">
                <a:solidFill>
                  <a:srgbClr val="063D22"/>
                </a:solidFill>
                <a:latin typeface="Arial"/>
              </a:rPr>
              <a:t>Honest validation + robust cutoff</a:t>
            </a:r>
          </a:p>
        </p:txBody>
      </p:sp>
      <p:sp>
        <p:nvSpPr>
          <p:cNvPr id="29" name="Rounded Rectangle 28"/>
          <p:cNvSpPr/>
          <p:nvPr/>
        </p:nvSpPr>
        <p:spPr>
          <a:xfrm>
            <a:off x="950976" y="7379208"/>
            <a:ext cx="9692640" cy="1033272"/>
          </a:xfrm>
          <a:prstGeom prst="roundRect">
            <a:avLst/>
          </a:prstGeom>
          <a:solidFill>
            <a:srgbClr val="EAF3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137160" bIns="109728" rtlCol="0" anchor="ctr"/>
          <a:lstStyle/>
          <a:p>
            <a:pPr algn="l">
              <a:spcAft>
                <a:spcPts val="400"/>
              </a:spcAft>
            </a:pPr>
            <a:r>
              <a:rPr sz="1500">
                <a:solidFill>
                  <a:srgbClr val="14533B"/>
                </a:solidFill>
                <a:latin typeface="Courier New"/>
              </a:rPr>
              <a:t>oof[val] = model.predict_proba(X.iloc[val])[:,1]</a:t>
            </a:r>
            <a:r>
              <a:rPr sz="1500">
                <a:solidFill>
                  <a:srgbClr val="8A9A93"/>
                </a:solidFill>
                <a:latin typeface="Courier New"/>
              </a:rPr>
              <a:t>  # 5-fold OOF</a:t>
            </a:r>
          </a:p>
          <a:p>
            <a:pPr algn="l">
              <a:spcAft>
                <a:spcPts val="400"/>
              </a:spcAft>
            </a:pPr>
            <a:r>
              <a:rPr sz="1500">
                <a:solidFill>
                  <a:srgbClr val="14533B"/>
                </a:solidFill>
                <a:latin typeface="Courier New"/>
              </a:rPr>
              <a:t>t = thresholds[acc.argsort()[-6:]].mean()</a:t>
            </a:r>
            <a:r>
              <a:rPr sz="1500">
                <a:solidFill>
                  <a:srgbClr val="8A9A93"/>
                </a:solidFill>
                <a:latin typeface="Courier New"/>
              </a:rPr>
              <a:t>         # smooth cutoff</a:t>
            </a:r>
          </a:p>
        </p:txBody>
      </p:sp>
      <p:sp>
        <p:nvSpPr>
          <p:cNvPr id="30" name="TextBox 29"/>
          <p:cNvSpPr txBox="1"/>
          <p:nvPr/>
        </p:nvSpPr>
        <p:spPr>
          <a:xfrm>
            <a:off x="11338560" y="7424928"/>
            <a:ext cx="6400800" cy="1371600"/>
          </a:xfrm>
          <a:prstGeom prst="rect">
            <a:avLst/>
          </a:prstGeom>
          <a:noFill/>
        </p:spPr>
        <p:txBody>
          <a:bodyPr wrap="square">
            <a:spAutoFit/>
          </a:bodyPr>
          <a:lstStyle/>
          <a:p>
            <a:r>
              <a:rPr sz="1700">
                <a:solidFill>
                  <a:srgbClr val="5C7268"/>
                </a:solidFill>
                <a:latin typeface="Arial"/>
              </a:rPr>
              <a:t>Every row scored out-of-fold; the decision cutoff is averaged over the top-1% to avoid overfitting noise.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7A57"/>
        </a:solidFill>
        <a:effectLst/>
      </p:bgPr>
    </p:bg>
    <p:spTree>
      <p:nvGrpSpPr>
        <p:cNvPr id="1" name=""/>
        <p:cNvGrpSpPr/>
        <p:nvPr/>
      </p:nvGrpSpPr>
      <p:grpSpPr>
        <a:xfrm>
          <a:off x="0" y="0"/>
          <a:ext cx="0" cy="0"/>
          <a:chOff x="0" y="0"/>
          <a:chExt cx="0" cy="0"/>
        </a:xfrm>
      </p:grpSpPr>
      <p:sp>
        <p:nvSpPr>
          <p:cNvPr id="2" name="Text 0"/>
          <p:cNvSpPr/>
          <p:nvPr/>
        </p:nvSpPr>
        <p:spPr>
          <a:xfrm>
            <a:off x="990600" y="876300"/>
            <a:ext cx="179374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25" dirty="0">
                <a:solidFill>
                  <a:srgbClr val="B2E0D4"/>
                </a:solidFill>
                <a:latin typeface="Courier New" pitchFamily="34" charset="0"/>
                <a:ea typeface="Courier New" pitchFamily="34" charset="-122"/>
                <a:cs typeface="Courier New" pitchFamily="34" charset="-120"/>
              </a:rPr>
              <a:t>12 · QUESTIONS</a:t>
            </a:r>
            <a:endParaRPr lang="en-US" sz="1800" dirty="0"/>
          </a:p>
        </p:txBody>
      </p:sp>
      <p:sp>
        <p:nvSpPr>
          <p:cNvPr id="3" name="Text 1"/>
          <p:cNvSpPr/>
          <p:nvPr/>
        </p:nvSpPr>
        <p:spPr>
          <a:xfrm>
            <a:off x="990600" y="3398044"/>
            <a:ext cx="17937480" cy="1028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800" b="1" dirty="0">
                <a:solidFill>
                  <a:srgbClr val="FFFFFF"/>
                </a:solidFill>
                <a:latin typeface="Georgia" pitchFamily="34" charset="0"/>
                <a:ea typeface="Georgia" pitchFamily="34" charset="-122"/>
                <a:cs typeface="Georgia" pitchFamily="34" charset="-120"/>
              </a:rPr>
              <a:t>Thank you.</a:t>
            </a:r>
            <a:endParaRPr lang="en-US" sz="7800" dirty="0"/>
          </a:p>
        </p:txBody>
      </p:sp>
      <p:sp>
        <p:nvSpPr>
          <p:cNvPr id="4" name="Text 2"/>
          <p:cNvSpPr/>
          <p:nvPr/>
        </p:nvSpPr>
        <p:spPr>
          <a:xfrm>
            <a:off x="990600" y="4617244"/>
            <a:ext cx="17937480"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B2E0D4"/>
                </a:solidFill>
                <a:latin typeface="Arial" pitchFamily="34" charset="0"/>
                <a:ea typeface="Arial" pitchFamily="34" charset="-122"/>
                <a:cs typeface="Arial" pitchFamily="34" charset="-120"/>
              </a:rPr>
              <a:t>We’re happy to take questions.</a:t>
            </a:r>
            <a:endParaRPr lang="en-US" sz="2550" dirty="0"/>
          </a:p>
        </p:txBody>
      </p:sp>
      <p:sp>
        <p:nvSpPr>
          <p:cNvPr id="5" name="Shape 3"/>
          <p:cNvSpPr/>
          <p:nvPr/>
        </p:nvSpPr>
        <p:spPr>
          <a:xfrm>
            <a:off x="990600" y="5522119"/>
            <a:ext cx="3759175" cy="19050"/>
          </a:xfrm>
          <a:prstGeom prst="rect">
            <a:avLst/>
          </a:prstGeom>
          <a:solidFill>
            <a:srgbClr val="B2E0D4"/>
          </a:solidFill>
          <a:ln/>
        </p:spPr>
        <p:txBody>
          <a:bodyPr/>
          <a:lstStyle/>
          <a:p>
            <a:endParaRPr/>
          </a:p>
        </p:txBody>
      </p:sp>
      <p:sp>
        <p:nvSpPr>
          <p:cNvPr id="6" name="Text 4"/>
          <p:cNvSpPr/>
          <p:nvPr/>
        </p:nvSpPr>
        <p:spPr>
          <a:xfrm>
            <a:off x="990600" y="5712619"/>
            <a:ext cx="4135093" cy="338138"/>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Built clean</a:t>
            </a:r>
            <a:endParaRPr lang="en-US" sz="1950" dirty="0"/>
          </a:p>
        </p:txBody>
      </p:sp>
      <p:sp>
        <p:nvSpPr>
          <p:cNvPr id="7" name="Text 5"/>
          <p:cNvSpPr/>
          <p:nvPr/>
        </p:nvSpPr>
        <p:spPr>
          <a:xfrm>
            <a:off x="990600" y="6088856"/>
            <a:ext cx="3871950"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E0F7F1"/>
                </a:solidFill>
                <a:latin typeface="Arial" pitchFamily="34" charset="0"/>
                <a:ea typeface="Arial" pitchFamily="34" charset="-122"/>
                <a:cs typeface="Arial" pitchFamily="34" charset="-120"/>
              </a:rPr>
              <a:t>no planted trap, no protected data.</a:t>
            </a:r>
            <a:endParaRPr lang="en-US" sz="1875" dirty="0"/>
          </a:p>
        </p:txBody>
      </p:sp>
      <p:sp>
        <p:nvSpPr>
          <p:cNvPr id="8" name="Shape 6"/>
          <p:cNvSpPr/>
          <p:nvPr/>
        </p:nvSpPr>
        <p:spPr>
          <a:xfrm>
            <a:off x="5016475" y="5522119"/>
            <a:ext cx="3759250" cy="19050"/>
          </a:xfrm>
          <a:prstGeom prst="rect">
            <a:avLst/>
          </a:prstGeom>
          <a:solidFill>
            <a:srgbClr val="B2E0D4"/>
          </a:solidFill>
          <a:ln/>
        </p:spPr>
        <p:txBody>
          <a:bodyPr/>
          <a:lstStyle/>
          <a:p>
            <a:endParaRPr/>
          </a:p>
        </p:txBody>
      </p:sp>
      <p:sp>
        <p:nvSpPr>
          <p:cNvPr id="9" name="Text 7"/>
          <p:cNvSpPr/>
          <p:nvPr/>
        </p:nvSpPr>
        <p:spPr>
          <a:xfrm>
            <a:off x="5016475" y="5712619"/>
            <a:ext cx="4135175" cy="338138"/>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We caught the traps first</a:t>
            </a:r>
            <a:endParaRPr lang="en-US" sz="1950" dirty="0"/>
          </a:p>
        </p:txBody>
      </p:sp>
      <p:sp>
        <p:nvSpPr>
          <p:cNvPr id="10" name="Text 8"/>
          <p:cNvSpPr/>
          <p:nvPr/>
        </p:nvSpPr>
        <p:spPr>
          <a:xfrm>
            <a:off x="5016475" y="6088856"/>
            <a:ext cx="3872027"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E0F7F1"/>
                </a:solidFill>
                <a:latin typeface="Arial" pitchFamily="34" charset="0"/>
                <a:ea typeface="Arial" pitchFamily="34" charset="-122"/>
                <a:cs typeface="Arial" pitchFamily="34" charset="-120"/>
              </a:rPr>
              <a:t>forensics mattered more than the algorithm.</a:t>
            </a:r>
            <a:endParaRPr lang="en-US" sz="1875" dirty="0"/>
          </a:p>
        </p:txBody>
      </p:sp>
      <p:sp>
        <p:nvSpPr>
          <p:cNvPr id="11" name="Shape 9"/>
          <p:cNvSpPr/>
          <p:nvPr/>
        </p:nvSpPr>
        <p:spPr>
          <a:xfrm>
            <a:off x="9042425" y="5522119"/>
            <a:ext cx="3759175" cy="19050"/>
          </a:xfrm>
          <a:prstGeom prst="rect">
            <a:avLst/>
          </a:prstGeom>
          <a:solidFill>
            <a:srgbClr val="B2E0D4"/>
          </a:solidFill>
          <a:ln/>
        </p:spPr>
        <p:txBody>
          <a:bodyPr/>
          <a:lstStyle/>
          <a:p>
            <a:endParaRPr/>
          </a:p>
        </p:txBody>
      </p:sp>
      <p:sp>
        <p:nvSpPr>
          <p:cNvPr id="12" name="Text 10"/>
          <p:cNvSpPr/>
          <p:nvPr/>
        </p:nvSpPr>
        <p:spPr>
          <a:xfrm>
            <a:off x="9042425" y="5712619"/>
            <a:ext cx="4135093" cy="338138"/>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We measured our ethics</a:t>
            </a:r>
            <a:endParaRPr lang="en-US" sz="1950" dirty="0"/>
          </a:p>
        </p:txBody>
      </p:sp>
      <p:sp>
        <p:nvSpPr>
          <p:cNvPr id="13" name="Text 11"/>
          <p:cNvSpPr/>
          <p:nvPr/>
        </p:nvSpPr>
        <p:spPr>
          <a:xfrm>
            <a:off x="9042425" y="6088856"/>
            <a:ext cx="4135093"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E0F7F1"/>
                </a:solidFill>
                <a:latin typeface="Arial" pitchFamily="34" charset="0"/>
                <a:ea typeface="Arial" pitchFamily="34" charset="-122"/>
                <a:cs typeface="Arial" pitchFamily="34" charset="-120"/>
              </a:rPr>
              <a:t>refusing +0.7pt of pure bias.</a:t>
            </a:r>
            <a:endParaRPr lang="en-US" sz="1875" dirty="0"/>
          </a:p>
        </p:txBody>
      </p:sp>
      <p:sp>
        <p:nvSpPr>
          <p:cNvPr id="14" name="Shape 12"/>
          <p:cNvSpPr/>
          <p:nvPr/>
        </p:nvSpPr>
        <p:spPr>
          <a:xfrm>
            <a:off x="990600" y="9020175"/>
            <a:ext cx="16306800" cy="9525"/>
          </a:xfrm>
          <a:prstGeom prst="rect">
            <a:avLst/>
          </a:prstGeom>
          <a:solidFill>
            <a:srgbClr val="E0F7F1">
              <a:alpha val="25000"/>
            </a:srgbClr>
          </a:solidFill>
          <a:ln/>
        </p:spPr>
        <p:txBody>
          <a:bodyPr/>
          <a:lstStyle/>
          <a:p>
            <a:endParaRPr/>
          </a:p>
        </p:txBody>
      </p:sp>
      <p:sp>
        <p:nvSpPr>
          <p:cNvPr id="15" name="Text 13"/>
          <p:cNvSpPr/>
          <p:nvPr/>
        </p:nvSpPr>
        <p:spPr>
          <a:xfrm>
            <a:off x="990600" y="9277350"/>
            <a:ext cx="4676730" cy="36195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Gianluca Bavelloni · Riwad Irshied</a:t>
            </a:r>
            <a:endParaRPr lang="en-US" sz="2100" dirty="0"/>
          </a:p>
        </p:txBody>
      </p:sp>
      <p:sp>
        <p:nvSpPr>
          <p:cNvPr id="16" name="Text 14"/>
          <p:cNvSpPr/>
          <p:nvPr/>
        </p:nvSpPr>
        <p:spPr>
          <a:xfrm>
            <a:off x="11535742" y="9310688"/>
            <a:ext cx="633782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B2E0D4"/>
                </a:solidFill>
                <a:latin typeface="Courier New" pitchFamily="34" charset="0"/>
                <a:ea typeface="Courier New" pitchFamily="34" charset="-122"/>
                <a:cs typeface="Courier New" pitchFamily="34" charset="-120"/>
              </a:rPr>
              <a:t>github.com/GianlucaBave/final-data-finance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1026</TotalTime>
  <Words>2222</Words>
  <Application>Microsoft Macintosh PowerPoint</Application>
  <PresentationFormat>Custom</PresentationFormat>
  <Paragraphs>222</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Irshied, Riwad</cp:lastModifiedBy>
  <cp:revision>7</cp:revision>
  <dcterms:created xsi:type="dcterms:W3CDTF">2026-06-16T18:58:41Z</dcterms:created>
  <dcterms:modified xsi:type="dcterms:W3CDTF">2026-06-17T13:59:07Z</dcterms:modified>
</cp:coreProperties>
</file>