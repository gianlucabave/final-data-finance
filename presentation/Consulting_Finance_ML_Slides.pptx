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9" r:id="rId20"/>
    <p:sldId id="264" r:id="rId10"/>
    <p:sldId id="265" r:id="rId11"/>
    <p:sldId id="266" r:id="rId12"/>
    <p:sldId id="268" r:id="rId13"/>
    <p:sldId id="267" r:id="rId14"/>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1" d="100"/>
          <a:sy n="81" d="100"/>
        </p:scale>
        <p:origin x="74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 Id="rId20"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9609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One-line pitch: we built a model to decide whether a personal loan should be approved, using messy data that was deliberately sabotaged. We tied for #1 on the public leaderboard without the planted leak and without the protected attributes that would have inflated the score.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mirrors a real underwriting workflow. The model's job is to get both calls right. Two of the four outcomes cost the bank money: approving a loan that defaults, and rejecting a customer who would have repaid.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four years of past decisions to learn from, but the test set is a single future month we have never seen. That is why we validate by predicting held-back months, not with random splits. The target is nearly balanced, so a coin flip scores about 52%.</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project. One column looked almost perfect in our own tests, but a simple check showed it tracks real signal in training and is pure noise in the test set: it had been scrambled on purpose. Anyone who trusted it would see 99% in cross-validation and then collapse to about 55% on the real leaderboard.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shared script cleans the training and test data in exactly the same way, so the whole thing is reproducible and there is no leakage. We end with 20 features we trust, after dropping the four traps.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insights did most of the work. First, the risk indicators looked useless on a straight-line correlation, but plotting them showed approval peaks in the middle and drops at both extremes. Second, the free-text analyst note is really 60 fixed sentences in three clear sentiment tiers, so we let the model learn each one's approval rate instead of doing fancy text analysis.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could have added race and religion for about +0.7 points and probably first place. We measured it and refused, because those columns have zero link to real credit risk yet shift approval rates by group. The gain is not better risk prediction; it is automated discrimination, and it is illegal under EU and US credit law.</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selection: gradient-boosted trees won a 5-fold bake-off, from Naive Bayes 0.760 up to LightGBM 0.836. Adversarial validation shows a train-vs-test classifier scores AUC 1.000 on all features, but only because of the date (the test set is all May 2026); drop the date features and it falls to 0.497, proving train and test are identically distributed apart from time. Final labels use a smooth threshold, the average of the top 1% of candidate cutoffs, which is more robust than a single argmax cutoff.</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tied for first on the public leaderboard at 0.8565, cleanly, with no leak and no protected attributes. Final submissions are v6 (public-best) and v10 (clean prep, pseudo-labeling, smooth threshold; OOF 0.8590, ROC AUC 0.9377, public 0.8535, approval 0.509). v10's OOF is slightly lower than v6 and v7 by design: the smooth threshold is deliberately conservative and the z-scoring is now leak-free, not because the model is worse. Adversarial validation confirms the CV-to-leaderboard gap is distribution shift over time, not overfitting.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we understood the problem, not just ran a library. The hardest part was the forensics, the validation against the real task, and quantifying the ethics rather than hand-waving them.</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Separate what we did from what we'd do next. For a finance audience the strongest next step is deciding by cost rather than accuracy, plus calibrated probabilities: that reframes this from a Kaggle score to real lending economics.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questions most likely to come up: why we dropped race and religion (lead with the +0.7pt number), and how we knew the column was a leak (it tracked real signal in training but was random in test). Both make us look rigorous.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ESADE — DATA SCIENCE FOR FINANCE · 2026</a:t>
            </a:r>
            <a:endParaRPr lang="en-US" sz="1800" dirty="0"/>
          </a:p>
        </p:txBody>
      </p:sp>
      <p:sp>
        <p:nvSpPr>
          <p:cNvPr id="3" name="Text 1"/>
          <p:cNvSpPr/>
          <p:nvPr/>
        </p:nvSpPr>
        <p:spPr>
          <a:xfrm>
            <a:off x="990600" y="2812777"/>
            <a:ext cx="16796004" cy="1943100"/>
          </a:xfrm>
          <a:prstGeom prst="rect">
            <a:avLst/>
          </a:prstGeom>
          <a:noFill/>
          <a:ln/>
        </p:spPr>
        <p:txBody>
          <a:bodyPr wrap="square" lIns="25400" tIns="25400" rIns="25400" bIns="25400" rtlCol="0" anchor="t">
            <a:normAutofit/>
          </a:bodyPr>
          <a:lstStyle/>
          <a:p>
            <a:pPr marL="0" indent="0" algn="l">
              <a:lnSpc>
                <a:spcPct val="100000"/>
              </a:lnSpc>
              <a:buNone/>
            </a:pPr>
            <a:r>
              <a:rPr lang="en-US" sz="7500" b="1" kern="0" spc="-75" dirty="0">
                <a:solidFill>
                  <a:srgbClr val="FFFFFF"/>
                </a:solidFill>
                <a:latin typeface="Georgia" pitchFamily="34" charset="0"/>
                <a:ea typeface="Georgia" pitchFamily="34" charset="-122"/>
                <a:cs typeface="Georgia" pitchFamily="34" charset="-120"/>
              </a:rPr>
              <a:t>Predicting loan approvals</a:t>
            </a:r>
            <a:endParaRPr lang="en-US" sz="7500" dirty="0"/>
          </a:p>
        </p:txBody>
      </p:sp>
      <p:sp>
        <p:nvSpPr>
          <p:cNvPr id="4" name="Text 2"/>
          <p:cNvSpPr/>
          <p:nvPr/>
        </p:nvSpPr>
        <p:spPr>
          <a:xfrm>
            <a:off x="990600" y="5003527"/>
            <a:ext cx="9810750" cy="781050"/>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Teaching a model to make the same call a bank’s credit analyst would — using data that was deliberately messy.</a:t>
            </a:r>
            <a:endParaRPr lang="en-US" sz="2550" dirty="0"/>
          </a:p>
        </p:txBody>
      </p:sp>
      <p:sp>
        <p:nvSpPr>
          <p:cNvPr id="6" name="Text 4"/>
          <p:cNvSpPr/>
          <p:nvPr/>
        </p:nvSpPr>
        <p:spPr>
          <a:xfrm>
            <a:off x="2015654" y="6594202"/>
            <a:ext cx="6082665" cy="784771"/>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2100" dirty="0">
                <a:solidFill>
                  <a:srgbClr val="B2E0D4"/>
                </a:solidFill>
                <a:latin typeface="Arial" pitchFamily="34" charset="0"/>
                <a:ea typeface="Arial" pitchFamily="34" charset="-122"/>
                <a:cs typeface="Arial" pitchFamily="34" charset="-120"/>
              </a:rPr>
              <a:t>Built clean — we caught the planted data trap and used no race or religion data.</a:t>
            </a:r>
            <a:endParaRPr lang="en-US" sz="2100" dirty="0"/>
          </a:p>
        </p:txBody>
      </p:sp>
      <p:sp>
        <p:nvSpPr>
          <p:cNvPr id="7" name="Shape 5"/>
          <p:cNvSpPr/>
          <p:nvPr/>
        </p:nvSpPr>
        <p:spPr>
          <a:xfrm>
            <a:off x="990600" y="9020175"/>
            <a:ext cx="16306800" cy="9525"/>
          </a:xfrm>
          <a:prstGeom prst="rect">
            <a:avLst/>
          </a:prstGeom>
          <a:solidFill>
            <a:srgbClr val="E0F7F1">
              <a:alpha val="25000"/>
            </a:srgbClr>
          </a:solidFill>
          <a:ln/>
        </p:spPr>
        <p:txBody>
          <a:bodyPr/>
          <a:lstStyle/>
          <a:p>
            <a:endParaRPr lang="en-GB"/>
          </a:p>
        </p:txBody>
      </p:sp>
      <p:sp>
        <p:nvSpPr>
          <p:cNvPr id="8" name="Text 6"/>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9" name="Text 7"/>
          <p:cNvSpPr/>
          <p:nvPr/>
        </p:nvSpPr>
        <p:spPr>
          <a:xfrm>
            <a:off x="12770383" y="9344025"/>
            <a:ext cx="4527017" cy="295275"/>
          </a:xfrm>
          <a:prstGeom prst="rect">
            <a:avLst/>
          </a:prstGeom>
          <a:noFill/>
          <a:ln/>
        </p:spPr>
        <p:txBody>
          <a:bodyPr wrap="square" lIns="25400" tIns="25400" rIns="25400" bIns="25400" rtlCol="0" anchor="t">
            <a:normAutofit fontScale="92500" lnSpcReduction="10000"/>
          </a:bodyPr>
          <a:lstStyle/>
          <a:p>
            <a:pPr marL="0" indent="0" algn="r">
              <a:buNone/>
            </a:pPr>
            <a:r>
              <a:rPr lang="en-US" sz="1800" dirty="0">
                <a:solidFill>
                  <a:srgbClr val="B2E0D4"/>
                </a:solidFill>
                <a:latin typeface="Courier New" pitchFamily="34" charset="0"/>
                <a:ea typeface="Courier New" pitchFamily="34" charset="-122"/>
                <a:cs typeface="Courier New" pitchFamily="34" charset="-120"/>
              </a:rPr>
              <a:t>Kaggle ESADE DSF26 · June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02 · THE BUSINESS PROBLEM</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A wrong loan decision costs the bank money in two different ways</a:t>
            </a:r>
            <a:endParaRPr lang="en-US" sz="3600" dirty="0"/>
          </a:p>
        </p:txBody>
      </p:sp>
      <p:sp>
        <p:nvSpPr>
          <p:cNvPr id="5" name="Text 3"/>
          <p:cNvSpPr/>
          <p:nvPr/>
        </p:nvSpPr>
        <p:spPr>
          <a:xfrm>
            <a:off x="2800443" y="4346972"/>
            <a:ext cx="4188954"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be repaid</a:t>
            </a:r>
            <a:endParaRPr lang="en-US" sz="1800" dirty="0"/>
          </a:p>
        </p:txBody>
      </p:sp>
      <p:sp>
        <p:nvSpPr>
          <p:cNvPr id="6" name="Text 4"/>
          <p:cNvSpPr/>
          <p:nvPr/>
        </p:nvSpPr>
        <p:spPr>
          <a:xfrm>
            <a:off x="6741929" y="4346972"/>
            <a:ext cx="4189035" cy="295275"/>
          </a:xfrm>
          <a:prstGeom prst="rect">
            <a:avLst/>
          </a:prstGeom>
          <a:noFill/>
          <a:ln/>
        </p:spPr>
        <p:txBody>
          <a:bodyPr wrap="square" lIns="25400" tIns="25400" rIns="25400" bIns="25400" rtlCol="0" anchor="t">
            <a:normAutofit fontScale="92500" lnSpcReduction="10000"/>
          </a:bodyPr>
          <a:lstStyle/>
          <a:p>
            <a:pPr marL="0" indent="0" algn="ctr">
              <a:buNone/>
            </a:pPr>
            <a:r>
              <a:rPr lang="en-US" sz="1800" dirty="0">
                <a:solidFill>
                  <a:srgbClr val="5C7268"/>
                </a:solidFill>
                <a:latin typeface="Courier New" pitchFamily="34" charset="0"/>
                <a:ea typeface="Courier New" pitchFamily="34" charset="-122"/>
                <a:cs typeface="Courier New" pitchFamily="34" charset="-120"/>
              </a:rPr>
              <a:t>Loan would default</a:t>
            </a:r>
            <a:endParaRPr lang="en-US" sz="1800" dirty="0"/>
          </a:p>
        </p:txBody>
      </p:sp>
      <p:sp>
        <p:nvSpPr>
          <p:cNvPr id="7" name="Text 5"/>
          <p:cNvSpPr/>
          <p:nvPr/>
        </p:nvSpPr>
        <p:spPr>
          <a:xfrm>
            <a:off x="876300" y="4794647"/>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approve</a:t>
            </a:r>
            <a:endParaRPr lang="en-US" sz="1950" dirty="0"/>
          </a:p>
        </p:txBody>
      </p:sp>
      <p:sp>
        <p:nvSpPr>
          <p:cNvPr id="8" name="Shape 6"/>
          <p:cNvSpPr/>
          <p:nvPr/>
        </p:nvSpPr>
        <p:spPr>
          <a:xfrm>
            <a:off x="2990850" y="4794647"/>
            <a:ext cx="3808140"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9" name="Text 7"/>
          <p:cNvSpPr/>
          <p:nvPr/>
        </p:nvSpPr>
        <p:spPr>
          <a:xfrm>
            <a:off x="3248025" y="5051822"/>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10" name="Text 8"/>
          <p:cNvSpPr/>
          <p:nvPr/>
        </p:nvSpPr>
        <p:spPr>
          <a:xfrm>
            <a:off x="3248025" y="5432822"/>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Good loan, earns interest</a:t>
            </a:r>
            <a:endParaRPr lang="en-US" sz="1800" dirty="0"/>
          </a:p>
        </p:txBody>
      </p:sp>
      <p:sp>
        <p:nvSpPr>
          <p:cNvPr id="11" name="Shape 9"/>
          <p:cNvSpPr/>
          <p:nvPr/>
        </p:nvSpPr>
        <p:spPr>
          <a:xfrm>
            <a:off x="6932340" y="4794647"/>
            <a:ext cx="3808214"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2" name="Text 10"/>
          <p:cNvSpPr/>
          <p:nvPr/>
        </p:nvSpPr>
        <p:spPr>
          <a:xfrm>
            <a:off x="7189515" y="5051822"/>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3" name="Text 11"/>
          <p:cNvSpPr/>
          <p:nvPr/>
        </p:nvSpPr>
        <p:spPr>
          <a:xfrm>
            <a:off x="7189515" y="5432822"/>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Default &amp; write-off</a:t>
            </a:r>
            <a:endParaRPr lang="en-US" sz="1800" dirty="0"/>
          </a:p>
        </p:txBody>
      </p:sp>
      <p:sp>
        <p:nvSpPr>
          <p:cNvPr id="14" name="Text 12"/>
          <p:cNvSpPr/>
          <p:nvPr/>
        </p:nvSpPr>
        <p:spPr>
          <a:xfrm>
            <a:off x="876300" y="6085284"/>
            <a:ext cx="1905000" cy="1195388"/>
          </a:xfrm>
          <a:prstGeom prst="rect">
            <a:avLst/>
          </a:prstGeom>
          <a:noFill/>
          <a:ln/>
        </p:spPr>
        <p:txBody>
          <a:bodyPr wrap="square" lIns="25400" tIns="25400" rIns="25400" bIns="25400" rtlCol="0" anchor="ctr">
            <a:normAutofit/>
          </a:bodyPr>
          <a:lstStyle/>
          <a:p>
            <a:pPr marL="0" indent="0" algn="r">
              <a:buNone/>
            </a:pPr>
            <a:r>
              <a:rPr lang="en-US" sz="1950" b="1" dirty="0">
                <a:solidFill>
                  <a:srgbClr val="063D22"/>
                </a:solidFill>
                <a:latin typeface="Arial" pitchFamily="34" charset="0"/>
                <a:ea typeface="Arial" pitchFamily="34" charset="-122"/>
                <a:cs typeface="Arial" pitchFamily="34" charset="-120"/>
              </a:rPr>
              <a:t>We reject</a:t>
            </a:r>
            <a:endParaRPr lang="en-US" sz="1950" dirty="0"/>
          </a:p>
        </p:txBody>
      </p:sp>
      <p:sp>
        <p:nvSpPr>
          <p:cNvPr id="15" name="Shape 13"/>
          <p:cNvSpPr/>
          <p:nvPr/>
        </p:nvSpPr>
        <p:spPr>
          <a:xfrm>
            <a:off x="2990850" y="6085284"/>
            <a:ext cx="3808140" cy="1157288"/>
          </a:xfrm>
          <a:prstGeom prst="roundRect">
            <a:avLst>
              <a:gd name="adj" fmla="val 6584"/>
            </a:avLst>
          </a:prstGeom>
          <a:solidFill>
            <a:srgbClr val="F7ECE8"/>
          </a:solidFill>
          <a:ln w="9525">
            <a:solidFill>
              <a:srgbClr val="E3B9AC"/>
            </a:solidFill>
            <a:prstDash val="solid"/>
          </a:ln>
        </p:spPr>
        <p:txBody>
          <a:bodyPr/>
          <a:lstStyle/>
          <a:p>
            <a:endParaRPr lang="en-GB"/>
          </a:p>
        </p:txBody>
      </p:sp>
      <p:sp>
        <p:nvSpPr>
          <p:cNvPr id="16" name="Text 14"/>
          <p:cNvSpPr/>
          <p:nvPr/>
        </p:nvSpPr>
        <p:spPr>
          <a:xfrm>
            <a:off x="3248025" y="6342459"/>
            <a:ext cx="3623169"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B3573F"/>
                </a:solidFill>
                <a:latin typeface="Arial" pitchFamily="34" charset="0"/>
                <a:ea typeface="Arial" pitchFamily="34" charset="-122"/>
                <a:cs typeface="Arial" pitchFamily="34" charset="-120"/>
              </a:rPr>
              <a:t>Costly mistake</a:t>
            </a:r>
            <a:endParaRPr lang="en-US" sz="2100" dirty="0"/>
          </a:p>
        </p:txBody>
      </p:sp>
      <p:sp>
        <p:nvSpPr>
          <p:cNvPr id="17" name="Text 15"/>
          <p:cNvSpPr/>
          <p:nvPr/>
        </p:nvSpPr>
        <p:spPr>
          <a:xfrm>
            <a:off x="3248025" y="6723459"/>
            <a:ext cx="3623169"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Lost revenue &amp; the customer</a:t>
            </a:r>
            <a:endParaRPr lang="en-US" sz="1800" dirty="0"/>
          </a:p>
        </p:txBody>
      </p:sp>
      <p:sp>
        <p:nvSpPr>
          <p:cNvPr id="18" name="Shape 16"/>
          <p:cNvSpPr/>
          <p:nvPr/>
        </p:nvSpPr>
        <p:spPr>
          <a:xfrm>
            <a:off x="6932340" y="6085284"/>
            <a:ext cx="3808214" cy="1157288"/>
          </a:xfrm>
          <a:prstGeom prst="roundRect">
            <a:avLst>
              <a:gd name="adj" fmla="val 6584"/>
            </a:avLst>
          </a:prstGeom>
          <a:solidFill>
            <a:srgbClr val="E6F5EF"/>
          </a:solidFill>
          <a:ln w="9525">
            <a:solidFill>
              <a:srgbClr val="B2E0D4"/>
            </a:solidFill>
            <a:prstDash val="solid"/>
          </a:ln>
        </p:spPr>
        <p:txBody>
          <a:bodyPr/>
          <a:lstStyle/>
          <a:p>
            <a:endParaRPr lang="en-GB"/>
          </a:p>
        </p:txBody>
      </p:sp>
      <p:sp>
        <p:nvSpPr>
          <p:cNvPr id="19" name="Text 17"/>
          <p:cNvSpPr/>
          <p:nvPr/>
        </p:nvSpPr>
        <p:spPr>
          <a:xfrm>
            <a:off x="7189515" y="6342459"/>
            <a:ext cx="3623250"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1A7A57"/>
                </a:solidFill>
                <a:latin typeface="Arial" pitchFamily="34" charset="0"/>
                <a:ea typeface="Arial" pitchFamily="34" charset="-122"/>
                <a:cs typeface="Arial" pitchFamily="34" charset="-120"/>
              </a:rPr>
              <a:t>Right call</a:t>
            </a:r>
            <a:endParaRPr lang="en-US" sz="2100" dirty="0"/>
          </a:p>
        </p:txBody>
      </p:sp>
      <p:sp>
        <p:nvSpPr>
          <p:cNvPr id="20" name="Text 18"/>
          <p:cNvSpPr/>
          <p:nvPr/>
        </p:nvSpPr>
        <p:spPr>
          <a:xfrm>
            <a:off x="7189515" y="6723459"/>
            <a:ext cx="3623250"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5C7268"/>
                </a:solidFill>
                <a:latin typeface="Arial" pitchFamily="34" charset="0"/>
                <a:ea typeface="Arial" pitchFamily="34" charset="-122"/>
                <a:cs typeface="Arial" pitchFamily="34" charset="-120"/>
              </a:rPr>
              <a:t>Bad loan avoided</a:t>
            </a:r>
            <a:endParaRPr lang="en-US" sz="1800" dirty="0"/>
          </a:p>
        </p:txBody>
      </p:sp>
      <p:sp>
        <p:nvSpPr>
          <p:cNvPr id="21" name="Text 19"/>
          <p:cNvSpPr/>
          <p:nvPr/>
        </p:nvSpPr>
        <p:spPr>
          <a:xfrm>
            <a:off x="11312054" y="4692774"/>
            <a:ext cx="6204150" cy="1295400"/>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250" dirty="0">
                <a:solidFill>
                  <a:srgbClr val="244236"/>
                </a:solidFill>
                <a:latin typeface="Arial" pitchFamily="34" charset="0"/>
                <a:ea typeface="Arial" pitchFamily="34" charset="-122"/>
                <a:cs typeface="Arial" pitchFamily="34" charset="-120"/>
              </a:rPr>
              <a:t>Our model has one job: </a:t>
            </a:r>
            <a:r>
              <a:rPr lang="en-US" sz="2250" b="1" dirty="0">
                <a:solidFill>
                  <a:srgbClr val="063D22"/>
                </a:solidFill>
                <a:latin typeface="Arial" pitchFamily="34" charset="0"/>
                <a:ea typeface="Arial" pitchFamily="34" charset="-122"/>
                <a:cs typeface="Arial" pitchFamily="34" charset="-120"/>
              </a:rPr>
              <a:t>make the same approve-or-reject call a human analyst would </a:t>
            </a:r>
            <a:r>
              <a:rPr lang="en-US" sz="2250" dirty="0">
                <a:solidFill>
                  <a:srgbClr val="244236"/>
                </a:solidFill>
                <a:latin typeface="Arial" pitchFamily="34" charset="0"/>
                <a:ea typeface="Arial" pitchFamily="34" charset="-122"/>
                <a:cs typeface="Arial" pitchFamily="34" charset="-120"/>
              </a:rPr>
              <a:t>, for 5,000 new applications.</a:t>
            </a:r>
            <a:endParaRPr lang="en-US" sz="2250" dirty="0"/>
          </a:p>
        </p:txBody>
      </p:sp>
      <p:sp>
        <p:nvSpPr>
          <p:cNvPr id="22" name="Text 20"/>
          <p:cNvSpPr/>
          <p:nvPr/>
        </p:nvSpPr>
        <p:spPr>
          <a:xfrm>
            <a:off x="11312054" y="6178674"/>
            <a:ext cx="6204150"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It learns the bank’s existing policy — so it must also avoid copying the analysts’ bias (see slide 7).</a:t>
            </a:r>
            <a:endParaRPr lang="en-US" sz="1950" dirty="0"/>
          </a:p>
        </p:txBody>
      </p:sp>
      <p:sp>
        <p:nvSpPr>
          <p:cNvPr id="23" name="Shape 21"/>
          <p:cNvSpPr/>
          <p:nvPr/>
        </p:nvSpPr>
        <p:spPr>
          <a:xfrm>
            <a:off x="952500" y="9239250"/>
            <a:ext cx="16383000" cy="9525"/>
          </a:xfrm>
          <a:prstGeom prst="rect">
            <a:avLst/>
          </a:prstGeom>
          <a:solidFill>
            <a:srgbClr val="D2E6DD"/>
          </a:solidFill>
          <a:ln/>
        </p:spPr>
        <p:txBody>
          <a:bodyPr/>
          <a:lstStyle/>
          <a:p>
            <a:endParaRPr lang="en-GB"/>
          </a:p>
        </p:txBody>
      </p:sp>
      <p:sp>
        <p:nvSpPr>
          <p:cNvPr id="24" name="Text 22"/>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brief · binary classification, scored on accuracy</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03 ·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We learn from 25,000 past decisions to predict one month we’ve never seen</a:t>
            </a:r>
            <a:endParaRPr lang="en-US" sz="3600" dirty="0"/>
          </a:p>
        </p:txBody>
      </p:sp>
      <p:sp>
        <p:nvSpPr>
          <p:cNvPr id="5" name="Shape 3"/>
          <p:cNvSpPr/>
          <p:nvPr/>
        </p:nvSpPr>
        <p:spPr>
          <a:xfrm>
            <a:off x="952500" y="4099322"/>
            <a:ext cx="13082067" cy="1428750"/>
          </a:xfrm>
          <a:prstGeom prst="roundRect">
            <a:avLst>
              <a:gd name="adj" fmla="val 5333"/>
            </a:avLst>
          </a:prstGeom>
          <a:solidFill>
            <a:srgbClr val="1A7A57"/>
          </a:solidFill>
          <a:ln/>
        </p:spPr>
        <p:txBody>
          <a:bodyPr/>
          <a:lstStyle/>
          <a:p>
            <a:endParaRPr lang="en-GB"/>
          </a:p>
        </p:txBody>
      </p:sp>
      <p:sp>
        <p:nvSpPr>
          <p:cNvPr id="6" name="Text 4"/>
          <p:cNvSpPr/>
          <p:nvPr/>
        </p:nvSpPr>
        <p:spPr>
          <a:xfrm>
            <a:off x="1333500" y="4454128"/>
            <a:ext cx="13552073" cy="433388"/>
          </a:xfrm>
          <a:prstGeom prst="rect">
            <a:avLst/>
          </a:prstGeom>
          <a:noFill/>
          <a:ln/>
        </p:spPr>
        <p:txBody>
          <a:bodyPr wrap="square" lIns="25400" tIns="25400" rIns="25400" bIns="25400" rtlCol="0" anchor="t">
            <a:normAutofit lnSpcReduction="10000"/>
          </a:bodyPr>
          <a:lstStyle/>
          <a:p>
            <a:pPr marL="0" indent="0" algn="l">
              <a:buNone/>
            </a:pPr>
            <a:r>
              <a:rPr lang="en-US" sz="2550" b="1" dirty="0">
                <a:solidFill>
                  <a:srgbClr val="FFFFFF"/>
                </a:solidFill>
                <a:latin typeface="Arial" pitchFamily="34" charset="0"/>
                <a:ea typeface="Arial" pitchFamily="34" charset="-122"/>
                <a:cs typeface="Arial" pitchFamily="34" charset="-120"/>
              </a:rPr>
              <a:t>25,000 past decisions</a:t>
            </a:r>
            <a:endParaRPr lang="en-US" sz="2550" dirty="0"/>
          </a:p>
        </p:txBody>
      </p:sp>
      <p:sp>
        <p:nvSpPr>
          <p:cNvPr id="7" name="Text 5"/>
          <p:cNvSpPr/>
          <p:nvPr/>
        </p:nvSpPr>
        <p:spPr>
          <a:xfrm>
            <a:off x="1333500" y="4887516"/>
            <a:ext cx="13552073"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B2E0D4"/>
                </a:solidFill>
                <a:latin typeface="Arial" pitchFamily="34" charset="0"/>
                <a:ea typeface="Arial" pitchFamily="34" charset="-122"/>
                <a:cs typeface="Arial" pitchFamily="34" charset="-120"/>
              </a:rPr>
              <a:t>Training data · Jan 2022 → Apr 2026 · we know the answers</a:t>
            </a:r>
            <a:endParaRPr lang="en-US" sz="1950" dirty="0"/>
          </a:p>
        </p:txBody>
      </p:sp>
      <p:sp>
        <p:nvSpPr>
          <p:cNvPr id="8" name="Shape 6"/>
          <p:cNvSpPr/>
          <p:nvPr/>
        </p:nvSpPr>
        <p:spPr>
          <a:xfrm>
            <a:off x="14129817" y="4099322"/>
            <a:ext cx="3205683" cy="1428750"/>
          </a:xfrm>
          <a:prstGeom prst="roundRect">
            <a:avLst>
              <a:gd name="adj" fmla="val 5333"/>
            </a:avLst>
          </a:prstGeom>
          <a:solidFill>
            <a:srgbClr val="F7ECE8"/>
          </a:solidFill>
          <a:ln w="19050">
            <a:solidFill>
              <a:srgbClr val="E3B9AC"/>
            </a:solidFill>
            <a:prstDash val="solid"/>
          </a:ln>
        </p:spPr>
        <p:txBody>
          <a:bodyPr/>
          <a:lstStyle/>
          <a:p>
            <a:endParaRPr lang="en-GB"/>
          </a:p>
        </p:txBody>
      </p:sp>
      <p:sp>
        <p:nvSpPr>
          <p:cNvPr id="9" name="Text 7"/>
          <p:cNvSpPr/>
          <p:nvPr/>
        </p:nvSpPr>
        <p:spPr>
          <a:xfrm>
            <a:off x="14377467" y="4489847"/>
            <a:ext cx="2981422"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B3573F"/>
                </a:solidFill>
                <a:latin typeface="Arial" pitchFamily="34" charset="0"/>
                <a:ea typeface="Arial" pitchFamily="34" charset="-122"/>
                <a:cs typeface="Arial" pitchFamily="34" charset="-120"/>
              </a:rPr>
              <a:t>5,000 new</a:t>
            </a:r>
            <a:endParaRPr lang="en-US" sz="2250" dirty="0"/>
          </a:p>
        </p:txBody>
      </p:sp>
      <p:sp>
        <p:nvSpPr>
          <p:cNvPr id="10" name="Text 8"/>
          <p:cNvSpPr/>
          <p:nvPr/>
        </p:nvSpPr>
        <p:spPr>
          <a:xfrm>
            <a:off x="14377467" y="4875609"/>
            <a:ext cx="2981422" cy="300038"/>
          </a:xfrm>
          <a:prstGeom prst="rect">
            <a:avLst/>
          </a:prstGeom>
          <a:noFill/>
          <a:ln/>
        </p:spPr>
        <p:txBody>
          <a:bodyPr wrap="square" lIns="25400" tIns="25400" rIns="25400" bIns="25400" rtlCol="0" anchor="t">
            <a:normAutofit lnSpcReduction="10000"/>
          </a:bodyPr>
          <a:lstStyle/>
          <a:p>
            <a:pPr marL="0" indent="0" algn="l">
              <a:buNone/>
            </a:pPr>
            <a:r>
              <a:rPr lang="en-US" sz="1800" dirty="0">
                <a:solidFill>
                  <a:srgbClr val="8A5246"/>
                </a:solidFill>
                <a:latin typeface="Arial" pitchFamily="34" charset="0"/>
                <a:ea typeface="Arial" pitchFamily="34" charset="-122"/>
                <a:cs typeface="Arial" pitchFamily="34" charset="-120"/>
              </a:rPr>
              <a:t>May 2026 · predict these</a:t>
            </a:r>
            <a:endParaRPr lang="en-US" sz="1800" dirty="0"/>
          </a:p>
        </p:txBody>
      </p:sp>
      <p:sp>
        <p:nvSpPr>
          <p:cNvPr id="11" name="Text 9"/>
          <p:cNvSpPr/>
          <p:nvPr/>
        </p:nvSpPr>
        <p:spPr>
          <a:xfrm>
            <a:off x="952500"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2022</a:t>
            </a:r>
            <a:endParaRPr lang="en-US" sz="1800" dirty="0"/>
          </a:p>
        </p:txBody>
      </p:sp>
      <p:sp>
        <p:nvSpPr>
          <p:cNvPr id="12" name="Text 10"/>
          <p:cNvSpPr/>
          <p:nvPr/>
        </p:nvSpPr>
        <p:spPr>
          <a:xfrm>
            <a:off x="6400354" y="5661422"/>
            <a:ext cx="6036022"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real task: forecast the next month →</a:t>
            </a:r>
            <a:endParaRPr lang="en-US" sz="1800" dirty="0"/>
          </a:p>
        </p:txBody>
      </p:sp>
      <p:sp>
        <p:nvSpPr>
          <p:cNvPr id="13" name="Text 11"/>
          <p:cNvSpPr/>
          <p:nvPr/>
        </p:nvSpPr>
        <p:spPr>
          <a:xfrm>
            <a:off x="16786771" y="5661422"/>
            <a:ext cx="62492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2026</a:t>
            </a:r>
            <a:endParaRPr lang="en-US" sz="1800" dirty="0"/>
          </a:p>
        </p:txBody>
      </p:sp>
      <p:sp>
        <p:nvSpPr>
          <p:cNvPr id="14" name="Text 12"/>
          <p:cNvSpPr/>
          <p:nvPr/>
        </p:nvSpPr>
        <p:spPr>
          <a:xfrm>
            <a:off x="952500" y="6528197"/>
            <a:ext cx="87172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The answer is almost a coin flip</a:t>
            </a:r>
            <a:endParaRPr lang="en-US" sz="1800" dirty="0"/>
          </a:p>
        </p:txBody>
      </p:sp>
      <p:sp>
        <p:nvSpPr>
          <p:cNvPr id="15" name="Shape 13"/>
          <p:cNvSpPr/>
          <p:nvPr/>
        </p:nvSpPr>
        <p:spPr>
          <a:xfrm>
            <a:off x="952500" y="6918722"/>
            <a:ext cx="4120828" cy="609600"/>
          </a:xfrm>
          <a:prstGeom prst="rect">
            <a:avLst/>
          </a:prstGeom>
          <a:solidFill>
            <a:srgbClr val="1A7A57"/>
          </a:solidFill>
          <a:ln/>
        </p:spPr>
        <p:txBody>
          <a:bodyPr/>
          <a:lstStyle/>
          <a:p>
            <a:endParaRPr lang="en-GB"/>
          </a:p>
        </p:txBody>
      </p:sp>
      <p:sp>
        <p:nvSpPr>
          <p:cNvPr id="16" name="Text 14"/>
          <p:cNvSpPr/>
          <p:nvPr/>
        </p:nvSpPr>
        <p:spPr>
          <a:xfrm>
            <a:off x="1181100" y="6918722"/>
            <a:ext cx="4015852"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52% approved</a:t>
            </a:r>
            <a:endParaRPr lang="en-US" sz="1950" dirty="0"/>
          </a:p>
        </p:txBody>
      </p:sp>
      <p:sp>
        <p:nvSpPr>
          <p:cNvPr id="17" name="Shape 15"/>
          <p:cNvSpPr/>
          <p:nvPr/>
        </p:nvSpPr>
        <p:spPr>
          <a:xfrm>
            <a:off x="5073328" y="6918722"/>
            <a:ext cx="3803898" cy="609600"/>
          </a:xfrm>
          <a:prstGeom prst="rect">
            <a:avLst/>
          </a:prstGeom>
          <a:solidFill>
            <a:srgbClr val="66B3A1"/>
          </a:solidFill>
          <a:ln/>
        </p:spPr>
        <p:txBody>
          <a:bodyPr/>
          <a:lstStyle/>
          <a:p>
            <a:endParaRPr lang="en-GB"/>
          </a:p>
        </p:txBody>
      </p:sp>
      <p:sp>
        <p:nvSpPr>
          <p:cNvPr id="18" name="Text 16"/>
          <p:cNvSpPr/>
          <p:nvPr/>
        </p:nvSpPr>
        <p:spPr>
          <a:xfrm>
            <a:off x="5301928" y="6918722"/>
            <a:ext cx="3689415" cy="647700"/>
          </a:xfrm>
          <a:prstGeom prst="rect">
            <a:avLst/>
          </a:prstGeom>
          <a:noFill/>
          <a:ln/>
        </p:spPr>
        <p:txBody>
          <a:bodyPr wrap="square" lIns="25400" tIns="25400" rIns="25400" bIns="25400" rtlCol="0" anchor="ctr">
            <a:normAutofit/>
          </a:bodyPr>
          <a:lstStyle/>
          <a:p>
            <a:pPr marL="0" indent="0" algn="l">
              <a:buNone/>
            </a:pPr>
            <a:r>
              <a:rPr lang="en-US" sz="1950" b="1" dirty="0">
                <a:solidFill>
                  <a:srgbClr val="FFFFFF"/>
                </a:solidFill>
                <a:latin typeface="Arial" pitchFamily="34" charset="0"/>
                <a:ea typeface="Arial" pitchFamily="34" charset="-122"/>
                <a:cs typeface="Arial" pitchFamily="34" charset="-120"/>
              </a:rPr>
              <a:t>48% rejected</a:t>
            </a:r>
            <a:endParaRPr lang="en-US" sz="1950" dirty="0"/>
          </a:p>
        </p:txBody>
      </p:sp>
      <p:sp>
        <p:nvSpPr>
          <p:cNvPr id="19" name="Text 17"/>
          <p:cNvSpPr/>
          <p:nvPr/>
        </p:nvSpPr>
        <p:spPr>
          <a:xfrm>
            <a:off x="9410700" y="6655371"/>
            <a:ext cx="8162544" cy="783878"/>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Because approvals and rejections are nearly even, </a:t>
            </a:r>
            <a:r>
              <a:rPr lang="en-US" sz="2025" b="1" dirty="0">
                <a:solidFill>
                  <a:srgbClr val="063D22"/>
                </a:solidFill>
                <a:latin typeface="Arial" pitchFamily="34" charset="0"/>
                <a:ea typeface="Arial" pitchFamily="34" charset="-122"/>
                <a:cs typeface="Arial" pitchFamily="34" charset="-120"/>
              </a:rPr>
              <a:t>guessing scores only ~52% </a:t>
            </a:r>
            <a:r>
              <a:rPr lang="en-US" sz="2025" dirty="0">
                <a:solidFill>
                  <a:srgbClr val="244236"/>
                </a:solidFill>
                <a:latin typeface="Arial" pitchFamily="34" charset="0"/>
                <a:ea typeface="Arial" pitchFamily="34" charset="-122"/>
                <a:cs typeface="Arial" pitchFamily="34" charset="-120"/>
              </a:rPr>
              <a:t>. Every point of accuracy above that is genuinely earned.</a:t>
            </a:r>
            <a:endParaRPr lang="en-US" sz="2025"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competition train / test files · 24 features per application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04 · THE TRAP</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data was deliberately rigged — so we hunted for traps before modeling</a:t>
            </a:r>
            <a:endParaRPr lang="en-US" sz="3600" dirty="0"/>
          </a:p>
        </p:txBody>
      </p:sp>
      <p:sp>
        <p:nvSpPr>
          <p:cNvPr id="5" name="Text 3"/>
          <p:cNvSpPr/>
          <p:nvPr/>
        </p:nvSpPr>
        <p:spPr>
          <a:xfrm>
            <a:off x="952500" y="2350368"/>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One “perfect” column, </a:t>
            </a:r>
            <a:r>
              <a:rPr lang="en-US" sz="1800" dirty="0">
                <a:solidFill>
                  <a:srgbClr val="B3573F"/>
                </a:solidFill>
                <a:latin typeface="Courier New" pitchFamily="34" charset="0"/>
                <a:ea typeface="Courier New" pitchFamily="34" charset="-122"/>
                <a:cs typeface="Courier New" pitchFamily="34" charset="-120"/>
              </a:rPr>
              <a:t>internal_code </a:t>
            </a:r>
            <a:r>
              <a:rPr lang="en-US" sz="1800" dirty="0">
                <a:solidFill>
                  <a:srgbClr val="5C7268"/>
                </a:solidFill>
                <a:latin typeface="Courier New" pitchFamily="34" charset="0"/>
                <a:ea typeface="Courier New" pitchFamily="34" charset="-122"/>
                <a:cs typeface="Courier New" pitchFamily="34" charset="-120"/>
              </a:rPr>
              <a:t>— promise vs reality</a:t>
            </a:r>
            <a:endParaRPr lang="en-US" sz="1800" dirty="0"/>
          </a:p>
        </p:txBody>
      </p:sp>
      <p:sp>
        <p:nvSpPr>
          <p:cNvPr id="6" name="Text 4"/>
          <p:cNvSpPr/>
          <p:nvPr/>
        </p:nvSpPr>
        <p:spPr>
          <a:xfrm>
            <a:off x="9448800" y="2350368"/>
            <a:ext cx="8123301" cy="1649611"/>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2175" dirty="0">
                <a:solidFill>
                  <a:srgbClr val="244236"/>
                </a:solidFill>
                <a:latin typeface="Arial" pitchFamily="34" charset="0"/>
                <a:ea typeface="Arial" pitchFamily="34" charset="-122"/>
                <a:cs typeface="Arial" pitchFamily="34" charset="-120"/>
              </a:rPr>
              <a:t>The column looked like the best predictor in the dataset. A simple integrity check gave it away: it lines up with real risk in the </a:t>
            </a:r>
            <a:r>
              <a:rPr lang="en-US" sz="2175" b="1" dirty="0">
                <a:solidFill>
                  <a:srgbClr val="063D22"/>
                </a:solidFill>
                <a:latin typeface="Arial" pitchFamily="34" charset="0"/>
                <a:ea typeface="Arial" pitchFamily="34" charset="-122"/>
                <a:cs typeface="Arial" pitchFamily="34" charset="-120"/>
              </a:rPr>
              <a:t>training data </a:t>
            </a:r>
            <a:r>
              <a:rPr lang="en-US" sz="2175" dirty="0">
                <a:solidFill>
                  <a:srgbClr val="244236"/>
                </a:solidFill>
                <a:latin typeface="Arial" pitchFamily="34" charset="0"/>
                <a:ea typeface="Arial" pitchFamily="34" charset="-122"/>
                <a:cs typeface="Arial" pitchFamily="34" charset="-120"/>
              </a:rPr>
              <a:t>but is random noise in the </a:t>
            </a:r>
            <a:r>
              <a:rPr lang="en-US" sz="2175" b="1" dirty="0">
                <a:solidFill>
                  <a:srgbClr val="063D22"/>
                </a:solidFill>
                <a:latin typeface="Arial" pitchFamily="34" charset="0"/>
                <a:ea typeface="Arial" pitchFamily="34" charset="-122"/>
                <a:cs typeface="Arial" pitchFamily="34" charset="-120"/>
              </a:rPr>
              <a:t>test data </a:t>
            </a:r>
            <a:r>
              <a:rPr lang="en-US" sz="2175" dirty="0">
                <a:solidFill>
                  <a:srgbClr val="244236"/>
                </a:solidFill>
                <a:latin typeface="Arial" pitchFamily="34" charset="0"/>
                <a:ea typeface="Arial" pitchFamily="34" charset="-122"/>
                <a:cs typeface="Arial" pitchFamily="34" charset="-120"/>
              </a:rPr>
              <a:t>— it was scrambled on purpose. </a:t>
            </a:r>
            <a:r>
              <a:rPr lang="en-US" sz="2175" b="1" dirty="0">
                <a:solidFill>
                  <a:srgbClr val="B3573F"/>
                </a:solidFill>
                <a:latin typeface="Arial" pitchFamily="34" charset="0"/>
                <a:ea typeface="Arial" pitchFamily="34" charset="-122"/>
                <a:cs typeface="Arial" pitchFamily="34" charset="-120"/>
              </a:rPr>
              <a:t>We dropped it.</a:t>
            </a:r>
            <a:endParaRPr lang="en-US" sz="2175" dirty="0"/>
          </a:p>
        </p:txBody>
      </p:sp>
      <p:sp>
        <p:nvSpPr>
          <p:cNvPr id="7" name="Text 5"/>
          <p:cNvSpPr/>
          <p:nvPr/>
        </p:nvSpPr>
        <p:spPr>
          <a:xfrm>
            <a:off x="9448800" y="4209529"/>
            <a:ext cx="867537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Four traps we caught and handled</a:t>
            </a:r>
            <a:endParaRPr lang="en-US" sz="1800" dirty="0"/>
          </a:p>
        </p:txBody>
      </p:sp>
      <p:sp>
        <p:nvSpPr>
          <p:cNvPr id="8" name="Shape 6"/>
          <p:cNvSpPr/>
          <p:nvPr/>
        </p:nvSpPr>
        <p:spPr>
          <a:xfrm>
            <a:off x="9448800" y="4600054"/>
            <a:ext cx="7886700" cy="600075"/>
          </a:xfrm>
          <a:prstGeom prst="roundRect">
            <a:avLst>
              <a:gd name="adj" fmla="val 12698"/>
            </a:avLst>
          </a:prstGeom>
          <a:solidFill>
            <a:srgbClr val="F7ECE8"/>
          </a:solidFill>
          <a:ln/>
        </p:spPr>
        <p:txBody>
          <a:bodyPr/>
          <a:lstStyle/>
          <a:p>
            <a:endParaRPr lang="en-GB"/>
          </a:p>
        </p:txBody>
      </p:sp>
      <p:sp>
        <p:nvSpPr>
          <p:cNvPr id="9" name="Text 7"/>
          <p:cNvSpPr/>
          <p:nvPr/>
        </p:nvSpPr>
        <p:spPr>
          <a:xfrm>
            <a:off x="9658350" y="4727796"/>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0" name="Text 8"/>
          <p:cNvSpPr/>
          <p:nvPr/>
        </p:nvSpPr>
        <p:spPr>
          <a:xfrm>
            <a:off x="10648950" y="4757217"/>
            <a:ext cx="510287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Hidden leak — the “perfect” column above</a:t>
            </a:r>
            <a:endParaRPr lang="en-US" sz="1950" dirty="0"/>
          </a:p>
        </p:txBody>
      </p:sp>
      <p:sp>
        <p:nvSpPr>
          <p:cNvPr id="11" name="Shape 9"/>
          <p:cNvSpPr/>
          <p:nvPr/>
        </p:nvSpPr>
        <p:spPr>
          <a:xfrm>
            <a:off x="9448800" y="5314429"/>
            <a:ext cx="7886700" cy="600075"/>
          </a:xfrm>
          <a:prstGeom prst="roundRect">
            <a:avLst>
              <a:gd name="adj" fmla="val 12698"/>
            </a:avLst>
          </a:prstGeom>
          <a:solidFill>
            <a:srgbClr val="F7ECE8"/>
          </a:solidFill>
          <a:ln/>
        </p:spPr>
        <p:txBody>
          <a:bodyPr/>
          <a:lstStyle/>
          <a:p>
            <a:endParaRPr lang="en-GB"/>
          </a:p>
        </p:txBody>
      </p:sp>
      <p:sp>
        <p:nvSpPr>
          <p:cNvPr id="12" name="Text 10"/>
          <p:cNvSpPr/>
          <p:nvPr/>
        </p:nvSpPr>
        <p:spPr>
          <a:xfrm>
            <a:off x="9658350" y="540841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a:t>
            </a:r>
            <a:endParaRPr lang="en-US" sz="1800" dirty="0"/>
          </a:p>
        </p:txBody>
      </p:sp>
      <p:sp>
        <p:nvSpPr>
          <p:cNvPr id="13" name="Text 11"/>
          <p:cNvSpPr/>
          <p:nvPr/>
        </p:nvSpPr>
        <p:spPr>
          <a:xfrm>
            <a:off x="10648950" y="5471592"/>
            <a:ext cx="4497385"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A column that vanishes in the test set</a:t>
            </a:r>
            <a:endParaRPr lang="en-US" sz="1950" dirty="0"/>
          </a:p>
        </p:txBody>
      </p:sp>
      <p:sp>
        <p:nvSpPr>
          <p:cNvPr id="14" name="Shape 12"/>
          <p:cNvSpPr/>
          <p:nvPr/>
        </p:nvSpPr>
        <p:spPr>
          <a:xfrm>
            <a:off x="9448800" y="6028804"/>
            <a:ext cx="7886700" cy="600075"/>
          </a:xfrm>
          <a:prstGeom prst="roundRect">
            <a:avLst>
              <a:gd name="adj" fmla="val 12698"/>
            </a:avLst>
          </a:prstGeom>
          <a:solidFill>
            <a:srgbClr val="E6F5EF"/>
          </a:solidFill>
          <a:ln/>
        </p:spPr>
        <p:txBody>
          <a:bodyPr/>
          <a:lstStyle/>
          <a:p>
            <a:endParaRPr lang="en-GB"/>
          </a:p>
        </p:txBody>
      </p:sp>
      <p:sp>
        <p:nvSpPr>
          <p:cNvPr id="15" name="Text 13"/>
          <p:cNvSpPr/>
          <p:nvPr/>
        </p:nvSpPr>
        <p:spPr>
          <a:xfrm>
            <a:off x="9658350" y="6181204"/>
            <a:ext cx="914400" cy="333375"/>
          </a:xfrm>
          <a:prstGeom prst="rect">
            <a:avLst/>
          </a:prstGeom>
          <a:noFill/>
          <a:ln/>
        </p:spPr>
        <p:txBody>
          <a:bodyPr wrap="square" lIns="25400" tIns="25400" rIns="25400" bIns="25400" rtlCol="0" anchor="t">
            <a:normAutofit/>
          </a:bodyPr>
          <a:lstStyle/>
          <a:p>
            <a:pPr marL="0" indent="0" algn="l">
              <a:buNone/>
            </a:pPr>
            <a:r>
              <a:rPr lang="en-US" sz="1800" dirty="0">
                <a:solidFill>
                  <a:srgbClr val="1A7A57"/>
                </a:solidFill>
                <a:latin typeface="Courier New" pitchFamily="34" charset="0"/>
                <a:ea typeface="Courier New" pitchFamily="34" charset="-122"/>
                <a:cs typeface="Courier New" pitchFamily="34" charset="-120"/>
              </a:rPr>
              <a:t>FIX</a:t>
            </a:r>
            <a:endParaRPr lang="en-US" sz="1800" dirty="0"/>
          </a:p>
        </p:txBody>
      </p:sp>
      <p:sp>
        <p:nvSpPr>
          <p:cNvPr id="16" name="Text 14"/>
          <p:cNvSpPr/>
          <p:nvPr/>
        </p:nvSpPr>
        <p:spPr>
          <a:xfrm>
            <a:off x="10648950" y="6185967"/>
            <a:ext cx="3921614"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Incomes recorded in mixed units</a:t>
            </a:r>
            <a:endParaRPr lang="en-US" sz="1950" dirty="0"/>
          </a:p>
        </p:txBody>
      </p:sp>
      <p:sp>
        <p:nvSpPr>
          <p:cNvPr id="17" name="Shape 15"/>
          <p:cNvSpPr/>
          <p:nvPr/>
        </p:nvSpPr>
        <p:spPr>
          <a:xfrm>
            <a:off x="9448800" y="6743179"/>
            <a:ext cx="7886700" cy="600075"/>
          </a:xfrm>
          <a:prstGeom prst="roundRect">
            <a:avLst>
              <a:gd name="adj" fmla="val 12698"/>
            </a:avLst>
          </a:prstGeom>
          <a:solidFill>
            <a:srgbClr val="F7ECE8"/>
          </a:solidFill>
          <a:ln/>
        </p:spPr>
        <p:txBody>
          <a:bodyPr/>
          <a:lstStyle/>
          <a:p>
            <a:endParaRPr lang="en-GB"/>
          </a:p>
        </p:txBody>
      </p:sp>
      <p:sp>
        <p:nvSpPr>
          <p:cNvPr id="18" name="Text 16"/>
          <p:cNvSpPr/>
          <p:nvPr/>
        </p:nvSpPr>
        <p:spPr>
          <a:xfrm>
            <a:off x="9591675" y="6916320"/>
            <a:ext cx="914400" cy="333375"/>
          </a:xfrm>
          <a:prstGeom prst="rect">
            <a:avLst/>
          </a:prstGeom>
          <a:noFill/>
          <a:ln/>
        </p:spPr>
        <p:txBody>
          <a:bodyPr wrap="square" lIns="25400" tIns="25400" rIns="25400" bIns="25400" rtlCol="0" anchor="t">
            <a:normAutofit fontScale="850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EXCLUDE</a:t>
            </a:r>
            <a:endParaRPr lang="en-US" sz="1800" dirty="0"/>
          </a:p>
        </p:txBody>
      </p:sp>
      <p:sp>
        <p:nvSpPr>
          <p:cNvPr id="19" name="Text 17"/>
          <p:cNvSpPr/>
          <p:nvPr/>
        </p:nvSpPr>
        <p:spPr>
          <a:xfrm>
            <a:off x="10648950" y="6900342"/>
            <a:ext cx="4324752"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Race &amp; religion — off-limits (slide 7)</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forensic audit · integrity check on 10 suspect columns</a:t>
            </a:r>
            <a:endParaRPr lang="en-US" sz="1800" dirty="0"/>
          </a:p>
        </p:txBody>
      </p:sp>
      <p:pic>
        <p:nvPicPr>
          <p:cNvPr id="22" name="Picture 21" descr="deck_leak.png"/>
          <p:cNvPicPr>
            <a:picLocks noChangeAspect="1"/>
          </p:cNvPicPr>
          <p:nvPr/>
        </p:nvPicPr>
        <p:blipFill>
          <a:blip r:embed="rId3"/>
          <a:stretch>
            <a:fillRect/>
          </a:stretch>
        </p:blipFill>
        <p:spPr>
          <a:xfrm>
            <a:off x="1188720" y="3200400"/>
            <a:ext cx="7589520" cy="4843590"/>
          </a:xfrm>
          <a:prstGeom prst="rect">
            <a:avLst/>
          </a:prstGeom>
        </p:spPr>
      </p:pic>
      <p:sp>
        <p:nvSpPr>
          <p:cNvPr id="24" name="TextBox 23">
            <a:extLst>
              <a:ext uri="{FF2B5EF4-FFF2-40B4-BE49-F238E27FC236}">
                <a16:creationId xmlns:a16="http://schemas.microsoft.com/office/drawing/2014/main" id="{742EB33F-E089-D2ED-2869-7CBDC6463FC1}"/>
              </a:ext>
            </a:extLst>
          </p:cNvPr>
          <p:cNvSpPr txBox="1"/>
          <p:nvPr/>
        </p:nvSpPr>
        <p:spPr>
          <a:xfrm>
            <a:off x="15507761" y="4742204"/>
            <a:ext cx="1827739" cy="369332"/>
          </a:xfrm>
          <a:prstGeom prst="rect">
            <a:avLst/>
          </a:prstGeom>
          <a:noFill/>
        </p:spPr>
        <p:txBody>
          <a:bodyPr wrap="square" rtlCol="0">
            <a:spAutoFit/>
          </a:bodyPr>
          <a:lstStyle/>
          <a:p>
            <a:r>
              <a:rPr lang="en-DE" b="1" cap="all" dirty="0"/>
              <a:t>INTERNAL_CODE</a:t>
            </a:r>
          </a:p>
        </p:txBody>
      </p:sp>
      <p:sp>
        <p:nvSpPr>
          <p:cNvPr id="25" name="TextBox 24">
            <a:extLst>
              <a:ext uri="{FF2B5EF4-FFF2-40B4-BE49-F238E27FC236}">
                <a16:creationId xmlns:a16="http://schemas.microsoft.com/office/drawing/2014/main" id="{F8780A9C-BBDC-74A6-186D-D49B495B51B3}"/>
              </a:ext>
            </a:extLst>
          </p:cNvPr>
          <p:cNvSpPr txBox="1"/>
          <p:nvPr/>
        </p:nvSpPr>
        <p:spPr>
          <a:xfrm>
            <a:off x="15011802" y="5437529"/>
            <a:ext cx="2361798" cy="369332"/>
          </a:xfrm>
          <a:prstGeom prst="rect">
            <a:avLst/>
          </a:prstGeom>
          <a:noFill/>
        </p:spPr>
        <p:txBody>
          <a:bodyPr wrap="square" rtlCol="0">
            <a:spAutoFit/>
          </a:bodyPr>
          <a:lstStyle/>
          <a:p>
            <a:r>
              <a:rPr lang="en-DE" b="1" cap="all" dirty="0"/>
              <a:t>EXTERNAL_PD_SCORE</a:t>
            </a:r>
          </a:p>
        </p:txBody>
      </p:sp>
      <p:sp>
        <p:nvSpPr>
          <p:cNvPr id="27" name="TextBox 26">
            <a:extLst>
              <a:ext uri="{FF2B5EF4-FFF2-40B4-BE49-F238E27FC236}">
                <a16:creationId xmlns:a16="http://schemas.microsoft.com/office/drawing/2014/main" id="{6F1D54C4-2036-E4BB-83BB-5E3F3A8960AD}"/>
              </a:ext>
            </a:extLst>
          </p:cNvPr>
          <p:cNvSpPr txBox="1"/>
          <p:nvPr/>
        </p:nvSpPr>
        <p:spPr>
          <a:xfrm>
            <a:off x="15574780" y="6858535"/>
            <a:ext cx="2713220" cy="369332"/>
          </a:xfrm>
          <a:prstGeom prst="rect">
            <a:avLst/>
          </a:prstGeom>
          <a:noFill/>
        </p:spPr>
        <p:txBody>
          <a:bodyPr wrap="square" rtlCol="0">
            <a:spAutoFit/>
          </a:bodyPr>
          <a:lstStyle/>
          <a:p>
            <a:r>
              <a:rPr lang="en-DE" b="1" cap="all" dirty="0"/>
              <a:t>RACE, RELIGION</a:t>
            </a:r>
          </a:p>
        </p:txBody>
      </p:sp>
      <p:sp>
        <p:nvSpPr>
          <p:cNvPr id="29" name="TextBox 28">
            <a:extLst>
              <a:ext uri="{FF2B5EF4-FFF2-40B4-BE49-F238E27FC236}">
                <a16:creationId xmlns:a16="http://schemas.microsoft.com/office/drawing/2014/main" id="{72E322D4-2501-B028-B84F-413385805EE0}"/>
              </a:ext>
            </a:extLst>
          </p:cNvPr>
          <p:cNvSpPr txBox="1"/>
          <p:nvPr/>
        </p:nvSpPr>
        <p:spPr>
          <a:xfrm>
            <a:off x="15742670" y="6140485"/>
            <a:ext cx="2713220" cy="369332"/>
          </a:xfrm>
          <a:prstGeom prst="rect">
            <a:avLst/>
          </a:prstGeom>
          <a:noFill/>
        </p:spPr>
        <p:txBody>
          <a:bodyPr wrap="square" rtlCol="0">
            <a:spAutoFit/>
          </a:bodyPr>
          <a:lstStyle/>
          <a:p>
            <a:r>
              <a:rPr lang="en-DE" b="1" cap="all" dirty="0"/>
              <a:t>76.4 or 76400</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05 · CLEANING THE DATA</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One pipeline turns 24 messy columns into 20 we can trust</a:t>
            </a:r>
            <a:endParaRPr lang="en-US" sz="3600" dirty="0"/>
          </a:p>
        </p:txBody>
      </p:sp>
      <p:sp>
        <p:nvSpPr>
          <p:cNvPr id="5" name="Shape 3"/>
          <p:cNvSpPr/>
          <p:nvPr/>
        </p:nvSpPr>
        <p:spPr>
          <a:xfrm>
            <a:off x="952500" y="4105126"/>
            <a:ext cx="3363888" cy="2845594"/>
          </a:xfrm>
          <a:prstGeom prst="roundRect">
            <a:avLst>
              <a:gd name="adj" fmla="val 3347"/>
            </a:avLst>
          </a:prstGeom>
          <a:solidFill>
            <a:srgbClr val="E6F5EF"/>
          </a:solidFill>
          <a:ln w="9525">
            <a:solidFill>
              <a:srgbClr val="B2E0D4"/>
            </a:solidFill>
            <a:prstDash val="solid"/>
          </a:ln>
        </p:spPr>
        <p:txBody>
          <a:bodyPr/>
          <a:lstStyle/>
          <a:p>
            <a:endParaRPr lang="en-GB"/>
          </a:p>
        </p:txBody>
      </p:sp>
      <p:sp>
        <p:nvSpPr>
          <p:cNvPr id="6" name="Text 4"/>
          <p:cNvSpPr/>
          <p:nvPr/>
        </p:nvSpPr>
        <p:spPr>
          <a:xfrm>
            <a:off x="1247775"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063D22"/>
                </a:solidFill>
                <a:latin typeface="Arial" pitchFamily="34" charset="0"/>
                <a:ea typeface="Arial" pitchFamily="34" charset="-122"/>
                <a:cs typeface="Arial" pitchFamily="34" charset="-120"/>
              </a:rPr>
              <a:t>24</a:t>
            </a:r>
            <a:endParaRPr lang="en-US" sz="4050" dirty="0"/>
          </a:p>
        </p:txBody>
      </p:sp>
      <p:sp>
        <p:nvSpPr>
          <p:cNvPr id="7" name="Text 5"/>
          <p:cNvSpPr/>
          <p:nvPr/>
        </p:nvSpPr>
        <p:spPr>
          <a:xfrm>
            <a:off x="1247775"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5C7268"/>
                </a:solidFill>
                <a:latin typeface="Arial" pitchFamily="34" charset="0"/>
                <a:ea typeface="Arial" pitchFamily="34" charset="-122"/>
                <a:cs typeface="Arial" pitchFamily="34" charset="-120"/>
              </a:rPr>
              <a:t>raw columns from several legacy systems</a:t>
            </a:r>
            <a:endParaRPr lang="en-US" sz="1950" dirty="0"/>
          </a:p>
        </p:txBody>
      </p:sp>
      <p:sp>
        <p:nvSpPr>
          <p:cNvPr id="8" name="Text 6"/>
          <p:cNvSpPr/>
          <p:nvPr/>
        </p:nvSpPr>
        <p:spPr>
          <a:xfrm>
            <a:off x="4278288"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9" name="Shape 7"/>
          <p:cNvSpPr/>
          <p:nvPr/>
        </p:nvSpPr>
        <p:spPr>
          <a:xfrm>
            <a:off x="5021238" y="4105126"/>
            <a:ext cx="4057204" cy="2845594"/>
          </a:xfrm>
          <a:prstGeom prst="roundRect">
            <a:avLst>
              <a:gd name="adj" fmla="val 3347"/>
            </a:avLst>
          </a:prstGeom>
          <a:solidFill>
            <a:srgbClr val="FFFFFF"/>
          </a:solidFill>
          <a:ln w="9525">
            <a:solidFill>
              <a:srgbClr val="D2E6DD"/>
            </a:solidFill>
            <a:prstDash val="solid"/>
          </a:ln>
        </p:spPr>
        <p:txBody>
          <a:bodyPr/>
          <a:lstStyle/>
          <a:p>
            <a:endParaRPr lang="en-GB"/>
          </a:p>
        </p:txBody>
      </p:sp>
      <p:sp>
        <p:nvSpPr>
          <p:cNvPr id="10" name="Text 8"/>
          <p:cNvSpPr/>
          <p:nvPr/>
        </p:nvSpPr>
        <p:spPr>
          <a:xfrm>
            <a:off x="5316513" y="4400401"/>
            <a:ext cx="381331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CLEAN &amp; STANDARDISE</a:t>
            </a:r>
            <a:endParaRPr lang="en-US" sz="1800" dirty="0"/>
          </a:p>
        </p:txBody>
      </p:sp>
      <p:sp>
        <p:nvSpPr>
          <p:cNvPr id="11" name="Text 9"/>
          <p:cNvSpPr/>
          <p:nvPr/>
        </p:nvSpPr>
        <p:spPr>
          <a:xfrm>
            <a:off x="5316513" y="4809976"/>
            <a:ext cx="3570653" cy="1883569"/>
          </a:xfrm>
          <a:prstGeom prst="rect">
            <a:avLst/>
          </a:prstGeom>
          <a:noFill/>
          <a:ln/>
        </p:spPr>
        <p:txBody>
          <a:bodyPr wrap="square" lIns="25400" tIns="25400" rIns="25400" bIns="25400" rtlCol="0" anchor="t">
            <a:normAutofit/>
          </a:bodyPr>
          <a:lstStyle/>
          <a:p>
            <a:pPr marL="0" indent="0" algn="l">
              <a:lnSpc>
                <a:spcPct val="155000"/>
              </a:lnSpc>
              <a:buNone/>
            </a:pPr>
            <a:r>
              <a:rPr lang="en-US" sz="1875" dirty="0">
                <a:solidFill>
                  <a:srgbClr val="244236"/>
                </a:solidFill>
                <a:latin typeface="Arial" pitchFamily="34" charset="0"/>
                <a:ea typeface="Arial" pitchFamily="34" charset="-122"/>
                <a:cs typeface="Arial" pitchFamily="34" charset="-120"/>
              </a:rPr>
              <a:t>Fix mixed units · parse two date formats Unify yes/no codes · z-score credit scores (train-only stats) Add missingness flags</a:t>
            </a:r>
            <a:endParaRPr lang="en-US" sz="1875" dirty="0"/>
          </a:p>
        </p:txBody>
      </p:sp>
      <p:sp>
        <p:nvSpPr>
          <p:cNvPr id="12" name="Text 10"/>
          <p:cNvSpPr/>
          <p:nvPr/>
        </p:nvSpPr>
        <p:spPr>
          <a:xfrm>
            <a:off x="9040341"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3" name="Shape 11"/>
          <p:cNvSpPr/>
          <p:nvPr/>
        </p:nvSpPr>
        <p:spPr>
          <a:xfrm>
            <a:off x="9783291" y="4105126"/>
            <a:ext cx="3502521" cy="2845594"/>
          </a:xfrm>
          <a:prstGeom prst="roundRect">
            <a:avLst>
              <a:gd name="adj" fmla="val 3347"/>
            </a:avLst>
          </a:prstGeom>
          <a:solidFill>
            <a:srgbClr val="FFFFFF"/>
          </a:solidFill>
          <a:ln w="9525">
            <a:solidFill>
              <a:srgbClr val="E3B9AC"/>
            </a:solidFill>
            <a:prstDash val="solid"/>
          </a:ln>
        </p:spPr>
        <p:txBody>
          <a:bodyPr/>
          <a:lstStyle/>
          <a:p>
            <a:endParaRPr lang="en-GB"/>
          </a:p>
        </p:txBody>
      </p:sp>
      <p:sp>
        <p:nvSpPr>
          <p:cNvPr id="14" name="Text 12"/>
          <p:cNvSpPr/>
          <p:nvPr/>
        </p:nvSpPr>
        <p:spPr>
          <a:xfrm>
            <a:off x="10078566" y="4715916"/>
            <a:ext cx="320316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3573F"/>
                </a:solidFill>
                <a:latin typeface="Courier New" pitchFamily="34" charset="0"/>
                <a:ea typeface="Courier New" pitchFamily="34" charset="-122"/>
                <a:cs typeface="Courier New" pitchFamily="34" charset="-120"/>
              </a:rPr>
              <a:t>DROP 4 TRAPS</a:t>
            </a:r>
            <a:endParaRPr lang="en-US" sz="1800" dirty="0"/>
          </a:p>
        </p:txBody>
      </p:sp>
      <p:sp>
        <p:nvSpPr>
          <p:cNvPr id="15" name="Text 13"/>
          <p:cNvSpPr/>
          <p:nvPr/>
        </p:nvSpPr>
        <p:spPr>
          <a:xfrm>
            <a:off x="10078566" y="5125491"/>
            <a:ext cx="2999330" cy="1252538"/>
          </a:xfrm>
          <a:prstGeom prst="rect">
            <a:avLst/>
          </a:prstGeom>
          <a:noFill/>
          <a:ln/>
        </p:spPr>
        <p:txBody>
          <a:bodyPr wrap="square" lIns="25400" tIns="25400" rIns="25400" bIns="25400" rtlCol="0" anchor="t">
            <a:normAutofit/>
          </a:bodyPr>
          <a:lstStyle/>
          <a:p>
            <a:pPr marL="0" indent="0" algn="l">
              <a:lnSpc>
                <a:spcPct val="170000"/>
              </a:lnSpc>
              <a:buNone/>
            </a:pPr>
            <a:r>
              <a:rPr lang="en-US" sz="1875" dirty="0">
                <a:solidFill>
                  <a:srgbClr val="244236"/>
                </a:solidFill>
                <a:latin typeface="Arial" pitchFamily="34" charset="0"/>
                <a:ea typeface="Arial" pitchFamily="34" charset="-122"/>
                <a:cs typeface="Arial" pitchFamily="34" charset="-120"/>
              </a:rPr>
              <a:t>the leak · the missing column race · religion</a:t>
            </a:r>
            <a:endParaRPr lang="en-US" sz="1875" dirty="0"/>
          </a:p>
        </p:txBody>
      </p:sp>
      <p:sp>
        <p:nvSpPr>
          <p:cNvPr id="16" name="Text 14"/>
          <p:cNvSpPr/>
          <p:nvPr/>
        </p:nvSpPr>
        <p:spPr>
          <a:xfrm>
            <a:off x="13247712" y="4105126"/>
            <a:ext cx="781050" cy="2883694"/>
          </a:xfrm>
          <a:prstGeom prst="rect">
            <a:avLst/>
          </a:prstGeom>
          <a:noFill/>
          <a:ln/>
        </p:spPr>
        <p:txBody>
          <a:bodyPr wrap="square" lIns="25400" tIns="25400" rIns="25400" bIns="25400" rtlCol="0" anchor="ctr">
            <a:normAutofit/>
          </a:bodyPr>
          <a:lstStyle/>
          <a:p>
            <a:pPr marL="0" indent="0" algn="ctr">
              <a:buNone/>
            </a:pPr>
            <a:r>
              <a:rPr lang="en-US" sz="3000" dirty="0">
                <a:solidFill>
                  <a:srgbClr val="66B3A1"/>
                </a:solidFill>
                <a:latin typeface="Arial" pitchFamily="34" charset="0"/>
                <a:ea typeface="Arial" pitchFamily="34" charset="-122"/>
                <a:cs typeface="Arial" pitchFamily="34" charset="-120"/>
              </a:rPr>
              <a:t>→</a:t>
            </a:r>
            <a:endParaRPr lang="en-US" sz="3000" dirty="0"/>
          </a:p>
        </p:txBody>
      </p:sp>
      <p:sp>
        <p:nvSpPr>
          <p:cNvPr id="17" name="Shape 15"/>
          <p:cNvSpPr/>
          <p:nvPr/>
        </p:nvSpPr>
        <p:spPr>
          <a:xfrm>
            <a:off x="13990662" y="4105126"/>
            <a:ext cx="3344838" cy="2845594"/>
          </a:xfrm>
          <a:prstGeom prst="roundRect">
            <a:avLst>
              <a:gd name="adj" fmla="val 3347"/>
            </a:avLst>
          </a:prstGeom>
          <a:solidFill>
            <a:srgbClr val="1A7A57"/>
          </a:solidFill>
          <a:ln/>
        </p:spPr>
        <p:txBody>
          <a:bodyPr/>
          <a:lstStyle/>
          <a:p>
            <a:endParaRPr lang="en-GB"/>
          </a:p>
        </p:txBody>
      </p:sp>
      <p:sp>
        <p:nvSpPr>
          <p:cNvPr id="18" name="Text 16"/>
          <p:cNvSpPr/>
          <p:nvPr/>
        </p:nvSpPr>
        <p:spPr>
          <a:xfrm>
            <a:off x="14276412" y="4843611"/>
            <a:ext cx="3050671" cy="661987"/>
          </a:xfrm>
          <a:prstGeom prst="rect">
            <a:avLst/>
          </a:prstGeom>
          <a:noFill/>
          <a:ln/>
        </p:spPr>
        <p:txBody>
          <a:bodyPr wrap="square" lIns="25400" tIns="25400" rIns="25400" bIns="25400" rtlCol="0" anchor="t">
            <a:normAutofit lnSpcReduction="10000"/>
          </a:bodyPr>
          <a:lstStyle/>
          <a:p>
            <a:pPr marL="0" indent="0" algn="l">
              <a:buNone/>
            </a:pPr>
            <a:r>
              <a:rPr lang="en-US" sz="4050" b="1" dirty="0">
                <a:solidFill>
                  <a:srgbClr val="FFFFFF"/>
                </a:solidFill>
                <a:latin typeface="Arial" pitchFamily="34" charset="0"/>
                <a:ea typeface="Arial" pitchFamily="34" charset="-122"/>
                <a:cs typeface="Arial" pitchFamily="34" charset="-120"/>
              </a:rPr>
              <a:t>20</a:t>
            </a:r>
            <a:endParaRPr lang="en-US" sz="4050" dirty="0"/>
          </a:p>
        </p:txBody>
      </p:sp>
      <p:sp>
        <p:nvSpPr>
          <p:cNvPr id="19" name="Text 17"/>
          <p:cNvSpPr/>
          <p:nvPr/>
        </p:nvSpPr>
        <p:spPr>
          <a:xfrm>
            <a:off x="14276412" y="5543698"/>
            <a:ext cx="2856538" cy="706636"/>
          </a:xfrm>
          <a:prstGeom prst="rect">
            <a:avLst/>
          </a:prstGeom>
          <a:noFill/>
          <a:ln/>
        </p:spPr>
        <p:txBody>
          <a:bodyPr wrap="square" lIns="25400" tIns="25400" rIns="25400" bIns="25400" rtlCol="0" anchor="t">
            <a:normAutofit fontScale="92500" lnSpcReduction="20000"/>
          </a:bodyPr>
          <a:lstStyle/>
          <a:p>
            <a:pPr marL="0" indent="0" algn="l">
              <a:lnSpc>
                <a:spcPct val="135000"/>
              </a:lnSpc>
              <a:buNone/>
            </a:pPr>
            <a:r>
              <a:rPr lang="en-US" sz="1950" dirty="0">
                <a:solidFill>
                  <a:srgbClr val="B2E0D4"/>
                </a:solidFill>
                <a:latin typeface="Arial" pitchFamily="34" charset="0"/>
                <a:ea typeface="Arial" pitchFamily="34" charset="-122"/>
                <a:cs typeface="Arial" pitchFamily="34" charset="-120"/>
              </a:rPr>
              <a:t>features we trust, ready to model</a:t>
            </a:r>
            <a:endParaRPr lang="en-US" sz="1950" dirty="0"/>
          </a:p>
        </p:txBody>
      </p:sp>
      <p:sp>
        <p:nvSpPr>
          <p:cNvPr id="20" name="Text 18"/>
          <p:cNvSpPr/>
          <p:nvPr/>
        </p:nvSpPr>
        <p:spPr>
          <a:xfrm>
            <a:off x="952500" y="7331720"/>
            <a:ext cx="13342620" cy="805755"/>
          </a:xfrm>
          <a:prstGeom prst="rect">
            <a:avLst/>
          </a:prstGeom>
          <a:noFill/>
          <a:ln/>
        </p:spPr>
        <p:txBody>
          <a:bodyPr wrap="square" lIns="25400" tIns="25400" rIns="25400" bIns="25400" rtlCol="0" anchor="t">
            <a:normAutofit fontScale="92500" lnSpcReduction="10000"/>
          </a:bodyPr>
          <a:lstStyle/>
          <a:p>
            <a:pPr marL="0" indent="0" algn="l">
              <a:lnSpc>
                <a:spcPct val="145000"/>
              </a:lnSpc>
              <a:buNone/>
            </a:pPr>
            <a:r>
              <a:rPr lang="en-US" sz="2025" dirty="0">
                <a:solidFill>
                  <a:srgbClr val="244236"/>
                </a:solidFill>
                <a:latin typeface="Arial" pitchFamily="34" charset="0"/>
                <a:ea typeface="Arial" pitchFamily="34" charset="-122"/>
                <a:cs typeface="Arial" pitchFamily="34" charset="-120"/>
              </a:rPr>
              <a:t>The same script cleans training </a:t>
            </a:r>
            <a:r>
              <a:rPr lang="en-US" sz="2025" b="1" dirty="0">
                <a:solidFill>
                  <a:srgbClr val="063D22"/>
                </a:solidFill>
                <a:latin typeface="Arial" pitchFamily="34" charset="0"/>
                <a:ea typeface="Arial" pitchFamily="34" charset="-122"/>
                <a:cs typeface="Arial" pitchFamily="34" charset="-120"/>
              </a:rPr>
              <a:t>and </a:t>
            </a:r>
            <a:r>
              <a:rPr lang="en-US" sz="2025" dirty="0">
                <a:solidFill>
                  <a:srgbClr val="244236"/>
                </a:solidFill>
                <a:latin typeface="Arial" pitchFamily="34" charset="0"/>
                <a:ea typeface="Arial" pitchFamily="34" charset="-122"/>
                <a:cs typeface="Arial" pitchFamily="34" charset="-120"/>
              </a:rPr>
              <a:t>test data identically, and adds </a:t>
            </a:r>
            <a:r>
              <a:rPr lang="en-US" sz="2025" b="1" dirty="0">
                <a:solidFill>
                  <a:srgbClr val="063D22"/>
                </a:solidFill>
                <a:latin typeface="Arial" pitchFamily="34" charset="0"/>
                <a:ea typeface="Arial" pitchFamily="34" charset="-122"/>
                <a:cs typeface="Arial" pitchFamily="34" charset="-120"/>
              </a:rPr>
              <a:t>missingness flags </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ann_income_missing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other_income_missing</a:t>
            </a:r>
            <a:r>
              <a:rPr lang="en-US" sz="2025" dirty="0">
                <a:solidFill>
                  <a:srgbClr val="244236"/>
                </a:solidFill>
                <a:latin typeface="Arial" pitchFamily="34" charset="0"/>
                <a:ea typeface="Arial" pitchFamily="34" charset="-122"/>
                <a:cs typeface="Arial" pitchFamily="34" charset="-120"/>
              </a:rPr>
              <a:t>, </a:t>
            </a:r>
            <a:r>
              <a:rPr lang="en-US" sz="1800" dirty="0">
                <a:solidFill>
                  <a:srgbClr val="244236"/>
                </a:solidFill>
                <a:latin typeface="Courier New" pitchFamily="34" charset="0"/>
                <a:ea typeface="Courier New" pitchFamily="34" charset="-122"/>
                <a:cs typeface="Courier New" pitchFamily="34" charset="-120"/>
              </a:rPr>
              <a:t>prev_default_missing </a:t>
            </a:r>
            <a:r>
              <a:rPr lang="en-US" sz="2025" dirty="0">
                <a:solidFill>
                  <a:srgbClr val="244236"/>
                </a:solidFill>
                <a:latin typeface="Arial" pitchFamily="34" charset="0"/>
                <a:ea typeface="Arial" pitchFamily="34" charset="-122"/>
                <a:cs typeface="Arial" pitchFamily="34" charset="-120"/>
              </a:rPr>
              <a:t>— so “value absent” becomes usable signal.</a:t>
            </a:r>
            <a:endParaRPr lang="en-US" sz="2025" dirty="0"/>
          </a:p>
        </p:txBody>
      </p:sp>
      <p:sp>
        <p:nvSpPr>
          <p:cNvPr id="21" name="Text 19"/>
          <p:cNvSpPr/>
          <p:nvPr/>
        </p:nvSpPr>
        <p:spPr>
          <a:xfrm>
            <a:off x="952500" y="8232725"/>
            <a:ext cx="13342620"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Credit scores are z-scored using </a:t>
            </a:r>
            <a:r>
              <a:rPr lang="en-US" sz="1800" b="1" dirty="0">
                <a:solidFill>
                  <a:srgbClr val="244236"/>
                </a:solidFill>
                <a:latin typeface="Arial" pitchFamily="34" charset="0"/>
                <a:ea typeface="Arial" pitchFamily="34" charset="-122"/>
                <a:cs typeface="Arial" pitchFamily="34" charset="-120"/>
              </a:rPr>
              <a:t>train-only statistics </a:t>
            </a:r>
            <a:r>
              <a:rPr lang="en-US" sz="1800" dirty="0">
                <a:solidFill>
                  <a:srgbClr val="5C7268"/>
                </a:solidFill>
                <a:latin typeface="Arial" pitchFamily="34" charset="0"/>
                <a:ea typeface="Arial" pitchFamily="34" charset="-122"/>
                <a:cs typeface="Arial" pitchFamily="34" charset="-120"/>
              </a:rPr>
              <a:t>(no test leakage) — the correct, leak-free choice; for tree models the accuracy effect is ~0.</a:t>
            </a:r>
            <a:endParaRPr lang="en-US" sz="1800" dirty="0"/>
          </a:p>
        </p:txBody>
      </p:sp>
      <p:sp>
        <p:nvSpPr>
          <p:cNvPr id="22" name="Shape 20"/>
          <p:cNvSpPr/>
          <p:nvPr/>
        </p:nvSpPr>
        <p:spPr>
          <a:xfrm>
            <a:off x="952500" y="9239250"/>
            <a:ext cx="16383000" cy="9525"/>
          </a:xfrm>
          <a:prstGeom prst="rect">
            <a:avLst/>
          </a:prstGeom>
          <a:solidFill>
            <a:srgbClr val="D2E6DD"/>
          </a:solidFill>
          <a:ln/>
        </p:spPr>
        <p:txBody>
          <a:bodyPr/>
          <a:lstStyle/>
          <a:p>
            <a:endParaRPr lang="en-GB"/>
          </a:p>
        </p:txBody>
      </p:sp>
      <p:sp>
        <p:nvSpPr>
          <p:cNvPr id="23" name="Text 21"/>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single shared cleaning module</a:t>
            </a:r>
            <a:endParaRPr lang="en-US" sz="1800" dirty="0"/>
          </a:p>
        </p:txBody>
      </p:sp>
      <p:pic>
        <p:nvPicPr>
          <p:cNvPr id="24" name="Picture 23">
            <a:extLst>
              <a:ext uri="{FF2B5EF4-FFF2-40B4-BE49-F238E27FC236}">
                <a16:creationId xmlns:a16="http://schemas.microsoft.com/office/drawing/2014/main" id="{F92F4531-B16F-C979-C433-81F52CCEA065}"/>
              </a:ext>
            </a:extLst>
          </p:cNvPr>
          <p:cNvPicPr>
            <a:picLocks noChangeAspect="1"/>
          </p:cNvPicPr>
          <p:nvPr/>
        </p:nvPicPr>
        <p:blipFill>
          <a:blip r:embed="rId3"/>
          <a:stretch>
            <a:fillRect/>
          </a:stretch>
        </p:blipFill>
        <p:spPr>
          <a:xfrm>
            <a:off x="2401561" y="2150670"/>
            <a:ext cx="13277559" cy="166526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06 · THE SIGNALS THAT MATTERED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Two overlooked signals did most of the work</a:t>
            </a:r>
            <a:endParaRPr lang="en-US" sz="3600" dirty="0"/>
          </a:p>
        </p:txBody>
      </p:sp>
      <p:sp>
        <p:nvSpPr>
          <p:cNvPr id="5" name="Text 3"/>
          <p:cNvSpPr/>
          <p:nvPr/>
        </p:nvSpPr>
        <p:spPr>
          <a:xfrm>
            <a:off x="9525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Risk is worst at the extremes</a:t>
            </a:r>
            <a:endParaRPr lang="en-US" sz="2250" dirty="0"/>
          </a:p>
        </p:txBody>
      </p:sp>
      <p:sp>
        <p:nvSpPr>
          <p:cNvPr id="6" name="Text 4"/>
          <p:cNvSpPr/>
          <p:nvPr/>
        </p:nvSpPr>
        <p:spPr>
          <a:xfrm>
            <a:off x="952500" y="2755181"/>
            <a:ext cx="8162544" cy="681038"/>
          </a:xfrm>
          <a:prstGeom prst="rect">
            <a:avLst/>
          </a:prstGeom>
          <a:noFill/>
          <a:ln/>
        </p:spPr>
        <p:txBody>
          <a:bodyPr wrap="square" lIns="25400" tIns="25400" rIns="25400" bIns="25400" rtlCol="0" anchor="t">
            <a:normAutofit fontScale="925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A straight-line check said the risk score was useless. The shape told the real story.</a:t>
            </a:r>
            <a:endParaRPr lang="en-US" sz="1875" dirty="0"/>
          </a:p>
        </p:txBody>
      </p:sp>
      <p:sp>
        <p:nvSpPr>
          <p:cNvPr id="7" name="Text 5"/>
          <p:cNvSpPr/>
          <p:nvPr/>
        </p:nvSpPr>
        <p:spPr>
          <a:xfrm>
            <a:off x="9410700" y="2350368"/>
            <a:ext cx="8717280"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analyst’s note gives it away</a:t>
            </a:r>
            <a:endParaRPr lang="en-US" sz="2250" dirty="0"/>
          </a:p>
        </p:txBody>
      </p:sp>
      <p:sp>
        <p:nvSpPr>
          <p:cNvPr id="8" name="Text 6"/>
          <p:cNvSpPr/>
          <p:nvPr/>
        </p:nvSpPr>
        <p:spPr>
          <a:xfrm>
            <a:off x="9410700" y="2755181"/>
            <a:ext cx="8162544" cy="681038"/>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1875" dirty="0">
                <a:solidFill>
                  <a:srgbClr val="5C7268"/>
                </a:solidFill>
                <a:latin typeface="Arial" pitchFamily="34" charset="0"/>
                <a:ea typeface="Arial" pitchFamily="34" charset="-122"/>
                <a:cs typeface="Arial" pitchFamily="34" charset="-120"/>
              </a:rPr>
              <a:t>The free text is really 60 fixed comments in three tiers — no fancy text analysis needed.</a:t>
            </a:r>
            <a:endParaRPr lang="en-US" sz="1875" dirty="0"/>
          </a:p>
        </p:txBody>
      </p:sp>
      <p:sp>
        <p:nvSpPr>
          <p:cNvPr id="9" name="Shape 7"/>
          <p:cNvSpPr/>
          <p:nvPr/>
        </p:nvSpPr>
        <p:spPr>
          <a:xfrm>
            <a:off x="952500" y="9239250"/>
            <a:ext cx="16383000" cy="9525"/>
          </a:xfrm>
          <a:prstGeom prst="rect">
            <a:avLst/>
          </a:prstGeom>
          <a:solidFill>
            <a:srgbClr val="D2E6DD"/>
          </a:solidFill>
          <a:ln/>
        </p:spPr>
        <p:txBody>
          <a:bodyPr/>
          <a:lstStyle/>
          <a:p>
            <a:endParaRPr lang="en-GB"/>
          </a:p>
        </p:txBody>
      </p:sp>
      <p:sp>
        <p:nvSpPr>
          <p:cNvPr id="10" name="Text 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analysis · final model uses 20 features</a:t>
            </a:r>
            <a:endParaRPr lang="en-US" sz="1800" dirty="0"/>
          </a:p>
        </p:txBody>
      </p:sp>
      <p:pic>
        <p:nvPicPr>
          <p:cNvPr id="11" name="Picture 10" descr="deck_risk.png"/>
          <p:cNvPicPr>
            <a:picLocks noChangeAspect="1"/>
          </p:cNvPicPr>
          <p:nvPr/>
        </p:nvPicPr>
        <p:blipFill>
          <a:blip r:embed="rId3"/>
          <a:stretch>
            <a:fillRect/>
          </a:stretch>
        </p:blipFill>
        <p:spPr>
          <a:xfrm>
            <a:off x="950976" y="3703320"/>
            <a:ext cx="8165592" cy="4727448"/>
          </a:xfrm>
          <a:prstGeom prst="rect">
            <a:avLst/>
          </a:prstGeom>
        </p:spPr>
      </p:pic>
      <p:pic>
        <p:nvPicPr>
          <p:cNvPr id="12" name="Picture 11" descr="deck_opinion.png"/>
          <p:cNvPicPr>
            <a:picLocks noChangeAspect="1"/>
          </p:cNvPicPr>
          <p:nvPr/>
        </p:nvPicPr>
        <p:blipFill>
          <a:blip r:embed="rId4"/>
          <a:stretch>
            <a:fillRect/>
          </a:stretch>
        </p:blipFill>
        <p:spPr>
          <a:xfrm>
            <a:off x="9409176" y="3703320"/>
            <a:ext cx="8165592" cy="4727448"/>
          </a:xfrm>
          <a:prstGeom prst="rect">
            <a:avLst/>
          </a:prstGeom>
        </p:spPr>
      </p:pic>
      <p:sp>
        <p:nvSpPr>
          <p:cNvPr id="13" name="TextBox 12">
            <a:extLst>
              <a:ext uri="{FF2B5EF4-FFF2-40B4-BE49-F238E27FC236}">
                <a16:creationId xmlns:a16="http://schemas.microsoft.com/office/drawing/2014/main" id="{93C6C84A-8D72-6B88-2FA7-01657B29A72D}"/>
              </a:ext>
            </a:extLst>
          </p:cNvPr>
          <p:cNvSpPr txBox="1"/>
          <p:nvPr/>
        </p:nvSpPr>
        <p:spPr>
          <a:xfrm>
            <a:off x="10394831" y="8640318"/>
            <a:ext cx="2646611" cy="369332"/>
          </a:xfrm>
          <a:prstGeom prst="rect">
            <a:avLst/>
          </a:prstGeom>
          <a:noFill/>
        </p:spPr>
        <p:txBody>
          <a:bodyPr wrap="square" rtlCol="0">
            <a:spAutoFit/>
          </a:bodyPr>
          <a:lstStyle/>
          <a:p>
            <a:r>
              <a:rPr lang="en-DE" b="1" cap="all" dirty="0"/>
              <a:t>Turn text to category </a:t>
            </a:r>
          </a:p>
        </p:txBody>
      </p:sp>
      <p:sp>
        <p:nvSpPr>
          <p:cNvPr id="14" name="TextBox 13">
            <a:extLst>
              <a:ext uri="{FF2B5EF4-FFF2-40B4-BE49-F238E27FC236}">
                <a16:creationId xmlns:a16="http://schemas.microsoft.com/office/drawing/2014/main" id="{AACC180B-A0C6-A78B-63DA-A769B29E2A7A}"/>
              </a:ext>
            </a:extLst>
          </p:cNvPr>
          <p:cNvSpPr txBox="1"/>
          <p:nvPr/>
        </p:nvSpPr>
        <p:spPr>
          <a:xfrm>
            <a:off x="14459663" y="8494284"/>
            <a:ext cx="2646611" cy="646331"/>
          </a:xfrm>
          <a:prstGeom prst="rect">
            <a:avLst/>
          </a:prstGeom>
          <a:noFill/>
        </p:spPr>
        <p:txBody>
          <a:bodyPr wrap="square" rtlCol="0">
            <a:spAutoFit/>
          </a:bodyPr>
          <a:lstStyle/>
          <a:p>
            <a:r>
              <a:rPr lang="en-DE" b="1" cap="all" dirty="0"/>
              <a:t>Gradient boost model (Lightgbm), no tf-idf</a:t>
            </a:r>
          </a:p>
        </p:txBody>
      </p:sp>
      <p:cxnSp>
        <p:nvCxnSpPr>
          <p:cNvPr id="16" name="Straight Arrow Connector 15">
            <a:extLst>
              <a:ext uri="{FF2B5EF4-FFF2-40B4-BE49-F238E27FC236}">
                <a16:creationId xmlns:a16="http://schemas.microsoft.com/office/drawing/2014/main" id="{D43197BD-2397-CC5B-FB91-B62AB2848916}"/>
              </a:ext>
            </a:extLst>
          </p:cNvPr>
          <p:cNvCxnSpPr>
            <a:cxnSpLocks/>
            <a:stCxn id="13" idx="3"/>
            <a:endCxn id="14" idx="1"/>
          </p:cNvCxnSpPr>
          <p:nvPr/>
        </p:nvCxnSpPr>
        <p:spPr>
          <a:xfrm flipV="1">
            <a:off x="13041442" y="8817450"/>
            <a:ext cx="1418221" cy="75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710B0613-D128-4C51-03A4-488D2F25D790}"/>
              </a:ext>
            </a:extLst>
          </p:cNvPr>
          <p:cNvSpPr txBox="1"/>
          <p:nvPr/>
        </p:nvSpPr>
        <p:spPr>
          <a:xfrm>
            <a:off x="4482509" y="8160071"/>
            <a:ext cx="2646611" cy="369332"/>
          </a:xfrm>
          <a:prstGeom prst="rect">
            <a:avLst/>
          </a:prstGeom>
          <a:noFill/>
        </p:spPr>
        <p:txBody>
          <a:bodyPr wrap="square" rtlCol="0">
            <a:spAutoFit/>
          </a:bodyPr>
          <a:lstStyle/>
          <a:p>
            <a:r>
              <a:rPr lang="en-DE" b="1" cap="all" dirty="0"/>
              <a:t>Risk_indicator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7A57"/>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E0F7F1">
              <a:alpha val="35000"/>
            </a:srgbClr>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07 · ETHICAL CONSIDERATIONS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FFFFFF"/>
                </a:solidFill>
                <a:latin typeface="Arial" pitchFamily="34" charset="0"/>
                <a:ea typeface="Arial" pitchFamily="34" charset="-122"/>
                <a:cs typeface="Arial" pitchFamily="34" charset="-120"/>
              </a:rPr>
              <a:t>Using race or religion would lift accuracy — we said no</a:t>
            </a:r>
            <a:endParaRPr lang="en-US" sz="3600" dirty="0"/>
          </a:p>
        </p:txBody>
      </p:sp>
      <p:sp>
        <p:nvSpPr>
          <p:cNvPr id="5" name="Text 3"/>
          <p:cNvSpPr/>
          <p:nvPr/>
        </p:nvSpPr>
        <p:spPr>
          <a:xfrm>
            <a:off x="952500" y="3997524"/>
            <a:ext cx="8463774"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Accuracy, with and without protected data</a:t>
            </a:r>
            <a:endParaRPr lang="en-US" sz="1800" dirty="0"/>
          </a:p>
        </p:txBody>
      </p:sp>
      <p:sp>
        <p:nvSpPr>
          <p:cNvPr id="6" name="Text 4"/>
          <p:cNvSpPr/>
          <p:nvPr/>
        </p:nvSpPr>
        <p:spPr>
          <a:xfrm>
            <a:off x="2146176" y="4637484"/>
            <a:ext cx="135429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86.3%</a:t>
            </a:r>
            <a:endParaRPr lang="en-US" sz="3000" dirty="0"/>
          </a:p>
        </p:txBody>
      </p:sp>
      <p:sp>
        <p:nvSpPr>
          <p:cNvPr id="7" name="Shape 5"/>
          <p:cNvSpPr/>
          <p:nvPr/>
        </p:nvSpPr>
        <p:spPr>
          <a:xfrm>
            <a:off x="952500" y="5213747"/>
            <a:ext cx="3618533" cy="1509713"/>
          </a:xfrm>
          <a:prstGeom prst="roundRect">
            <a:avLst>
              <a:gd name="adj" fmla="val 5047"/>
            </a:avLst>
          </a:prstGeom>
          <a:solidFill>
            <a:srgbClr val="B2E0D4"/>
          </a:solidFill>
          <a:ln/>
        </p:spPr>
        <p:txBody>
          <a:bodyPr/>
          <a:lstStyle/>
          <a:p>
            <a:endParaRPr lang="en-GB"/>
          </a:p>
        </p:txBody>
      </p:sp>
      <p:sp>
        <p:nvSpPr>
          <p:cNvPr id="8" name="Text 6"/>
          <p:cNvSpPr/>
          <p:nvPr/>
        </p:nvSpPr>
        <p:spPr>
          <a:xfrm>
            <a:off x="1717551" y="6875859"/>
            <a:ext cx="2088356"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Our model (no protected data)</a:t>
            </a:r>
            <a:endParaRPr lang="en-US" sz="1875" dirty="0"/>
          </a:p>
        </p:txBody>
      </p:sp>
      <p:sp>
        <p:nvSpPr>
          <p:cNvPr id="9" name="Text 7"/>
          <p:cNvSpPr/>
          <p:nvPr/>
        </p:nvSpPr>
        <p:spPr>
          <a:xfrm>
            <a:off x="6292930" y="4366095"/>
            <a:ext cx="1343739" cy="500063"/>
          </a:xfrm>
          <a:prstGeom prst="rect">
            <a:avLst/>
          </a:prstGeom>
          <a:noFill/>
          <a:ln/>
        </p:spPr>
        <p:txBody>
          <a:bodyPr wrap="square" lIns="25400" tIns="25400" rIns="25400" bIns="25400" rtlCol="0" anchor="t">
            <a:normAutofit lnSpcReduction="10000"/>
          </a:bodyPr>
          <a:lstStyle/>
          <a:p>
            <a:pPr marL="0" indent="0" algn="l">
              <a:buNone/>
            </a:pPr>
            <a:r>
              <a:rPr lang="en-US" sz="3000" b="1" dirty="0">
                <a:solidFill>
                  <a:srgbClr val="FFFFFF"/>
                </a:solidFill>
                <a:latin typeface="Arial" pitchFamily="34" charset="0"/>
                <a:ea typeface="Arial" pitchFamily="34" charset="-122"/>
                <a:cs typeface="Arial" pitchFamily="34" charset="-120"/>
              </a:rPr>
              <a:t>87.0%</a:t>
            </a:r>
            <a:endParaRPr lang="en-US" sz="3000" dirty="0"/>
          </a:p>
        </p:txBody>
      </p:sp>
      <p:sp>
        <p:nvSpPr>
          <p:cNvPr id="10" name="Shape 8"/>
          <p:cNvSpPr/>
          <p:nvPr/>
        </p:nvSpPr>
        <p:spPr>
          <a:xfrm>
            <a:off x="5028233" y="4835129"/>
            <a:ext cx="3618607" cy="1888332"/>
          </a:xfrm>
          <a:prstGeom prst="roundRect">
            <a:avLst>
              <a:gd name="adj" fmla="val 5047"/>
            </a:avLst>
          </a:prstGeom>
          <a:solidFill>
            <a:srgbClr val="E3B9AC"/>
          </a:solidFill>
          <a:ln/>
        </p:spPr>
        <p:txBody>
          <a:bodyPr/>
          <a:lstStyle/>
          <a:p>
            <a:endParaRPr lang="en-GB"/>
          </a:p>
        </p:txBody>
      </p:sp>
      <p:sp>
        <p:nvSpPr>
          <p:cNvPr id="11" name="Text 9"/>
          <p:cNvSpPr/>
          <p:nvPr/>
        </p:nvSpPr>
        <p:spPr>
          <a:xfrm>
            <a:off x="6038329" y="6875859"/>
            <a:ext cx="1598340" cy="657225"/>
          </a:xfrm>
          <a:prstGeom prst="rect">
            <a:avLst/>
          </a:prstGeom>
          <a:noFill/>
          <a:ln/>
        </p:spPr>
        <p:txBody>
          <a:bodyPr wrap="square" lIns="25400" tIns="25400" rIns="25400" bIns="25400" rtlCol="0" anchor="t">
            <a:normAutofit fontScale="92500" lnSpcReduction="10000"/>
          </a:bodyPr>
          <a:lstStyle/>
          <a:p>
            <a:pPr marL="0" indent="0" algn="ctr">
              <a:lnSpc>
                <a:spcPct val="130000"/>
              </a:lnSpc>
              <a:buNone/>
            </a:pPr>
            <a:r>
              <a:rPr lang="en-US" sz="1875" dirty="0">
                <a:solidFill>
                  <a:srgbClr val="E0F7F1"/>
                </a:solidFill>
                <a:latin typeface="Arial" pitchFamily="34" charset="0"/>
                <a:ea typeface="Arial" pitchFamily="34" charset="-122"/>
                <a:cs typeface="Arial" pitchFamily="34" charset="-120"/>
              </a:rPr>
              <a:t>If we added race &amp; religion</a:t>
            </a:r>
            <a:endParaRPr lang="en-US" sz="1875" dirty="0"/>
          </a:p>
        </p:txBody>
      </p:sp>
      <p:sp>
        <p:nvSpPr>
          <p:cNvPr id="12" name="Text 10"/>
          <p:cNvSpPr/>
          <p:nvPr/>
        </p:nvSpPr>
        <p:spPr>
          <a:xfrm>
            <a:off x="9256440" y="3882628"/>
            <a:ext cx="8886966" cy="8763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6600" b="1" dirty="0">
                <a:solidFill>
                  <a:srgbClr val="FFFFFF"/>
                </a:solidFill>
                <a:latin typeface="Arial" pitchFamily="34" charset="0"/>
                <a:ea typeface="Arial" pitchFamily="34" charset="-122"/>
                <a:cs typeface="Arial" pitchFamily="34" charset="-120"/>
              </a:rPr>
              <a:t>+0.7 pt</a:t>
            </a:r>
            <a:endParaRPr lang="en-US" sz="6600" dirty="0"/>
          </a:p>
        </p:txBody>
      </p:sp>
      <p:sp>
        <p:nvSpPr>
          <p:cNvPr id="13" name="Text 11"/>
          <p:cNvSpPr/>
          <p:nvPr/>
        </p:nvSpPr>
        <p:spPr>
          <a:xfrm>
            <a:off x="9256440" y="4835128"/>
            <a:ext cx="8886966" cy="423863"/>
          </a:xfrm>
          <a:prstGeom prst="rect">
            <a:avLst/>
          </a:prstGeom>
          <a:noFill/>
          <a:ln/>
        </p:spPr>
        <p:txBody>
          <a:bodyPr wrap="square" lIns="25400" tIns="25400" rIns="25400" bIns="25400" rtlCol="0" anchor="t">
            <a:normAutofit fontScale="92500" lnSpcReduction="10000"/>
          </a:bodyPr>
          <a:lstStyle/>
          <a:p>
            <a:pPr marL="0" indent="0" algn="l">
              <a:lnSpc>
                <a:spcPct val="135000"/>
              </a:lnSpc>
              <a:buNone/>
            </a:pPr>
            <a:r>
              <a:rPr lang="en-US" sz="2250" dirty="0">
                <a:solidFill>
                  <a:srgbClr val="B2E0D4"/>
                </a:solidFill>
                <a:latin typeface="Arial" pitchFamily="34" charset="0"/>
                <a:ea typeface="Arial" pitchFamily="34" charset="-122"/>
                <a:cs typeface="Arial" pitchFamily="34" charset="-120"/>
              </a:rPr>
              <a:t>of accuracy — almost certainly enough for first place.</a:t>
            </a:r>
            <a:endParaRPr lang="en-US" sz="2250" dirty="0"/>
          </a:p>
        </p:txBody>
      </p:sp>
      <p:sp>
        <p:nvSpPr>
          <p:cNvPr id="14" name="Text 12"/>
          <p:cNvSpPr/>
          <p:nvPr/>
        </p:nvSpPr>
        <p:spPr>
          <a:xfrm>
            <a:off x="9256440" y="5525691"/>
            <a:ext cx="8321432" cy="1247775"/>
          </a:xfrm>
          <a:prstGeom prst="rect">
            <a:avLst/>
          </a:prstGeom>
          <a:noFill/>
          <a:ln/>
        </p:spPr>
        <p:txBody>
          <a:bodyPr wrap="square" lIns="25400" tIns="25400" rIns="25400" bIns="25400" rtlCol="0" anchor="t">
            <a:normAutofit fontScale="92500"/>
          </a:bodyPr>
          <a:lstStyle/>
          <a:p>
            <a:pPr marL="0" indent="0" algn="l">
              <a:lnSpc>
                <a:spcPct val="150000"/>
              </a:lnSpc>
              <a:buNone/>
            </a:pPr>
            <a:r>
              <a:rPr lang="en-US" sz="2100" dirty="0">
                <a:solidFill>
                  <a:srgbClr val="E0F7F1"/>
                </a:solidFill>
                <a:latin typeface="Arial" pitchFamily="34" charset="0"/>
                <a:ea typeface="Arial" pitchFamily="34" charset="-122"/>
                <a:cs typeface="Arial" pitchFamily="34" charset="-120"/>
              </a:rPr>
              <a:t>These columns have </a:t>
            </a:r>
            <a:r>
              <a:rPr lang="en-US" sz="2100" b="1" dirty="0">
                <a:solidFill>
                  <a:srgbClr val="FFFFFF"/>
                </a:solidFill>
                <a:latin typeface="Arial" pitchFamily="34" charset="0"/>
                <a:ea typeface="Arial" pitchFamily="34" charset="-122"/>
                <a:cs typeface="Arial" pitchFamily="34" charset="-120"/>
              </a:rPr>
              <a:t>no link to real credit risk </a:t>
            </a:r>
            <a:r>
              <a:rPr lang="en-US" sz="2100" dirty="0">
                <a:solidFill>
                  <a:srgbClr val="E0F7F1"/>
                </a:solidFill>
                <a:latin typeface="Arial" pitchFamily="34" charset="0"/>
                <a:ea typeface="Arial" pitchFamily="34" charset="-122"/>
                <a:cs typeface="Arial" pitchFamily="34" charset="-120"/>
              </a:rPr>
              <a:t>, yet they change who gets approved — e.g. </a:t>
            </a:r>
            <a:r>
              <a:rPr lang="en-US" sz="2100" b="1" dirty="0">
                <a:solidFill>
                  <a:srgbClr val="FFFFFF"/>
                </a:solidFill>
                <a:latin typeface="Arial" pitchFamily="34" charset="0"/>
                <a:ea typeface="Arial" pitchFamily="34" charset="-122"/>
                <a:cs typeface="Arial" pitchFamily="34" charset="-120"/>
              </a:rPr>
              <a:t>56% vs 45% </a:t>
            </a:r>
            <a:r>
              <a:rPr lang="en-US" sz="2100" dirty="0">
                <a:solidFill>
                  <a:srgbClr val="E0F7F1"/>
                </a:solidFill>
                <a:latin typeface="Arial" pitchFamily="34" charset="0"/>
                <a:ea typeface="Arial" pitchFamily="34" charset="-122"/>
                <a:cs typeface="Arial" pitchFamily="34" charset="-120"/>
              </a:rPr>
              <a:t>for two groups with the same risk.</a:t>
            </a:r>
            <a:endParaRPr lang="en-US" sz="2100" dirty="0"/>
          </a:p>
        </p:txBody>
      </p:sp>
      <p:sp>
        <p:nvSpPr>
          <p:cNvPr id="15" name="Text 13"/>
          <p:cNvSpPr/>
          <p:nvPr/>
        </p:nvSpPr>
        <p:spPr>
          <a:xfrm>
            <a:off x="9256440" y="6944916"/>
            <a:ext cx="8321432" cy="838200"/>
          </a:xfrm>
          <a:prstGeom prst="rect">
            <a:avLst/>
          </a:prstGeom>
          <a:noFill/>
          <a:ln/>
        </p:spPr>
        <p:txBody>
          <a:bodyPr wrap="square" lIns="25400" tIns="25400" rIns="25400" bIns="25400" rtlCol="0" anchor="t">
            <a:normAutofit fontScale="92500" lnSpcReduction="10000"/>
          </a:bodyPr>
          <a:lstStyle/>
          <a:p>
            <a:pPr marL="0" indent="0" algn="l">
              <a:lnSpc>
                <a:spcPct val="150000"/>
              </a:lnSpc>
              <a:buNone/>
            </a:pPr>
            <a:r>
              <a:rPr lang="en-US" sz="2100" b="1" dirty="0">
                <a:solidFill>
                  <a:srgbClr val="FFFFFF"/>
                </a:solidFill>
                <a:latin typeface="Arial" pitchFamily="34" charset="0"/>
                <a:ea typeface="Arial" pitchFamily="34" charset="-122"/>
                <a:cs typeface="Arial" pitchFamily="34" charset="-120"/>
              </a:rPr>
              <a:t>So the gain isn’t better prediction. It’s discrimination — and it’s illegal. We left the points on the table.</a:t>
            </a:r>
            <a:endParaRPr lang="en-US" sz="2100" dirty="0"/>
          </a:p>
        </p:txBody>
      </p:sp>
      <p:sp>
        <p:nvSpPr>
          <p:cNvPr id="16" name="Shape 14"/>
          <p:cNvSpPr/>
          <p:nvPr/>
        </p:nvSpPr>
        <p:spPr>
          <a:xfrm>
            <a:off x="952500" y="9239250"/>
            <a:ext cx="16383000" cy="9525"/>
          </a:xfrm>
          <a:prstGeom prst="rect">
            <a:avLst/>
          </a:prstGeom>
          <a:solidFill>
            <a:srgbClr val="E0F7F1">
              <a:alpha val="25000"/>
            </a:srgbClr>
          </a:solidFill>
          <a:ln/>
        </p:spPr>
        <p:txBody>
          <a:bodyPr/>
          <a:lstStyle/>
          <a:p>
            <a:endParaRPr lang="en-GB"/>
          </a:p>
        </p:txBody>
      </p:sp>
      <p:sp>
        <p:nvSpPr>
          <p:cNvPr id="17" name="Text 15"/>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Source: team fairness analysis · ECOA &amp; EU anti-discrimination law</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08 · HOW WE MODELED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We judged every model on next-month accuracy, not the leaderboard</a:t>
            </a:r>
            <a:endParaRPr lang="en-US" sz="3600" dirty="0"/>
          </a:p>
        </p:txBody>
      </p:sp>
      <p:sp>
        <p:nvSpPr>
          <p:cNvPr id="5" name="Text 3"/>
          <p:cNvSpPr/>
          <p:nvPr/>
        </p:nvSpPr>
        <p:spPr>
          <a:xfrm>
            <a:off x="952500" y="2350368"/>
            <a:ext cx="962022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Model selection · 5-fold accuracy</a:t>
            </a:r>
            <a:endParaRPr lang="en-US" sz="1800" dirty="0"/>
          </a:p>
        </p:txBody>
      </p:sp>
      <p:sp>
        <p:nvSpPr>
          <p:cNvPr id="6" name="Text 4"/>
          <p:cNvSpPr/>
          <p:nvPr/>
        </p:nvSpPr>
        <p:spPr>
          <a:xfrm>
            <a:off x="952500" y="4167039"/>
            <a:ext cx="230505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Naive Bayes</a:t>
            </a:r>
            <a:endParaRPr lang="en-US" sz="1950" dirty="0"/>
          </a:p>
        </p:txBody>
      </p:sp>
      <p:sp>
        <p:nvSpPr>
          <p:cNvPr id="7" name="Shape 5"/>
          <p:cNvSpPr/>
          <p:nvPr/>
        </p:nvSpPr>
        <p:spPr>
          <a:xfrm>
            <a:off x="3219450" y="4128939"/>
            <a:ext cx="5392862" cy="361950"/>
          </a:xfrm>
          <a:prstGeom prst="roundRect">
            <a:avLst>
              <a:gd name="adj" fmla="val 15789"/>
            </a:avLst>
          </a:prstGeom>
          <a:solidFill>
            <a:srgbClr val="E6F5EF"/>
          </a:solidFill>
          <a:ln/>
        </p:spPr>
        <p:txBody>
          <a:bodyPr/>
          <a:lstStyle/>
          <a:p>
            <a:endParaRPr lang="en-GB"/>
          </a:p>
        </p:txBody>
      </p:sp>
      <p:sp>
        <p:nvSpPr>
          <p:cNvPr id="8" name="Shape 6"/>
          <p:cNvSpPr/>
          <p:nvPr/>
        </p:nvSpPr>
        <p:spPr>
          <a:xfrm>
            <a:off x="3219450" y="4128939"/>
            <a:ext cx="2157115" cy="361950"/>
          </a:xfrm>
          <a:prstGeom prst="rect">
            <a:avLst/>
          </a:prstGeom>
          <a:solidFill>
            <a:srgbClr val="A7C8BC"/>
          </a:solidFill>
          <a:ln/>
        </p:spPr>
        <p:txBody>
          <a:bodyPr/>
          <a:lstStyle/>
          <a:p>
            <a:endParaRPr lang="en-GB"/>
          </a:p>
        </p:txBody>
      </p:sp>
      <p:sp>
        <p:nvSpPr>
          <p:cNvPr id="9" name="Text 7"/>
          <p:cNvSpPr/>
          <p:nvPr/>
        </p:nvSpPr>
        <p:spPr>
          <a:xfrm>
            <a:off x="8707562" y="4174182"/>
            <a:ext cx="990600" cy="309563"/>
          </a:xfrm>
          <a:prstGeom prst="rect">
            <a:avLst/>
          </a:prstGeom>
          <a:noFill/>
          <a:ln/>
        </p:spPr>
        <p:txBody>
          <a:bodyPr wrap="square" lIns="25400" tIns="25400" rIns="25400" bIns="25400" rtlCol="0" anchor="t">
            <a:normAutofit fontScale="92500"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0.760</a:t>
            </a:r>
            <a:endParaRPr lang="en-US" sz="1875" dirty="0"/>
          </a:p>
        </p:txBody>
      </p:sp>
      <p:sp>
        <p:nvSpPr>
          <p:cNvPr id="10" name="Text 8"/>
          <p:cNvSpPr/>
          <p:nvPr/>
        </p:nvSpPr>
        <p:spPr>
          <a:xfrm>
            <a:off x="952500" y="4700439"/>
            <a:ext cx="230505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LDA</a:t>
            </a:r>
            <a:endParaRPr lang="en-US" sz="1950" dirty="0"/>
          </a:p>
        </p:txBody>
      </p:sp>
      <p:sp>
        <p:nvSpPr>
          <p:cNvPr id="11" name="Shape 9"/>
          <p:cNvSpPr/>
          <p:nvPr/>
        </p:nvSpPr>
        <p:spPr>
          <a:xfrm>
            <a:off x="3219450" y="4662339"/>
            <a:ext cx="5392862" cy="361950"/>
          </a:xfrm>
          <a:prstGeom prst="roundRect">
            <a:avLst>
              <a:gd name="adj" fmla="val 15789"/>
            </a:avLst>
          </a:prstGeom>
          <a:solidFill>
            <a:srgbClr val="E6F5EF"/>
          </a:solidFill>
          <a:ln/>
        </p:spPr>
        <p:txBody>
          <a:bodyPr/>
          <a:lstStyle/>
          <a:p>
            <a:endParaRPr lang="en-GB"/>
          </a:p>
        </p:txBody>
      </p:sp>
      <p:sp>
        <p:nvSpPr>
          <p:cNvPr id="12" name="Shape 10"/>
          <p:cNvSpPr/>
          <p:nvPr/>
        </p:nvSpPr>
        <p:spPr>
          <a:xfrm>
            <a:off x="3219450" y="4662339"/>
            <a:ext cx="2750344" cy="361950"/>
          </a:xfrm>
          <a:prstGeom prst="rect">
            <a:avLst/>
          </a:prstGeom>
          <a:solidFill>
            <a:srgbClr val="A7C8BC"/>
          </a:solidFill>
          <a:ln/>
        </p:spPr>
        <p:txBody>
          <a:bodyPr/>
          <a:lstStyle/>
          <a:p>
            <a:endParaRPr lang="en-GB"/>
          </a:p>
        </p:txBody>
      </p:sp>
      <p:sp>
        <p:nvSpPr>
          <p:cNvPr id="13" name="Text 11"/>
          <p:cNvSpPr/>
          <p:nvPr/>
        </p:nvSpPr>
        <p:spPr>
          <a:xfrm>
            <a:off x="8707562" y="4707582"/>
            <a:ext cx="990600" cy="309563"/>
          </a:xfrm>
          <a:prstGeom prst="rect">
            <a:avLst/>
          </a:prstGeom>
          <a:noFill/>
          <a:ln/>
        </p:spPr>
        <p:txBody>
          <a:bodyPr wrap="square" lIns="25400" tIns="25400" rIns="25400" bIns="25400" rtlCol="0" anchor="t">
            <a:normAutofit fontScale="92500"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0.777</a:t>
            </a:r>
            <a:endParaRPr lang="en-US" sz="1875" dirty="0"/>
          </a:p>
        </p:txBody>
      </p:sp>
      <p:sp>
        <p:nvSpPr>
          <p:cNvPr id="14" name="Text 12"/>
          <p:cNvSpPr/>
          <p:nvPr/>
        </p:nvSpPr>
        <p:spPr>
          <a:xfrm>
            <a:off x="952500" y="5195739"/>
            <a:ext cx="2171700" cy="60960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Logistic Regression</a:t>
            </a:r>
            <a:endParaRPr lang="en-US" sz="1950" dirty="0"/>
          </a:p>
        </p:txBody>
      </p:sp>
      <p:sp>
        <p:nvSpPr>
          <p:cNvPr id="15" name="Shape 13"/>
          <p:cNvSpPr/>
          <p:nvPr/>
        </p:nvSpPr>
        <p:spPr>
          <a:xfrm>
            <a:off x="3219450" y="5300514"/>
            <a:ext cx="5392862" cy="361950"/>
          </a:xfrm>
          <a:prstGeom prst="roundRect">
            <a:avLst>
              <a:gd name="adj" fmla="val 15789"/>
            </a:avLst>
          </a:prstGeom>
          <a:solidFill>
            <a:srgbClr val="E6F5EF"/>
          </a:solidFill>
          <a:ln/>
        </p:spPr>
        <p:txBody>
          <a:bodyPr/>
          <a:lstStyle/>
          <a:p>
            <a:endParaRPr lang="en-GB"/>
          </a:p>
        </p:txBody>
      </p:sp>
      <p:sp>
        <p:nvSpPr>
          <p:cNvPr id="16" name="Shape 14"/>
          <p:cNvSpPr/>
          <p:nvPr/>
        </p:nvSpPr>
        <p:spPr>
          <a:xfrm>
            <a:off x="3219450" y="5300514"/>
            <a:ext cx="3019946" cy="361950"/>
          </a:xfrm>
          <a:prstGeom prst="rect">
            <a:avLst/>
          </a:prstGeom>
          <a:solidFill>
            <a:srgbClr val="A7C8BC"/>
          </a:solidFill>
          <a:ln/>
        </p:spPr>
        <p:txBody>
          <a:bodyPr/>
          <a:lstStyle/>
          <a:p>
            <a:endParaRPr lang="en-GB"/>
          </a:p>
        </p:txBody>
      </p:sp>
      <p:sp>
        <p:nvSpPr>
          <p:cNvPr id="17" name="Text 15"/>
          <p:cNvSpPr/>
          <p:nvPr/>
        </p:nvSpPr>
        <p:spPr>
          <a:xfrm>
            <a:off x="8707562" y="5345757"/>
            <a:ext cx="990600" cy="309563"/>
          </a:xfrm>
          <a:prstGeom prst="rect">
            <a:avLst/>
          </a:prstGeom>
          <a:noFill/>
          <a:ln/>
        </p:spPr>
        <p:txBody>
          <a:bodyPr wrap="square" lIns="25400" tIns="25400" rIns="25400" bIns="25400" rtlCol="0" anchor="t">
            <a:normAutofit fontScale="92500"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0.784</a:t>
            </a:r>
            <a:endParaRPr lang="en-US" sz="1875" dirty="0"/>
          </a:p>
        </p:txBody>
      </p:sp>
      <p:sp>
        <p:nvSpPr>
          <p:cNvPr id="18" name="Text 16"/>
          <p:cNvSpPr/>
          <p:nvPr/>
        </p:nvSpPr>
        <p:spPr>
          <a:xfrm>
            <a:off x="952500" y="5976789"/>
            <a:ext cx="2305050" cy="323850"/>
          </a:xfrm>
          <a:prstGeom prst="rect">
            <a:avLst/>
          </a:prstGeom>
          <a:noFill/>
          <a:ln/>
        </p:spPr>
        <p:txBody>
          <a:bodyPr wrap="square" lIns="25400" tIns="25400" rIns="25400" bIns="25400" rtlCol="0" anchor="t">
            <a:normAutofit lnSpcReduction="10000"/>
          </a:bodyPr>
          <a:lstStyle/>
          <a:p>
            <a:pPr marL="0" indent="0" algn="l">
              <a:buNone/>
            </a:pPr>
            <a:r>
              <a:rPr lang="en-US" sz="1950" dirty="0">
                <a:solidFill>
                  <a:srgbClr val="244236"/>
                </a:solidFill>
                <a:latin typeface="Arial" pitchFamily="34" charset="0"/>
                <a:ea typeface="Arial" pitchFamily="34" charset="-122"/>
                <a:cs typeface="Arial" pitchFamily="34" charset="-120"/>
              </a:rPr>
              <a:t>Random Forest</a:t>
            </a:r>
            <a:endParaRPr lang="en-US" sz="1950" dirty="0"/>
          </a:p>
        </p:txBody>
      </p:sp>
      <p:sp>
        <p:nvSpPr>
          <p:cNvPr id="19" name="Shape 17"/>
          <p:cNvSpPr/>
          <p:nvPr/>
        </p:nvSpPr>
        <p:spPr>
          <a:xfrm>
            <a:off x="3219450" y="5938689"/>
            <a:ext cx="5392862" cy="361950"/>
          </a:xfrm>
          <a:prstGeom prst="roundRect">
            <a:avLst>
              <a:gd name="adj" fmla="val 15789"/>
            </a:avLst>
          </a:prstGeom>
          <a:solidFill>
            <a:srgbClr val="E6F5EF"/>
          </a:solidFill>
          <a:ln/>
        </p:spPr>
        <p:txBody>
          <a:bodyPr/>
          <a:lstStyle/>
          <a:p>
            <a:endParaRPr lang="en-GB"/>
          </a:p>
        </p:txBody>
      </p:sp>
      <p:sp>
        <p:nvSpPr>
          <p:cNvPr id="20" name="Shape 18"/>
          <p:cNvSpPr/>
          <p:nvPr/>
        </p:nvSpPr>
        <p:spPr>
          <a:xfrm>
            <a:off x="3219450" y="5938689"/>
            <a:ext cx="4799633" cy="361950"/>
          </a:xfrm>
          <a:prstGeom prst="rect">
            <a:avLst/>
          </a:prstGeom>
          <a:solidFill>
            <a:srgbClr val="66B3A1"/>
          </a:solidFill>
          <a:ln/>
        </p:spPr>
        <p:txBody>
          <a:bodyPr/>
          <a:lstStyle/>
          <a:p>
            <a:endParaRPr lang="en-GB"/>
          </a:p>
        </p:txBody>
      </p:sp>
      <p:sp>
        <p:nvSpPr>
          <p:cNvPr id="21" name="Text 19"/>
          <p:cNvSpPr/>
          <p:nvPr/>
        </p:nvSpPr>
        <p:spPr>
          <a:xfrm>
            <a:off x="8707562" y="5983932"/>
            <a:ext cx="990600" cy="309563"/>
          </a:xfrm>
          <a:prstGeom prst="rect">
            <a:avLst/>
          </a:prstGeom>
          <a:noFill/>
          <a:ln/>
        </p:spPr>
        <p:txBody>
          <a:bodyPr wrap="square" lIns="25400" tIns="25400" rIns="25400" bIns="25400" rtlCol="0" anchor="t">
            <a:normAutofit fontScale="92500"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0.833</a:t>
            </a:r>
            <a:endParaRPr lang="en-US" sz="1875" dirty="0"/>
          </a:p>
        </p:txBody>
      </p:sp>
      <p:sp>
        <p:nvSpPr>
          <p:cNvPr id="22" name="Text 20"/>
          <p:cNvSpPr/>
          <p:nvPr/>
        </p:nvSpPr>
        <p:spPr>
          <a:xfrm>
            <a:off x="952500" y="6503045"/>
            <a:ext cx="2305050"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063D22"/>
                </a:solidFill>
                <a:latin typeface="Arial" pitchFamily="34" charset="0"/>
                <a:ea typeface="Arial" pitchFamily="34" charset="-122"/>
                <a:cs typeface="Arial" pitchFamily="34" charset="-120"/>
              </a:rPr>
              <a:t>LightGBM</a:t>
            </a:r>
            <a:endParaRPr lang="en-US" sz="1950" dirty="0"/>
          </a:p>
        </p:txBody>
      </p:sp>
      <p:sp>
        <p:nvSpPr>
          <p:cNvPr id="23" name="Shape 21"/>
          <p:cNvSpPr/>
          <p:nvPr/>
        </p:nvSpPr>
        <p:spPr>
          <a:xfrm>
            <a:off x="3219450" y="6472089"/>
            <a:ext cx="5392862" cy="361950"/>
          </a:xfrm>
          <a:prstGeom prst="roundRect">
            <a:avLst>
              <a:gd name="adj" fmla="val 15789"/>
            </a:avLst>
          </a:prstGeom>
          <a:solidFill>
            <a:srgbClr val="E6F5EF"/>
          </a:solidFill>
          <a:ln/>
        </p:spPr>
        <p:txBody>
          <a:bodyPr/>
          <a:lstStyle/>
          <a:p>
            <a:endParaRPr lang="en-GB"/>
          </a:p>
        </p:txBody>
      </p:sp>
      <p:sp>
        <p:nvSpPr>
          <p:cNvPr id="24" name="Shape 22"/>
          <p:cNvSpPr/>
          <p:nvPr/>
        </p:nvSpPr>
        <p:spPr>
          <a:xfrm>
            <a:off x="3219450" y="6472089"/>
            <a:ext cx="4907459" cy="361950"/>
          </a:xfrm>
          <a:prstGeom prst="rect">
            <a:avLst/>
          </a:prstGeom>
          <a:solidFill>
            <a:srgbClr val="1A7A57"/>
          </a:solidFill>
          <a:ln/>
        </p:spPr>
        <p:txBody>
          <a:bodyPr/>
          <a:lstStyle/>
          <a:p>
            <a:endParaRPr lang="en-GB"/>
          </a:p>
        </p:txBody>
      </p:sp>
      <p:sp>
        <p:nvSpPr>
          <p:cNvPr id="25" name="Text 23"/>
          <p:cNvSpPr/>
          <p:nvPr/>
        </p:nvSpPr>
        <p:spPr>
          <a:xfrm>
            <a:off x="8707562" y="6498282"/>
            <a:ext cx="990600" cy="347663"/>
          </a:xfrm>
          <a:prstGeom prst="rect">
            <a:avLst/>
          </a:prstGeom>
          <a:noFill/>
          <a:ln/>
        </p:spPr>
        <p:txBody>
          <a:bodyPr wrap="square" lIns="25400" tIns="25400" rIns="25400" bIns="25400" rtlCol="0" anchor="t">
            <a:normAutofit/>
          </a:bodyPr>
          <a:lstStyle/>
          <a:p>
            <a:pPr marL="0" indent="0" algn="r">
              <a:buNone/>
            </a:pPr>
            <a:r>
              <a:rPr lang="en-US" sz="1875" b="1" dirty="0">
                <a:solidFill>
                  <a:srgbClr val="063D22"/>
                </a:solidFill>
                <a:latin typeface="Courier New" pitchFamily="34" charset="0"/>
                <a:ea typeface="Courier New" pitchFamily="34" charset="-122"/>
                <a:cs typeface="Courier New" pitchFamily="34" charset="-120"/>
              </a:rPr>
              <a:t>0.836</a:t>
            </a:r>
            <a:endParaRPr lang="en-US" sz="1875" dirty="0"/>
          </a:p>
        </p:txBody>
      </p:sp>
      <p:sp>
        <p:nvSpPr>
          <p:cNvPr id="26" name="Text 24"/>
          <p:cNvSpPr/>
          <p:nvPr/>
        </p:nvSpPr>
        <p:spPr>
          <a:xfrm>
            <a:off x="952500" y="8279309"/>
            <a:ext cx="9008031" cy="99804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Courier New" pitchFamily="34" charset="0"/>
                <a:ea typeface="Courier New" pitchFamily="34" charset="-122"/>
                <a:cs typeface="Courier New" pitchFamily="34" charset="-120"/>
              </a:rPr>
              <a:t>Bars scaled from 0.70 · final label uses a </a:t>
            </a:r>
            <a:r>
              <a:rPr lang="en-US" sz="1800" dirty="0">
                <a:solidFill>
                  <a:srgbClr val="063D22"/>
                </a:solidFill>
                <a:latin typeface="Courier New" pitchFamily="34" charset="0"/>
                <a:ea typeface="Courier New" pitchFamily="34" charset="-122"/>
                <a:cs typeface="Courier New" pitchFamily="34" charset="-120"/>
              </a:rPr>
              <a:t>smooth threshold </a:t>
            </a:r>
            <a:r>
              <a:rPr lang="en-US" sz="1800" dirty="0">
                <a:solidFill>
                  <a:srgbClr val="5C7268"/>
                </a:solidFill>
                <a:latin typeface="Courier New" pitchFamily="34" charset="0"/>
                <a:ea typeface="Courier New" pitchFamily="34" charset="-122"/>
                <a:cs typeface="Courier New" pitchFamily="34" charset="-120"/>
              </a:rPr>
              <a:t>= average of the top-1% of candidate cutoffs (more robust than a single argmax cutoff).</a:t>
            </a:r>
            <a:endParaRPr lang="en-US" sz="1800" dirty="0"/>
          </a:p>
        </p:txBody>
      </p:sp>
      <p:sp>
        <p:nvSpPr>
          <p:cNvPr id="27" name="Shape 25"/>
          <p:cNvSpPr/>
          <p:nvPr/>
        </p:nvSpPr>
        <p:spPr>
          <a:xfrm>
            <a:off x="10307762" y="2350368"/>
            <a:ext cx="7027738" cy="3468886"/>
          </a:xfrm>
          <a:prstGeom prst="roundRect">
            <a:avLst>
              <a:gd name="adj" fmla="val 3295"/>
            </a:avLst>
          </a:prstGeom>
          <a:solidFill>
            <a:srgbClr val="E6F5EF"/>
          </a:solidFill>
          <a:ln/>
        </p:spPr>
        <p:txBody>
          <a:bodyPr/>
          <a:lstStyle/>
          <a:p>
            <a:endParaRPr lang="en-GB"/>
          </a:p>
        </p:txBody>
      </p:sp>
      <p:sp>
        <p:nvSpPr>
          <p:cNvPr id="28" name="Text 26"/>
          <p:cNvSpPr/>
          <p:nvPr/>
        </p:nvSpPr>
        <p:spPr>
          <a:xfrm>
            <a:off x="10593512" y="2617068"/>
            <a:ext cx="7101862" cy="361950"/>
          </a:xfrm>
          <a:prstGeom prst="rect">
            <a:avLst/>
          </a:prstGeom>
          <a:noFill/>
          <a:ln/>
        </p:spPr>
        <p:txBody>
          <a:bodyPr wrap="square" lIns="25400" tIns="25400" rIns="25400" bIns="25400" rtlCol="0" anchor="t">
            <a:normAutofit lnSpcReduction="10000"/>
          </a:bodyPr>
          <a:lstStyle/>
          <a:p>
            <a:pPr marL="0" indent="0" algn="l">
              <a:buNone/>
            </a:pPr>
            <a:r>
              <a:rPr lang="en-US" sz="2100" b="1" dirty="0">
                <a:solidFill>
                  <a:srgbClr val="063D22"/>
                </a:solidFill>
                <a:latin typeface="Arial" pitchFamily="34" charset="0"/>
                <a:ea typeface="Arial" pitchFamily="34" charset="-122"/>
                <a:cs typeface="Arial" pitchFamily="34" charset="-120"/>
              </a:rPr>
              <a:t>Adversarial validation</a:t>
            </a:r>
            <a:endParaRPr lang="en-US" sz="2100" dirty="0"/>
          </a:p>
        </p:txBody>
      </p:sp>
      <p:sp>
        <p:nvSpPr>
          <p:cNvPr id="29" name="Shape 27"/>
          <p:cNvSpPr/>
          <p:nvPr/>
        </p:nvSpPr>
        <p:spPr>
          <a:xfrm>
            <a:off x="10593512" y="3093318"/>
            <a:ext cx="3142357" cy="981075"/>
          </a:xfrm>
          <a:prstGeom prst="roundRect">
            <a:avLst>
              <a:gd name="adj" fmla="val 7767"/>
            </a:avLst>
          </a:prstGeom>
          <a:solidFill>
            <a:srgbClr val="FFFFFF"/>
          </a:solidFill>
          <a:ln w="9525">
            <a:solidFill>
              <a:srgbClr val="D2E6DD"/>
            </a:solidFill>
            <a:prstDash val="solid"/>
          </a:ln>
        </p:spPr>
        <p:txBody>
          <a:bodyPr/>
          <a:lstStyle/>
          <a:p>
            <a:endParaRPr lang="en-GB"/>
          </a:p>
        </p:txBody>
      </p:sp>
      <p:sp>
        <p:nvSpPr>
          <p:cNvPr id="30" name="Text 28"/>
          <p:cNvSpPr/>
          <p:nvPr/>
        </p:nvSpPr>
        <p:spPr>
          <a:xfrm>
            <a:off x="10755437" y="3236193"/>
            <a:ext cx="3100358"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ALL FEATURES</a:t>
            </a:r>
            <a:endParaRPr lang="en-US" sz="1800" dirty="0"/>
          </a:p>
        </p:txBody>
      </p:sp>
      <p:sp>
        <p:nvSpPr>
          <p:cNvPr id="31" name="Text 29"/>
          <p:cNvSpPr/>
          <p:nvPr/>
        </p:nvSpPr>
        <p:spPr>
          <a:xfrm>
            <a:off x="10755437" y="3550518"/>
            <a:ext cx="3100358" cy="419100"/>
          </a:xfrm>
          <a:prstGeom prst="rect">
            <a:avLst/>
          </a:prstGeom>
          <a:noFill/>
          <a:ln/>
        </p:spPr>
        <p:txBody>
          <a:bodyPr wrap="square" lIns="25400" tIns="25400" rIns="25400" bIns="25400" rtlCol="0" anchor="t">
            <a:normAutofit lnSpcReduction="10000"/>
          </a:bodyPr>
          <a:lstStyle/>
          <a:p>
            <a:pPr marL="0" indent="0" algn="l">
              <a:buNone/>
            </a:pPr>
            <a:r>
              <a:rPr lang="en-US" sz="2475" b="1" dirty="0">
                <a:solidFill>
                  <a:srgbClr val="B3573F"/>
                </a:solidFill>
                <a:latin typeface="Arial" pitchFamily="34" charset="0"/>
                <a:ea typeface="Arial" pitchFamily="34" charset="-122"/>
                <a:cs typeface="Arial" pitchFamily="34" charset="-120"/>
              </a:rPr>
              <a:t>AUC 1.000</a:t>
            </a:r>
            <a:endParaRPr lang="en-US" sz="2475" dirty="0"/>
          </a:p>
        </p:txBody>
      </p:sp>
      <p:sp>
        <p:nvSpPr>
          <p:cNvPr id="32" name="Shape 30"/>
          <p:cNvSpPr/>
          <p:nvPr/>
        </p:nvSpPr>
        <p:spPr>
          <a:xfrm>
            <a:off x="13907319" y="3093318"/>
            <a:ext cx="3142431" cy="981075"/>
          </a:xfrm>
          <a:prstGeom prst="roundRect">
            <a:avLst>
              <a:gd name="adj" fmla="val 7767"/>
            </a:avLst>
          </a:prstGeom>
          <a:solidFill>
            <a:srgbClr val="FFFFFF"/>
          </a:solidFill>
          <a:ln w="9525">
            <a:solidFill>
              <a:srgbClr val="D2E6DD"/>
            </a:solidFill>
            <a:prstDash val="solid"/>
          </a:ln>
        </p:spPr>
        <p:txBody>
          <a:bodyPr/>
          <a:lstStyle/>
          <a:p>
            <a:endParaRPr lang="en-GB"/>
          </a:p>
        </p:txBody>
      </p:sp>
      <p:sp>
        <p:nvSpPr>
          <p:cNvPr id="33" name="Text 31"/>
          <p:cNvSpPr/>
          <p:nvPr/>
        </p:nvSpPr>
        <p:spPr>
          <a:xfrm>
            <a:off x="14069244" y="3236193"/>
            <a:ext cx="310044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WITHOUT DATE</a:t>
            </a:r>
            <a:endParaRPr lang="en-US" sz="1800" dirty="0"/>
          </a:p>
        </p:txBody>
      </p:sp>
      <p:sp>
        <p:nvSpPr>
          <p:cNvPr id="34" name="Text 32"/>
          <p:cNvSpPr/>
          <p:nvPr/>
        </p:nvSpPr>
        <p:spPr>
          <a:xfrm>
            <a:off x="14069244" y="3550518"/>
            <a:ext cx="3100440" cy="419100"/>
          </a:xfrm>
          <a:prstGeom prst="rect">
            <a:avLst/>
          </a:prstGeom>
          <a:noFill/>
          <a:ln/>
        </p:spPr>
        <p:txBody>
          <a:bodyPr wrap="square" lIns="25400" tIns="25400" rIns="25400" bIns="25400" rtlCol="0" anchor="t">
            <a:normAutofit lnSpcReduction="10000"/>
          </a:bodyPr>
          <a:lstStyle/>
          <a:p>
            <a:pPr marL="0" indent="0" algn="l">
              <a:buNone/>
            </a:pPr>
            <a:r>
              <a:rPr lang="en-US" sz="2475" b="1" dirty="0">
                <a:solidFill>
                  <a:srgbClr val="1A7A57"/>
                </a:solidFill>
                <a:latin typeface="Arial" pitchFamily="34" charset="0"/>
                <a:ea typeface="Arial" pitchFamily="34" charset="-122"/>
                <a:cs typeface="Arial" pitchFamily="34" charset="-120"/>
              </a:rPr>
              <a:t>AUC 0.497</a:t>
            </a:r>
            <a:endParaRPr lang="en-US" sz="2475" dirty="0"/>
          </a:p>
        </p:txBody>
      </p:sp>
      <p:sp>
        <p:nvSpPr>
          <p:cNvPr id="35" name="Text 33"/>
          <p:cNvSpPr/>
          <p:nvPr/>
        </p:nvSpPr>
        <p:spPr>
          <a:xfrm>
            <a:off x="10593512" y="4226793"/>
            <a:ext cx="6649926" cy="1363861"/>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800" dirty="0">
                <a:solidFill>
                  <a:srgbClr val="244236"/>
                </a:solidFill>
                <a:latin typeface="Arial" pitchFamily="34" charset="0"/>
                <a:ea typeface="Arial" pitchFamily="34" charset="-122"/>
                <a:cs typeface="Arial" pitchFamily="34" charset="-120"/>
              </a:rPr>
              <a:t>A classifier separates train from test perfectly — but only via the </a:t>
            </a:r>
            <a:r>
              <a:rPr lang="en-US" sz="1800" b="1" dirty="0">
                <a:solidFill>
                  <a:srgbClr val="063D22"/>
                </a:solidFill>
                <a:latin typeface="Arial" pitchFamily="34" charset="0"/>
                <a:ea typeface="Arial" pitchFamily="34" charset="-122"/>
                <a:cs typeface="Arial" pitchFamily="34" charset="-120"/>
              </a:rPr>
              <a:t>date </a:t>
            </a:r>
            <a:r>
              <a:rPr lang="en-US" sz="1800" dirty="0">
                <a:solidFill>
                  <a:srgbClr val="244236"/>
                </a:solidFill>
                <a:latin typeface="Arial" pitchFamily="34" charset="0"/>
                <a:ea typeface="Arial" pitchFamily="34" charset="-122"/>
                <a:cs typeface="Arial" pitchFamily="34" charset="-120"/>
              </a:rPr>
              <a:t>(test is all May 2026). Drop the date features and it’s no better than chance, so the sets are </a:t>
            </a:r>
            <a:r>
              <a:rPr lang="en-US" sz="1800" b="1" dirty="0">
                <a:solidFill>
                  <a:srgbClr val="063D22"/>
                </a:solidFill>
                <a:latin typeface="Arial" pitchFamily="34" charset="0"/>
                <a:ea typeface="Arial" pitchFamily="34" charset="-122"/>
                <a:cs typeface="Arial" pitchFamily="34" charset="-120"/>
              </a:rPr>
              <a:t>identically distributed apart from time </a:t>
            </a:r>
            <a:r>
              <a:rPr lang="en-US" sz="1800" dirty="0">
                <a:solidFill>
                  <a:srgbClr val="244236"/>
                </a:solidFill>
                <a:latin typeface="Arial" pitchFamily="34" charset="0"/>
                <a:ea typeface="Arial" pitchFamily="34" charset="-122"/>
                <a:cs typeface="Arial" pitchFamily="34" charset="-120"/>
              </a:rPr>
              <a:t>.</a:t>
            </a:r>
            <a:endParaRPr lang="en-US" sz="1800" dirty="0"/>
          </a:p>
        </p:txBody>
      </p:sp>
      <p:sp>
        <p:nvSpPr>
          <p:cNvPr id="36" name="Shape 34"/>
          <p:cNvSpPr/>
          <p:nvPr/>
        </p:nvSpPr>
        <p:spPr>
          <a:xfrm>
            <a:off x="10307762" y="6028804"/>
            <a:ext cx="7027738" cy="3210446"/>
          </a:xfrm>
          <a:prstGeom prst="roundRect">
            <a:avLst>
              <a:gd name="adj" fmla="val 3560"/>
            </a:avLst>
          </a:prstGeom>
          <a:solidFill>
            <a:srgbClr val="E6F5EF"/>
          </a:solidFill>
          <a:ln/>
        </p:spPr>
        <p:txBody>
          <a:bodyPr/>
          <a:lstStyle/>
          <a:p>
            <a:endParaRPr lang="en-GB"/>
          </a:p>
        </p:txBody>
      </p:sp>
      <p:sp>
        <p:nvSpPr>
          <p:cNvPr id="37" name="Text 35"/>
          <p:cNvSpPr/>
          <p:nvPr/>
        </p:nvSpPr>
        <p:spPr>
          <a:xfrm>
            <a:off x="10574462" y="6257404"/>
            <a:ext cx="7143772"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063D22"/>
                </a:solidFill>
                <a:latin typeface="Arial" pitchFamily="34" charset="0"/>
                <a:ea typeface="Arial" pitchFamily="34" charset="-122"/>
                <a:cs typeface="Arial" pitchFamily="34" charset="-120"/>
              </a:rPr>
              <a:t>What drives the model</a:t>
            </a:r>
            <a:endParaRPr lang="en-US" sz="1950" dirty="0"/>
          </a:p>
        </p:txBody>
      </p:sp>
      <p:sp>
        <p:nvSpPr>
          <p:cNvPr id="38" name="Text 36"/>
          <p:cNvSpPr/>
          <p:nvPr/>
        </p:nvSpPr>
        <p:spPr>
          <a:xfrm>
            <a:off x="10574462" y="6595542"/>
            <a:ext cx="7143772" cy="335235"/>
          </a:xfrm>
          <a:prstGeom prst="rect">
            <a:avLst/>
          </a:prstGeom>
          <a:noFill/>
          <a:ln/>
        </p:spPr>
        <p:txBody>
          <a:bodyPr wrap="square" lIns="25400" tIns="25400" rIns="25400" bIns="25400" rtlCol="0" anchor="t">
            <a:normAutofit fontScale="92500" lnSpcReduction="20000"/>
          </a:bodyPr>
          <a:lstStyle/>
          <a:p>
            <a:pPr marL="0" indent="0" algn="l">
              <a:lnSpc>
                <a:spcPct val="130000"/>
              </a:lnSpc>
              <a:buNone/>
            </a:pPr>
            <a:r>
              <a:rPr lang="en-US" sz="1800" dirty="0">
                <a:solidFill>
                  <a:srgbClr val="5C7268"/>
                </a:solidFill>
                <a:latin typeface="Arial" pitchFamily="34" charset="0"/>
                <a:ea typeface="Arial" pitchFamily="34" charset="-122"/>
                <a:cs typeface="Arial" pitchFamily="34" charset="-120"/>
              </a:rPr>
              <a:t>Most important features, by gain.</a:t>
            </a:r>
            <a:endParaRPr lang="en-US" sz="1800" dirty="0"/>
          </a:p>
        </p:txBody>
      </p:sp>
      <p:sp>
        <p:nvSpPr>
          <p:cNvPr id="39" name="Shape 37"/>
          <p:cNvSpPr/>
          <p:nvPr/>
        </p:nvSpPr>
        <p:spPr>
          <a:xfrm>
            <a:off x="952500" y="9239250"/>
            <a:ext cx="16383000" cy="9525"/>
          </a:xfrm>
          <a:prstGeom prst="rect">
            <a:avLst/>
          </a:prstGeom>
          <a:solidFill>
            <a:srgbClr val="D2E6DD"/>
          </a:solidFill>
          <a:ln/>
        </p:spPr>
        <p:txBody>
          <a:bodyPr/>
          <a:lstStyle/>
          <a:p>
            <a:endParaRPr lang="en-GB"/>
          </a:p>
        </p:txBody>
      </p:sp>
      <p:sp>
        <p:nvSpPr>
          <p:cNvPr id="40" name="Text 38"/>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validation · rolling next-month testing</a:t>
            </a:r>
            <a:endParaRPr lang="en-US" sz="1800" dirty="0"/>
          </a:p>
        </p:txBody>
      </p:sp>
      <p:pic>
        <p:nvPicPr>
          <p:cNvPr id="41" name="Picture 40" descr="deck_importance.png"/>
          <p:cNvPicPr>
            <a:picLocks noChangeAspect="1"/>
          </p:cNvPicPr>
          <p:nvPr/>
        </p:nvPicPr>
        <p:blipFill>
          <a:blip r:embed="rId3"/>
          <a:stretch>
            <a:fillRect/>
          </a:stretch>
        </p:blipFill>
        <p:spPr>
          <a:xfrm>
            <a:off x="10515600" y="6967728"/>
            <a:ext cx="6583680" cy="2139696"/>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10 · RESULTS</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Our own validation predicted the result in advance</a:t>
            </a:r>
            <a:endParaRPr lang="en-US" sz="3600" dirty="0"/>
          </a:p>
        </p:txBody>
      </p:sp>
      <p:sp>
        <p:nvSpPr>
          <p:cNvPr id="5" name="Text 3"/>
          <p:cNvSpPr/>
          <p:nvPr/>
        </p:nvSpPr>
        <p:spPr>
          <a:xfrm>
            <a:off x="952500" y="3717429"/>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75" dirty="0">
                <a:solidFill>
                  <a:srgbClr val="007A33"/>
                </a:solidFill>
                <a:latin typeface="Courier New" pitchFamily="34" charset="0"/>
                <a:ea typeface="Courier New" pitchFamily="34" charset="-122"/>
                <a:cs typeface="Courier New" pitchFamily="34" charset="-120"/>
              </a:rPr>
              <a:t>FINAL SUBMISSIONS SELECTED — v6 + v10</a:t>
            </a:r>
            <a:endParaRPr lang="en-US" sz="1800" dirty="0"/>
          </a:p>
        </p:txBody>
      </p:sp>
      <p:sp>
        <p:nvSpPr>
          <p:cNvPr id="6" name="Shape 4"/>
          <p:cNvSpPr/>
          <p:nvPr/>
        </p:nvSpPr>
        <p:spPr>
          <a:xfrm>
            <a:off x="952500" y="4593729"/>
            <a:ext cx="704627" cy="19050"/>
          </a:xfrm>
          <a:prstGeom prst="rect">
            <a:avLst/>
          </a:prstGeom>
          <a:solidFill>
            <a:srgbClr val="1A7A57"/>
          </a:solidFill>
          <a:ln/>
        </p:spPr>
        <p:txBody>
          <a:bodyPr/>
          <a:lstStyle/>
          <a:p>
            <a:endParaRPr/>
          </a:p>
        </p:txBody>
      </p:sp>
      <p:sp>
        <p:nvSpPr>
          <p:cNvPr id="7" name="Text 5"/>
          <p:cNvSpPr/>
          <p:nvPr/>
        </p:nvSpPr>
        <p:spPr>
          <a:xfrm>
            <a:off x="1066800" y="4222254"/>
            <a:ext cx="552227"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Ver</a:t>
            </a:r>
            <a:endParaRPr lang="en-US" sz="1875" dirty="0"/>
          </a:p>
        </p:txBody>
      </p:sp>
      <p:sp>
        <p:nvSpPr>
          <p:cNvPr id="8" name="Shape 6"/>
          <p:cNvSpPr/>
          <p:nvPr/>
        </p:nvSpPr>
        <p:spPr>
          <a:xfrm>
            <a:off x="1657127" y="4593729"/>
            <a:ext cx="5770736" cy="19050"/>
          </a:xfrm>
          <a:prstGeom prst="rect">
            <a:avLst/>
          </a:prstGeom>
          <a:solidFill>
            <a:srgbClr val="1A7A57"/>
          </a:solidFill>
          <a:ln/>
        </p:spPr>
        <p:txBody>
          <a:bodyPr/>
          <a:lstStyle/>
          <a:p>
            <a:endParaRPr/>
          </a:p>
        </p:txBody>
      </p:sp>
      <p:sp>
        <p:nvSpPr>
          <p:cNvPr id="9" name="Text 7"/>
          <p:cNvSpPr/>
          <p:nvPr/>
        </p:nvSpPr>
        <p:spPr>
          <a:xfrm>
            <a:off x="1771427" y="4222254"/>
            <a:ext cx="5715258" cy="314325"/>
          </a:xfrm>
          <a:prstGeom prst="rect">
            <a:avLst/>
          </a:prstGeom>
          <a:noFill/>
          <a:ln/>
        </p:spPr>
        <p:txBody>
          <a:bodyPr wrap="square" lIns="25400" tIns="25400" rIns="25400" bIns="25400" rtlCol="0" anchor="ctr">
            <a:normAutofit lnSpcReduction="10000"/>
          </a:bodyPr>
          <a:lstStyle/>
          <a:p>
            <a:pPr marL="0" indent="0" algn="l">
              <a:buNone/>
            </a:pPr>
            <a:r>
              <a:rPr lang="en-US" sz="1875" b="1" dirty="0">
                <a:solidFill>
                  <a:srgbClr val="063D22"/>
                </a:solidFill>
                <a:latin typeface="Arial" pitchFamily="34" charset="0"/>
                <a:ea typeface="Arial" pitchFamily="34" charset="-122"/>
                <a:cs typeface="Arial" pitchFamily="34" charset="-120"/>
              </a:rPr>
              <a:t>Approach</a:t>
            </a:r>
            <a:endParaRPr lang="en-US" sz="1875" dirty="0"/>
          </a:p>
        </p:txBody>
      </p:sp>
      <p:sp>
        <p:nvSpPr>
          <p:cNvPr id="10" name="Shape 8"/>
          <p:cNvSpPr/>
          <p:nvPr/>
        </p:nvSpPr>
        <p:spPr>
          <a:xfrm>
            <a:off x="7427863" y="4593729"/>
            <a:ext cx="1164357" cy="19050"/>
          </a:xfrm>
          <a:prstGeom prst="rect">
            <a:avLst/>
          </a:prstGeom>
          <a:solidFill>
            <a:srgbClr val="1A7A57"/>
          </a:solidFill>
          <a:ln/>
        </p:spPr>
        <p:txBody>
          <a:bodyPr/>
          <a:lstStyle/>
          <a:p>
            <a:endParaRPr/>
          </a:p>
        </p:txBody>
      </p:sp>
      <p:sp>
        <p:nvSpPr>
          <p:cNvPr id="11" name="Text 9"/>
          <p:cNvSpPr/>
          <p:nvPr/>
        </p:nvSpPr>
        <p:spPr>
          <a:xfrm>
            <a:off x="7465963" y="4222254"/>
            <a:ext cx="101195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OOF</a:t>
            </a:r>
            <a:endParaRPr lang="en-US" sz="1875" dirty="0"/>
          </a:p>
        </p:txBody>
      </p:sp>
      <p:sp>
        <p:nvSpPr>
          <p:cNvPr id="12" name="Shape 10"/>
          <p:cNvSpPr/>
          <p:nvPr/>
        </p:nvSpPr>
        <p:spPr>
          <a:xfrm>
            <a:off x="8592220" y="4593729"/>
            <a:ext cx="1394520" cy="19050"/>
          </a:xfrm>
          <a:prstGeom prst="rect">
            <a:avLst/>
          </a:prstGeom>
          <a:solidFill>
            <a:srgbClr val="1A7A57"/>
          </a:solidFill>
          <a:ln/>
        </p:spPr>
        <p:txBody>
          <a:bodyPr/>
          <a:lstStyle/>
          <a:p>
            <a:endParaRPr/>
          </a:p>
        </p:txBody>
      </p:sp>
      <p:sp>
        <p:nvSpPr>
          <p:cNvPr id="13" name="Text 11"/>
          <p:cNvSpPr/>
          <p:nvPr/>
        </p:nvSpPr>
        <p:spPr>
          <a:xfrm>
            <a:off x="8630320" y="4222254"/>
            <a:ext cx="1242120"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Public LB</a:t>
            </a:r>
            <a:endParaRPr lang="en-US" sz="1875" dirty="0"/>
          </a:p>
        </p:txBody>
      </p:sp>
      <p:sp>
        <p:nvSpPr>
          <p:cNvPr id="14" name="Shape 12"/>
          <p:cNvSpPr/>
          <p:nvPr/>
        </p:nvSpPr>
        <p:spPr>
          <a:xfrm>
            <a:off x="9986739" y="4593729"/>
            <a:ext cx="1011287" cy="19050"/>
          </a:xfrm>
          <a:prstGeom prst="rect">
            <a:avLst/>
          </a:prstGeom>
          <a:solidFill>
            <a:srgbClr val="1A7A57"/>
          </a:solidFill>
          <a:ln/>
        </p:spPr>
        <p:txBody>
          <a:bodyPr/>
          <a:lstStyle/>
          <a:p>
            <a:endParaRPr/>
          </a:p>
        </p:txBody>
      </p:sp>
      <p:sp>
        <p:nvSpPr>
          <p:cNvPr id="15" name="Text 13"/>
          <p:cNvSpPr/>
          <p:nvPr/>
        </p:nvSpPr>
        <p:spPr>
          <a:xfrm>
            <a:off x="10024839" y="4222254"/>
            <a:ext cx="858887" cy="314325"/>
          </a:xfrm>
          <a:prstGeom prst="rect">
            <a:avLst/>
          </a:prstGeom>
          <a:noFill/>
          <a:ln/>
        </p:spPr>
        <p:txBody>
          <a:bodyPr wrap="square" lIns="25400" tIns="25400" rIns="25400" bIns="25400" rtlCol="0" anchor="ctr">
            <a:normAutofit lnSpcReduction="10000"/>
          </a:bodyPr>
          <a:lstStyle/>
          <a:p>
            <a:pPr marL="0" indent="0" algn="r">
              <a:buNone/>
            </a:pPr>
            <a:r>
              <a:rPr lang="en-US" sz="1875" b="1" dirty="0">
                <a:solidFill>
                  <a:srgbClr val="063D22"/>
                </a:solidFill>
                <a:latin typeface="Arial" pitchFamily="34" charset="0"/>
                <a:ea typeface="Arial" pitchFamily="34" charset="-122"/>
                <a:cs typeface="Arial" pitchFamily="34" charset="-120"/>
              </a:rPr>
              <a:t>Appr.</a:t>
            </a:r>
            <a:endParaRPr lang="en-US" sz="1875" dirty="0"/>
          </a:p>
        </p:txBody>
      </p:sp>
      <p:sp>
        <p:nvSpPr>
          <p:cNvPr id="16" name="Shape 14"/>
          <p:cNvSpPr/>
          <p:nvPr/>
        </p:nvSpPr>
        <p:spPr>
          <a:xfrm>
            <a:off x="952500" y="5103316"/>
            <a:ext cx="704627" cy="9525"/>
          </a:xfrm>
          <a:prstGeom prst="rect">
            <a:avLst/>
          </a:prstGeom>
          <a:solidFill>
            <a:srgbClr val="D2E6DD"/>
          </a:solidFill>
          <a:ln/>
        </p:spPr>
        <p:txBody>
          <a:bodyPr/>
          <a:lstStyle/>
          <a:p>
            <a:endParaRPr/>
          </a:p>
        </p:txBody>
      </p:sp>
      <p:sp>
        <p:nvSpPr>
          <p:cNvPr id="17" name="Text 15"/>
          <p:cNvSpPr/>
          <p:nvPr/>
        </p:nvSpPr>
        <p:spPr>
          <a:xfrm>
            <a:off x="1066800" y="4717554"/>
            <a:ext cx="552227"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Courier New" pitchFamily="34" charset="0"/>
                <a:ea typeface="Courier New" pitchFamily="34" charset="-122"/>
                <a:cs typeface="Courier New" pitchFamily="34" charset="-120"/>
              </a:rPr>
              <a:t>v1</a:t>
            </a:r>
            <a:endParaRPr lang="en-US" sz="1875" dirty="0"/>
          </a:p>
        </p:txBody>
      </p:sp>
      <p:sp>
        <p:nvSpPr>
          <p:cNvPr id="18" name="Shape 16"/>
          <p:cNvSpPr/>
          <p:nvPr/>
        </p:nvSpPr>
        <p:spPr>
          <a:xfrm>
            <a:off x="1657127" y="5103316"/>
            <a:ext cx="5770736" cy="9525"/>
          </a:xfrm>
          <a:prstGeom prst="rect">
            <a:avLst/>
          </a:prstGeom>
          <a:solidFill>
            <a:srgbClr val="D2E6DD"/>
          </a:solidFill>
          <a:ln/>
        </p:spPr>
        <p:txBody>
          <a:bodyPr/>
          <a:lstStyle/>
          <a:p>
            <a:endParaRPr/>
          </a:p>
        </p:txBody>
      </p:sp>
      <p:sp>
        <p:nvSpPr>
          <p:cNvPr id="19" name="Text 17"/>
          <p:cNvSpPr/>
          <p:nvPr/>
        </p:nvSpPr>
        <p:spPr>
          <a:xfrm>
            <a:off x="1771427" y="4717554"/>
            <a:ext cx="5715258" cy="319088"/>
          </a:xfrm>
          <a:prstGeom prst="rect">
            <a:avLst/>
          </a:prstGeom>
          <a:noFill/>
          <a:ln/>
        </p:spPr>
        <p:txBody>
          <a:bodyPr wrap="square" lIns="25400" tIns="25400" rIns="25400" bIns="25400" rtlCol="0" anchor="ctr">
            <a:normAutofit lnSpcReduction="10000"/>
          </a:bodyPr>
          <a:lstStyle/>
          <a:p>
            <a:pPr marL="0" indent="0" algn="l">
              <a:buNone/>
            </a:pPr>
            <a:r>
              <a:rPr lang="en-US" sz="1875" dirty="0">
                <a:solidFill>
                  <a:srgbClr val="244236"/>
                </a:solidFill>
                <a:latin typeface="Arial" pitchFamily="34" charset="0"/>
                <a:ea typeface="Arial" pitchFamily="34" charset="-122"/>
                <a:cs typeface="Arial" pitchFamily="34" charset="-120"/>
              </a:rPr>
              <a:t>Single LightGBM</a:t>
            </a:r>
            <a:endParaRPr lang="en-US" sz="1875" dirty="0"/>
          </a:p>
        </p:txBody>
      </p:sp>
      <p:sp>
        <p:nvSpPr>
          <p:cNvPr id="20" name="Shape 18"/>
          <p:cNvSpPr/>
          <p:nvPr/>
        </p:nvSpPr>
        <p:spPr>
          <a:xfrm>
            <a:off x="7427863" y="5103316"/>
            <a:ext cx="1164357" cy="9525"/>
          </a:xfrm>
          <a:prstGeom prst="rect">
            <a:avLst/>
          </a:prstGeom>
          <a:solidFill>
            <a:srgbClr val="D2E6DD"/>
          </a:solidFill>
          <a:ln/>
        </p:spPr>
        <p:txBody>
          <a:bodyPr/>
          <a:lstStyle/>
          <a:p>
            <a:endParaRPr/>
          </a:p>
        </p:txBody>
      </p:sp>
      <p:sp>
        <p:nvSpPr>
          <p:cNvPr id="21" name="Text 19"/>
          <p:cNvSpPr/>
          <p:nvPr/>
        </p:nvSpPr>
        <p:spPr>
          <a:xfrm>
            <a:off x="7465963" y="4717554"/>
            <a:ext cx="101195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0.8525</a:t>
            </a:r>
            <a:endParaRPr lang="en-US" sz="1875" dirty="0"/>
          </a:p>
        </p:txBody>
      </p:sp>
      <p:sp>
        <p:nvSpPr>
          <p:cNvPr id="22" name="Shape 20"/>
          <p:cNvSpPr/>
          <p:nvPr/>
        </p:nvSpPr>
        <p:spPr>
          <a:xfrm>
            <a:off x="8592220" y="5103316"/>
            <a:ext cx="1394520" cy="9525"/>
          </a:xfrm>
          <a:prstGeom prst="rect">
            <a:avLst/>
          </a:prstGeom>
          <a:solidFill>
            <a:srgbClr val="D2E6DD"/>
          </a:solidFill>
          <a:ln/>
        </p:spPr>
        <p:txBody>
          <a:bodyPr/>
          <a:lstStyle/>
          <a:p>
            <a:endParaRPr/>
          </a:p>
        </p:txBody>
      </p:sp>
      <p:sp>
        <p:nvSpPr>
          <p:cNvPr id="23" name="Text 21"/>
          <p:cNvSpPr/>
          <p:nvPr/>
        </p:nvSpPr>
        <p:spPr>
          <a:xfrm>
            <a:off x="8630320" y="4717554"/>
            <a:ext cx="1242120"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244236"/>
                </a:solidFill>
                <a:latin typeface="Courier New" pitchFamily="34" charset="0"/>
                <a:ea typeface="Courier New" pitchFamily="34" charset="-122"/>
                <a:cs typeface="Courier New" pitchFamily="34" charset="-120"/>
              </a:rPr>
              <a:t>0.8515</a:t>
            </a:r>
            <a:endParaRPr lang="en-US" sz="1875" dirty="0"/>
          </a:p>
        </p:txBody>
      </p:sp>
      <p:sp>
        <p:nvSpPr>
          <p:cNvPr id="24" name="Shape 22"/>
          <p:cNvSpPr/>
          <p:nvPr/>
        </p:nvSpPr>
        <p:spPr>
          <a:xfrm>
            <a:off x="9986739" y="5103316"/>
            <a:ext cx="1011287" cy="9525"/>
          </a:xfrm>
          <a:prstGeom prst="rect">
            <a:avLst/>
          </a:prstGeom>
          <a:solidFill>
            <a:srgbClr val="D2E6DD"/>
          </a:solidFill>
          <a:ln/>
        </p:spPr>
        <p:txBody>
          <a:bodyPr/>
          <a:lstStyle/>
          <a:p>
            <a:endParaRPr/>
          </a:p>
        </p:txBody>
      </p:sp>
      <p:sp>
        <p:nvSpPr>
          <p:cNvPr id="25" name="Text 23"/>
          <p:cNvSpPr/>
          <p:nvPr/>
        </p:nvSpPr>
        <p:spPr>
          <a:xfrm>
            <a:off x="10024839" y="4717554"/>
            <a:ext cx="858887" cy="319088"/>
          </a:xfrm>
          <a:prstGeom prst="rect">
            <a:avLst/>
          </a:prstGeom>
          <a:noFill/>
          <a:ln/>
        </p:spPr>
        <p:txBody>
          <a:bodyPr wrap="square" lIns="25400" tIns="25400" rIns="25400" bIns="25400" rtlCol="0" anchor="ctr">
            <a:normAutofit lnSpcReduction="10000"/>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0.506</a:t>
            </a:r>
            <a:endParaRPr lang="en-US" sz="1875" dirty="0"/>
          </a:p>
        </p:txBody>
      </p:sp>
      <p:sp>
        <p:nvSpPr>
          <p:cNvPr id="26" name="Shape 24"/>
          <p:cNvSpPr/>
          <p:nvPr/>
        </p:nvSpPr>
        <p:spPr>
          <a:xfrm>
            <a:off x="952500" y="5112841"/>
            <a:ext cx="10045526" cy="528638"/>
          </a:xfrm>
          <a:prstGeom prst="rect">
            <a:avLst/>
          </a:prstGeom>
          <a:solidFill>
            <a:srgbClr val="E6F5EF"/>
          </a:solidFill>
          <a:ln/>
        </p:spPr>
        <p:txBody>
          <a:bodyPr/>
          <a:lstStyle/>
          <a:p>
            <a:endParaRPr/>
          </a:p>
        </p:txBody>
      </p:sp>
      <p:sp>
        <p:nvSpPr>
          <p:cNvPr id="27" name="Shape 25"/>
          <p:cNvSpPr/>
          <p:nvPr/>
        </p:nvSpPr>
        <p:spPr>
          <a:xfrm>
            <a:off x="952500" y="5631954"/>
            <a:ext cx="704627" cy="9525"/>
          </a:xfrm>
          <a:prstGeom prst="rect">
            <a:avLst/>
          </a:prstGeom>
          <a:solidFill>
            <a:srgbClr val="D2E6DD"/>
          </a:solidFill>
          <a:ln/>
        </p:spPr>
        <p:txBody>
          <a:bodyPr/>
          <a:lstStyle/>
          <a:p>
            <a:endParaRPr/>
          </a:p>
        </p:txBody>
      </p:sp>
      <p:sp>
        <p:nvSpPr>
          <p:cNvPr id="28" name="Text 26"/>
          <p:cNvSpPr/>
          <p:nvPr/>
        </p:nvSpPr>
        <p:spPr>
          <a:xfrm>
            <a:off x="1066800" y="5217616"/>
            <a:ext cx="552227"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v6</a:t>
            </a:r>
            <a:endParaRPr lang="en-US" sz="1875" dirty="0"/>
          </a:p>
        </p:txBody>
      </p:sp>
      <p:sp>
        <p:nvSpPr>
          <p:cNvPr id="29" name="Shape 27"/>
          <p:cNvSpPr/>
          <p:nvPr/>
        </p:nvSpPr>
        <p:spPr>
          <a:xfrm>
            <a:off x="1657127" y="5631954"/>
            <a:ext cx="5770736" cy="9525"/>
          </a:xfrm>
          <a:prstGeom prst="rect">
            <a:avLst/>
          </a:prstGeom>
          <a:solidFill>
            <a:srgbClr val="D2E6DD"/>
          </a:solidFill>
          <a:ln/>
        </p:spPr>
        <p:txBody>
          <a:bodyPr/>
          <a:lstStyle/>
          <a:p>
            <a:endParaRPr/>
          </a:p>
        </p:txBody>
      </p:sp>
      <p:sp>
        <p:nvSpPr>
          <p:cNvPr id="30" name="Text 28"/>
          <p:cNvSpPr/>
          <p:nvPr/>
        </p:nvSpPr>
        <p:spPr>
          <a:xfrm>
            <a:off x="1771427" y="5217616"/>
            <a:ext cx="5715258" cy="347663"/>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9× CatBoost blend</a:t>
            </a:r>
            <a:endParaRPr lang="en-US" sz="1875" dirty="0"/>
          </a:p>
        </p:txBody>
      </p:sp>
      <p:sp>
        <p:nvSpPr>
          <p:cNvPr id="31" name="Shape 29"/>
          <p:cNvSpPr/>
          <p:nvPr/>
        </p:nvSpPr>
        <p:spPr>
          <a:xfrm>
            <a:off x="7427863" y="5631954"/>
            <a:ext cx="1164357" cy="9525"/>
          </a:xfrm>
          <a:prstGeom prst="rect">
            <a:avLst/>
          </a:prstGeom>
          <a:solidFill>
            <a:srgbClr val="D2E6DD"/>
          </a:solidFill>
          <a:ln/>
        </p:spPr>
        <p:txBody>
          <a:bodyPr/>
          <a:lstStyle/>
          <a:p>
            <a:endParaRPr/>
          </a:p>
        </p:txBody>
      </p:sp>
      <p:sp>
        <p:nvSpPr>
          <p:cNvPr id="32" name="Text 30"/>
          <p:cNvSpPr/>
          <p:nvPr/>
        </p:nvSpPr>
        <p:spPr>
          <a:xfrm>
            <a:off x="7465963" y="5217616"/>
            <a:ext cx="1011957"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0.8615</a:t>
            </a:r>
            <a:endParaRPr lang="en-US" sz="1875" dirty="0"/>
          </a:p>
        </p:txBody>
      </p:sp>
      <p:sp>
        <p:nvSpPr>
          <p:cNvPr id="33" name="Shape 31"/>
          <p:cNvSpPr/>
          <p:nvPr/>
        </p:nvSpPr>
        <p:spPr>
          <a:xfrm>
            <a:off x="8592220" y="5631954"/>
            <a:ext cx="1394520" cy="9525"/>
          </a:xfrm>
          <a:prstGeom prst="rect">
            <a:avLst/>
          </a:prstGeom>
          <a:solidFill>
            <a:srgbClr val="D2E6DD"/>
          </a:solidFill>
          <a:ln/>
        </p:spPr>
        <p:txBody>
          <a:bodyPr/>
          <a:lstStyle/>
          <a:p>
            <a:endParaRPr/>
          </a:p>
        </p:txBody>
      </p:sp>
      <p:sp>
        <p:nvSpPr>
          <p:cNvPr id="34" name="Text 32"/>
          <p:cNvSpPr/>
          <p:nvPr/>
        </p:nvSpPr>
        <p:spPr>
          <a:xfrm>
            <a:off x="8630320" y="5217616"/>
            <a:ext cx="1242120" cy="347663"/>
          </a:xfrm>
          <a:prstGeom prst="rect">
            <a:avLst/>
          </a:prstGeom>
          <a:noFill/>
          <a:ln/>
        </p:spPr>
        <p:txBody>
          <a:bodyPr wrap="square" lIns="25400" tIns="25400" rIns="25400" bIns="25400" rtlCol="0" anchor="ctr">
            <a:normAutofit/>
          </a:bodyPr>
          <a:lstStyle/>
          <a:p>
            <a:pPr marL="0" indent="0" algn="r">
              <a:buNone/>
            </a:pPr>
            <a:r>
              <a:rPr lang="en-US" sz="1875" b="1" dirty="0">
                <a:solidFill>
                  <a:srgbClr val="1A7A57"/>
                </a:solidFill>
                <a:latin typeface="Courier New" pitchFamily="34" charset="0"/>
                <a:ea typeface="Courier New" pitchFamily="34" charset="-122"/>
                <a:cs typeface="Courier New" pitchFamily="34" charset="-120"/>
              </a:rPr>
              <a:t>0.8565</a:t>
            </a:r>
            <a:endParaRPr lang="en-US" sz="1875" dirty="0"/>
          </a:p>
        </p:txBody>
      </p:sp>
      <p:sp>
        <p:nvSpPr>
          <p:cNvPr id="35" name="Shape 33"/>
          <p:cNvSpPr/>
          <p:nvPr/>
        </p:nvSpPr>
        <p:spPr>
          <a:xfrm>
            <a:off x="9986739" y="5631954"/>
            <a:ext cx="1011287" cy="9525"/>
          </a:xfrm>
          <a:prstGeom prst="rect">
            <a:avLst/>
          </a:prstGeom>
          <a:solidFill>
            <a:srgbClr val="D2E6DD"/>
          </a:solidFill>
          <a:ln/>
        </p:spPr>
        <p:txBody>
          <a:bodyPr/>
          <a:lstStyle/>
          <a:p>
            <a:endParaRPr/>
          </a:p>
        </p:txBody>
      </p:sp>
      <p:sp>
        <p:nvSpPr>
          <p:cNvPr id="36" name="Text 34"/>
          <p:cNvSpPr/>
          <p:nvPr/>
        </p:nvSpPr>
        <p:spPr>
          <a:xfrm>
            <a:off x="10024839" y="5217616"/>
            <a:ext cx="858887" cy="347663"/>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0.512</a:t>
            </a:r>
            <a:endParaRPr lang="en-US" sz="1875" dirty="0"/>
          </a:p>
        </p:txBody>
      </p:sp>
      <p:sp>
        <p:nvSpPr>
          <p:cNvPr id="37" name="Shape 35"/>
          <p:cNvSpPr/>
          <p:nvPr/>
        </p:nvSpPr>
        <p:spPr>
          <a:xfrm>
            <a:off x="952500" y="5641479"/>
            <a:ext cx="10045526" cy="523875"/>
          </a:xfrm>
          <a:prstGeom prst="rect">
            <a:avLst/>
          </a:prstGeom>
          <a:solidFill>
            <a:srgbClr val="E6F5EF"/>
          </a:solidFill>
          <a:ln/>
        </p:spPr>
        <p:txBody>
          <a:bodyPr/>
          <a:lstStyle/>
          <a:p>
            <a:endParaRPr/>
          </a:p>
        </p:txBody>
      </p:sp>
      <p:sp>
        <p:nvSpPr>
          <p:cNvPr id="38" name="Text 36"/>
          <p:cNvSpPr/>
          <p:nvPr/>
        </p:nvSpPr>
        <p:spPr>
          <a:xfrm>
            <a:off x="1066800" y="5746254"/>
            <a:ext cx="552227"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063D22"/>
                </a:solidFill>
                <a:latin typeface="Courier New" pitchFamily="34" charset="0"/>
                <a:ea typeface="Courier New" pitchFamily="34" charset="-122"/>
                <a:cs typeface="Courier New" pitchFamily="34" charset="-120"/>
              </a:rPr>
              <a:t>v10</a:t>
            </a:r>
            <a:endParaRPr lang="en-US" sz="1875" dirty="0"/>
          </a:p>
        </p:txBody>
      </p:sp>
      <p:sp>
        <p:nvSpPr>
          <p:cNvPr id="39" name="Text 37"/>
          <p:cNvSpPr/>
          <p:nvPr/>
        </p:nvSpPr>
        <p:spPr>
          <a:xfrm>
            <a:off x="1771427" y="5746254"/>
            <a:ext cx="5715258" cy="352425"/>
          </a:xfrm>
          <a:prstGeom prst="rect">
            <a:avLst/>
          </a:prstGeom>
          <a:noFill/>
          <a:ln/>
        </p:spPr>
        <p:txBody>
          <a:bodyPr wrap="square" lIns="25400" tIns="25400" rIns="25400" bIns="25400" rtlCol="0" anchor="ctr">
            <a:normAutofit/>
          </a:bodyPr>
          <a:lstStyle/>
          <a:p>
            <a:pPr marL="0" indent="0" algn="l">
              <a:buNone/>
            </a:pPr>
            <a:r>
              <a:rPr lang="en-US" sz="1875" b="1" dirty="0">
                <a:solidFill>
                  <a:srgbClr val="244236"/>
                </a:solidFill>
                <a:latin typeface="Arial" pitchFamily="34" charset="0"/>
                <a:ea typeface="Arial" pitchFamily="34" charset="-122"/>
                <a:cs typeface="Arial" pitchFamily="34" charset="-120"/>
              </a:rPr>
              <a:t>Clean prep + pseudo-label + smooth threshold</a:t>
            </a:r>
            <a:endParaRPr lang="en-US" sz="1875" dirty="0"/>
          </a:p>
        </p:txBody>
      </p:sp>
      <p:sp>
        <p:nvSpPr>
          <p:cNvPr id="40" name="Text 38"/>
          <p:cNvSpPr/>
          <p:nvPr/>
        </p:nvSpPr>
        <p:spPr>
          <a:xfrm>
            <a:off x="7465963" y="5746254"/>
            <a:ext cx="1011957"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0.8590</a:t>
            </a:r>
            <a:endParaRPr lang="en-US" sz="1875" dirty="0"/>
          </a:p>
        </p:txBody>
      </p:sp>
      <p:sp>
        <p:nvSpPr>
          <p:cNvPr id="41" name="Text 39"/>
          <p:cNvSpPr/>
          <p:nvPr/>
        </p:nvSpPr>
        <p:spPr>
          <a:xfrm>
            <a:off x="8630320" y="5746254"/>
            <a:ext cx="1242120" cy="352425"/>
          </a:xfrm>
          <a:prstGeom prst="rect">
            <a:avLst/>
          </a:prstGeom>
          <a:noFill/>
          <a:ln/>
        </p:spPr>
        <p:txBody>
          <a:bodyPr wrap="square" lIns="25400" tIns="25400" rIns="25400" bIns="25400" rtlCol="0" anchor="ctr">
            <a:normAutofit/>
          </a:bodyPr>
          <a:lstStyle/>
          <a:p>
            <a:pPr marL="0" indent="0" algn="r">
              <a:buNone/>
            </a:pPr>
            <a:r>
              <a:rPr lang="en-US" sz="1875" b="1" dirty="0">
                <a:solidFill>
                  <a:srgbClr val="244236"/>
                </a:solidFill>
                <a:latin typeface="Courier New" pitchFamily="34" charset="0"/>
                <a:ea typeface="Courier New" pitchFamily="34" charset="-122"/>
                <a:cs typeface="Courier New" pitchFamily="34" charset="-120"/>
              </a:rPr>
              <a:t>0.8535</a:t>
            </a:r>
            <a:endParaRPr lang="en-US" sz="1875" dirty="0"/>
          </a:p>
        </p:txBody>
      </p:sp>
      <p:sp>
        <p:nvSpPr>
          <p:cNvPr id="42" name="Text 40"/>
          <p:cNvSpPr/>
          <p:nvPr/>
        </p:nvSpPr>
        <p:spPr>
          <a:xfrm>
            <a:off x="10024839" y="5746254"/>
            <a:ext cx="858887" cy="352425"/>
          </a:xfrm>
          <a:prstGeom prst="rect">
            <a:avLst/>
          </a:prstGeom>
          <a:noFill/>
          <a:ln/>
        </p:spPr>
        <p:txBody>
          <a:bodyPr wrap="square" lIns="25400" tIns="25400" rIns="25400" bIns="25400" rtlCol="0" anchor="ctr">
            <a:normAutofit/>
          </a:bodyPr>
          <a:lstStyle/>
          <a:p>
            <a:pPr marL="0" indent="0" algn="r">
              <a:buNone/>
            </a:pPr>
            <a:r>
              <a:rPr lang="en-US" sz="1875" dirty="0">
                <a:solidFill>
                  <a:srgbClr val="5C7268"/>
                </a:solidFill>
                <a:latin typeface="Courier New" pitchFamily="34" charset="0"/>
                <a:ea typeface="Courier New" pitchFamily="34" charset="-122"/>
                <a:cs typeface="Courier New" pitchFamily="34" charset="-120"/>
              </a:rPr>
              <a:t>0.509</a:t>
            </a:r>
            <a:endParaRPr lang="en-US" sz="1875" dirty="0"/>
          </a:p>
        </p:txBody>
      </p:sp>
      <p:sp>
        <p:nvSpPr>
          <p:cNvPr id="43" name="Text 41"/>
          <p:cNvSpPr/>
          <p:nvPr/>
        </p:nvSpPr>
        <p:spPr>
          <a:xfrm>
            <a:off x="952500" y="6374904"/>
            <a:ext cx="1105007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Model family ladder · 5-fold accuracy</a:t>
            </a:r>
            <a:endParaRPr lang="en-US" sz="1800" dirty="0"/>
          </a:p>
        </p:txBody>
      </p:sp>
      <p:sp>
        <p:nvSpPr>
          <p:cNvPr id="44" name="Text 42"/>
          <p:cNvSpPr/>
          <p:nvPr/>
        </p:nvSpPr>
        <p:spPr>
          <a:xfrm>
            <a:off x="952500"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NB 0.760</a:t>
            </a:r>
            <a:endParaRPr lang="en-US" sz="1800" dirty="0"/>
          </a:p>
        </p:txBody>
      </p:sp>
      <p:sp>
        <p:nvSpPr>
          <p:cNvPr id="45" name="Text 43"/>
          <p:cNvSpPr/>
          <p:nvPr/>
        </p:nvSpPr>
        <p:spPr>
          <a:xfrm>
            <a:off x="2145209"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6" name="Text 44"/>
          <p:cNvSpPr/>
          <p:nvPr/>
        </p:nvSpPr>
        <p:spPr>
          <a:xfrm>
            <a:off x="2377678" y="6746379"/>
            <a:ext cx="1358146"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LDA 0.777</a:t>
            </a:r>
            <a:endParaRPr lang="en-US" sz="1800" dirty="0"/>
          </a:p>
        </p:txBody>
      </p:sp>
      <p:sp>
        <p:nvSpPr>
          <p:cNvPr id="47" name="Text 45"/>
          <p:cNvSpPr/>
          <p:nvPr/>
        </p:nvSpPr>
        <p:spPr>
          <a:xfrm>
            <a:off x="3707606"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48" name="Text 46"/>
          <p:cNvSpPr/>
          <p:nvPr/>
        </p:nvSpPr>
        <p:spPr>
          <a:xfrm>
            <a:off x="3940076"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LR 0.784</a:t>
            </a:r>
            <a:endParaRPr lang="en-US" sz="1800" dirty="0"/>
          </a:p>
        </p:txBody>
      </p:sp>
      <p:sp>
        <p:nvSpPr>
          <p:cNvPr id="49" name="Text 47"/>
          <p:cNvSpPr/>
          <p:nvPr/>
        </p:nvSpPr>
        <p:spPr>
          <a:xfrm>
            <a:off x="5132784"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0" name="Text 48"/>
          <p:cNvSpPr/>
          <p:nvPr/>
        </p:nvSpPr>
        <p:spPr>
          <a:xfrm>
            <a:off x="5365254" y="6746379"/>
            <a:ext cx="1173659"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244236"/>
                </a:solidFill>
                <a:latin typeface="Courier New" pitchFamily="34" charset="0"/>
                <a:ea typeface="Courier New" pitchFamily="34" charset="-122"/>
                <a:cs typeface="Courier New" pitchFamily="34" charset="-120"/>
              </a:rPr>
              <a:t>RF 0.833</a:t>
            </a:r>
            <a:endParaRPr lang="en-US" sz="1800" dirty="0"/>
          </a:p>
        </p:txBody>
      </p:sp>
      <p:sp>
        <p:nvSpPr>
          <p:cNvPr id="51" name="Text 49"/>
          <p:cNvSpPr/>
          <p:nvPr/>
        </p:nvSpPr>
        <p:spPr>
          <a:xfrm>
            <a:off x="6557963"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2" name="Text 50"/>
          <p:cNvSpPr/>
          <p:nvPr/>
        </p:nvSpPr>
        <p:spPr>
          <a:xfrm>
            <a:off x="6790432" y="6727329"/>
            <a:ext cx="2112280" cy="333375"/>
          </a:xfrm>
          <a:prstGeom prst="rect">
            <a:avLst/>
          </a:prstGeom>
          <a:noFill/>
          <a:ln/>
        </p:spPr>
        <p:txBody>
          <a:bodyPr wrap="square" lIns="25400" tIns="25400" rIns="25400" bIns="25400" rtlCol="0" anchor="t">
            <a:normAutofit/>
          </a:bodyPr>
          <a:lstStyle/>
          <a:p>
            <a:pPr marL="0" indent="0" algn="l">
              <a:buNone/>
            </a:pPr>
            <a:r>
              <a:rPr lang="en-US" sz="1800" b="1" dirty="0">
                <a:solidFill>
                  <a:srgbClr val="063D22"/>
                </a:solidFill>
                <a:latin typeface="Courier New" pitchFamily="34" charset="0"/>
                <a:ea typeface="Courier New" pitchFamily="34" charset="-122"/>
                <a:cs typeface="Courier New" pitchFamily="34" charset="-120"/>
              </a:rPr>
              <a:t>LightGBM 0.836</a:t>
            </a:r>
            <a:endParaRPr lang="en-US" sz="1800" dirty="0"/>
          </a:p>
        </p:txBody>
      </p:sp>
      <p:sp>
        <p:nvSpPr>
          <p:cNvPr id="53" name="Text 51"/>
          <p:cNvSpPr/>
          <p:nvPr/>
        </p:nvSpPr>
        <p:spPr>
          <a:xfrm>
            <a:off x="8805937" y="6746379"/>
            <a:ext cx="21342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66B3A1"/>
                </a:solidFill>
                <a:latin typeface="Courier New" pitchFamily="34" charset="0"/>
                <a:ea typeface="Courier New" pitchFamily="34" charset="-122"/>
                <a:cs typeface="Courier New" pitchFamily="34" charset="-120"/>
              </a:rPr>
              <a:t>→</a:t>
            </a:r>
            <a:endParaRPr lang="en-US" sz="1800" dirty="0"/>
          </a:p>
        </p:txBody>
      </p:sp>
      <p:sp>
        <p:nvSpPr>
          <p:cNvPr id="54" name="Text 52"/>
          <p:cNvSpPr/>
          <p:nvPr/>
        </p:nvSpPr>
        <p:spPr>
          <a:xfrm>
            <a:off x="9038406" y="6727329"/>
            <a:ext cx="2112280" cy="333375"/>
          </a:xfrm>
          <a:prstGeom prst="rect">
            <a:avLst/>
          </a:prstGeom>
          <a:noFill/>
          <a:ln/>
        </p:spPr>
        <p:txBody>
          <a:bodyPr wrap="square" lIns="25400" tIns="25400" rIns="25400" bIns="25400" rtlCol="0" anchor="t">
            <a:normAutofit/>
          </a:bodyPr>
          <a:lstStyle/>
          <a:p>
            <a:pPr marL="0" indent="0" algn="l">
              <a:buNone/>
            </a:pPr>
            <a:r>
              <a:rPr lang="en-US" sz="1800" b="1" dirty="0">
                <a:solidFill>
                  <a:srgbClr val="1A7A57"/>
                </a:solidFill>
                <a:latin typeface="Courier New" pitchFamily="34" charset="0"/>
                <a:ea typeface="Courier New" pitchFamily="34" charset="-122"/>
                <a:cs typeface="Courier New" pitchFamily="34" charset="-120"/>
              </a:rPr>
              <a:t>ensemble 0.859</a:t>
            </a:r>
            <a:endParaRPr lang="en-US" sz="1800" dirty="0"/>
          </a:p>
        </p:txBody>
      </p:sp>
      <p:sp>
        <p:nvSpPr>
          <p:cNvPr id="55" name="Text 53"/>
          <p:cNvSpPr/>
          <p:nvPr/>
        </p:nvSpPr>
        <p:spPr>
          <a:xfrm>
            <a:off x="952500" y="7232154"/>
            <a:ext cx="10346892" cy="678061"/>
          </a:xfrm>
          <a:prstGeom prst="rect">
            <a:avLst/>
          </a:prstGeom>
          <a:noFill/>
          <a:ln/>
        </p:spPr>
        <p:txBody>
          <a:bodyPr wrap="square" lIns="25400" tIns="25400" rIns="25400" bIns="25400" rtlCol="0" anchor="t">
            <a:normAutofit fontScale="92500" lnSpcReduction="20000"/>
          </a:bodyPr>
          <a:lstStyle/>
          <a:p>
            <a:pPr marL="0" indent="0" algn="l">
              <a:lnSpc>
                <a:spcPct val="140000"/>
              </a:lnSpc>
              <a:buNone/>
            </a:pPr>
            <a:r>
              <a:rPr lang="en-US" sz="1800" dirty="0">
                <a:solidFill>
                  <a:srgbClr val="5C7268"/>
                </a:solidFill>
                <a:latin typeface="Arial" pitchFamily="34" charset="0"/>
                <a:ea typeface="Arial" pitchFamily="34" charset="-122"/>
                <a:cs typeface="Arial" pitchFamily="34" charset="-120"/>
              </a:rPr>
              <a:t>v10 adds leak-free z-scoring and a conservative smooth threshold (ROC AUC 0.9377). Its OOF dips slightly below v6/v7 </a:t>
            </a:r>
            <a:r>
              <a:rPr lang="en-US" sz="1800" b="1" dirty="0">
                <a:solidFill>
                  <a:srgbClr val="244236"/>
                </a:solidFill>
                <a:latin typeface="Arial" pitchFamily="34" charset="0"/>
                <a:ea typeface="Arial" pitchFamily="34" charset="-122"/>
                <a:cs typeface="Arial" pitchFamily="34" charset="-120"/>
              </a:rPr>
              <a:t>by design </a:t>
            </a:r>
            <a:r>
              <a:rPr lang="en-US" sz="1800" dirty="0">
                <a:solidFill>
                  <a:srgbClr val="5C7268"/>
                </a:solidFill>
                <a:latin typeface="Arial" pitchFamily="34" charset="0"/>
                <a:ea typeface="Arial" pitchFamily="34" charset="-122"/>
                <a:cs typeface="Arial" pitchFamily="34" charset="-120"/>
              </a:rPr>
              <a:t>— not because the model is worse.</a:t>
            </a:r>
            <a:endParaRPr lang="en-US" sz="1800" dirty="0"/>
          </a:p>
        </p:txBody>
      </p:sp>
      <p:sp>
        <p:nvSpPr>
          <p:cNvPr id="56" name="Text 54"/>
          <p:cNvSpPr/>
          <p:nvPr/>
        </p:nvSpPr>
        <p:spPr>
          <a:xfrm>
            <a:off x="11531426" y="3792662"/>
            <a:ext cx="6384481" cy="870570"/>
          </a:xfrm>
          <a:prstGeom prst="rect">
            <a:avLst/>
          </a:prstGeom>
          <a:noFill/>
          <a:ln/>
        </p:spPr>
        <p:txBody>
          <a:bodyPr wrap="square" lIns="25400" tIns="25400" rIns="25400" bIns="25400" rtlCol="0" anchor="t">
            <a:normAutofit fontScale="92500" lnSpcReduction="20000"/>
          </a:bodyPr>
          <a:lstStyle/>
          <a:p>
            <a:pPr marL="0" indent="0" algn="l">
              <a:lnSpc>
                <a:spcPct val="95000"/>
              </a:lnSpc>
              <a:buNone/>
            </a:pPr>
            <a:r>
              <a:rPr lang="en-US" sz="6900" b="1" dirty="0">
                <a:solidFill>
                  <a:srgbClr val="1A7A57"/>
                </a:solidFill>
                <a:latin typeface="Arial" pitchFamily="34" charset="0"/>
                <a:ea typeface="Arial" pitchFamily="34" charset="-122"/>
                <a:cs typeface="Arial" pitchFamily="34" charset="-120"/>
              </a:rPr>
              <a:t>0.8565</a:t>
            </a:r>
            <a:endParaRPr lang="en-US" sz="6900" dirty="0"/>
          </a:p>
        </p:txBody>
      </p:sp>
      <p:sp>
        <p:nvSpPr>
          <p:cNvPr id="57" name="Text 55"/>
          <p:cNvSpPr/>
          <p:nvPr/>
        </p:nvSpPr>
        <p:spPr>
          <a:xfrm>
            <a:off x="11531426" y="4720382"/>
            <a:ext cx="5978196"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0.8565 public accuracy — no leak, no protected attributes.</a:t>
            </a:r>
            <a:endParaRPr lang="en-US" sz="2250" dirty="0"/>
          </a:p>
        </p:txBody>
      </p:sp>
      <p:sp>
        <p:nvSpPr>
          <p:cNvPr id="58" name="Text 56"/>
          <p:cNvSpPr/>
          <p:nvPr/>
        </p:nvSpPr>
        <p:spPr>
          <a:xfrm>
            <a:off x="11531426" y="5682407"/>
            <a:ext cx="5978196" cy="1204913"/>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244236"/>
                </a:solidFill>
                <a:latin typeface="Arial" pitchFamily="34" charset="0"/>
                <a:ea typeface="Arial" pitchFamily="34" charset="-122"/>
                <a:cs typeface="Arial" pitchFamily="34" charset="-120"/>
              </a:rPr>
              <a:t>Our held-back validation tracked just above the live score the whole way — it </a:t>
            </a:r>
            <a:r>
              <a:rPr lang="en-US" sz="2025" b="1" dirty="0">
                <a:solidFill>
                  <a:srgbClr val="063D22"/>
                </a:solidFill>
                <a:latin typeface="Arial" pitchFamily="34" charset="0"/>
                <a:ea typeface="Arial" pitchFamily="34" charset="-122"/>
                <a:cs typeface="Arial" pitchFamily="34" charset="-120"/>
              </a:rPr>
              <a:t>called the result in advance </a:t>
            </a:r>
            <a:r>
              <a:rPr lang="en-US" sz="2025" dirty="0">
                <a:solidFill>
                  <a:srgbClr val="244236"/>
                </a:solidFill>
                <a:latin typeface="Arial" pitchFamily="34" charset="0"/>
                <a:ea typeface="Arial" pitchFamily="34" charset="-122"/>
                <a:cs typeface="Arial" pitchFamily="34" charset="-120"/>
              </a:rPr>
              <a:t>.</a:t>
            </a:r>
            <a:endParaRPr lang="en-US" sz="2025" dirty="0"/>
          </a:p>
        </p:txBody>
      </p:sp>
      <p:sp>
        <p:nvSpPr>
          <p:cNvPr id="59" name="Text 57"/>
          <p:cNvSpPr/>
          <p:nvPr/>
        </p:nvSpPr>
        <p:spPr>
          <a:xfrm>
            <a:off x="11531426" y="7020669"/>
            <a:ext cx="5978196" cy="814388"/>
          </a:xfrm>
          <a:prstGeom prst="rect">
            <a:avLst/>
          </a:prstGeom>
          <a:noFill/>
          <a:ln/>
        </p:spPr>
        <p:txBody>
          <a:bodyPr wrap="square" lIns="25400" tIns="25400" rIns="25400" bIns="25400" rtlCol="0" anchor="t">
            <a:normAutofit fontScale="92500" lnSpcReduction="20000"/>
          </a:bodyPr>
          <a:lstStyle/>
          <a:p>
            <a:pPr marL="0" indent="0" algn="l">
              <a:lnSpc>
                <a:spcPct val="150000"/>
              </a:lnSpc>
              <a:buNone/>
            </a:pPr>
            <a:r>
              <a:rPr lang="en-US" sz="2025" dirty="0">
                <a:solidFill>
                  <a:srgbClr val="5C7268"/>
                </a:solidFill>
                <a:latin typeface="Arial" pitchFamily="34" charset="0"/>
                <a:ea typeface="Arial" pitchFamily="34" charset="-122"/>
                <a:cs typeface="Arial" pitchFamily="34" charset="-120"/>
              </a:rPr>
              <a:t>Adversarial validation confirms the CV→LB gap is </a:t>
            </a:r>
            <a:r>
              <a:rPr lang="en-US" sz="2025" b="1" dirty="0">
                <a:solidFill>
                  <a:srgbClr val="244236"/>
                </a:solidFill>
                <a:latin typeface="Arial" pitchFamily="34" charset="0"/>
                <a:ea typeface="Arial" pitchFamily="34" charset="-122"/>
                <a:cs typeface="Arial" pitchFamily="34" charset="-120"/>
              </a:rPr>
              <a:t>distribution shift over time</a:t>
            </a:r>
            <a:r>
              <a:rPr lang="en-US" sz="2025" dirty="0">
                <a:solidFill>
                  <a:srgbClr val="5C7268"/>
                </a:solidFill>
                <a:latin typeface="Arial" pitchFamily="34" charset="0"/>
                <a:ea typeface="Arial" pitchFamily="34" charset="-122"/>
                <a:cs typeface="Arial" pitchFamily="34" charset="-120"/>
              </a:rPr>
              <a:t>, not overfitting.</a:t>
            </a:r>
            <a:endParaRPr lang="en-US" sz="2025" dirty="0"/>
          </a:p>
        </p:txBody>
      </p:sp>
      <p:sp>
        <p:nvSpPr>
          <p:cNvPr id="60" name="Shape 58"/>
          <p:cNvSpPr/>
          <p:nvPr/>
        </p:nvSpPr>
        <p:spPr>
          <a:xfrm>
            <a:off x="952500" y="9239250"/>
            <a:ext cx="16383000" cy="9525"/>
          </a:xfrm>
          <a:prstGeom prst="rect">
            <a:avLst/>
          </a:prstGeom>
          <a:solidFill>
            <a:srgbClr val="D2E6DD"/>
          </a:solidFill>
          <a:ln/>
        </p:spPr>
        <p:txBody>
          <a:bodyPr/>
          <a:lstStyle/>
          <a:p>
            <a:endParaRPr lang="en-GB"/>
          </a:p>
        </p:txBody>
      </p:sp>
      <p:sp>
        <p:nvSpPr>
          <p:cNvPr id="61" name="Text 5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Kaggle public leaderboard · 10 submissions, v1 → v10</a:t>
            </a:r>
            <a:endParaRPr lang="en-US" sz="1800" dirty="0"/>
          </a:p>
        </p:txBody>
      </p:sp>
      <p:pic>
        <p:nvPicPr>
          <p:cNvPr id="62" name="Picture 61" descr="deck_progression.png"/>
          <p:cNvPicPr>
            <a:picLocks noChangeAspect="1"/>
          </p:cNvPicPr>
          <p:nvPr/>
        </p:nvPicPr>
        <p:blipFill>
          <a:blip r:embed="rId3"/>
          <a:stretch>
            <a:fillRect/>
          </a:stretch>
        </p:blipFill>
        <p:spPr>
          <a:xfrm>
            <a:off x="1188720" y="2103120"/>
            <a:ext cx="15361920" cy="163220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11 · WHAT WE LEARNED</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Finding the traps was harder than building the model</a:t>
            </a:r>
            <a:endParaRPr lang="en-US" sz="3600" dirty="0"/>
          </a:p>
        </p:txBody>
      </p:sp>
      <p:sp>
        <p:nvSpPr>
          <p:cNvPr id="5" name="Text 3"/>
          <p:cNvSpPr/>
          <p:nvPr/>
        </p:nvSpPr>
        <p:spPr>
          <a:xfrm>
            <a:off x="952500"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01</a:t>
            </a:r>
            <a:endParaRPr lang="en-US" sz="4800" dirty="0"/>
          </a:p>
        </p:txBody>
      </p:sp>
      <p:sp>
        <p:nvSpPr>
          <p:cNvPr id="6" name="Text 4"/>
          <p:cNvSpPr/>
          <p:nvPr/>
        </p:nvSpPr>
        <p:spPr>
          <a:xfrm>
            <a:off x="952500" y="3207618"/>
            <a:ext cx="3622619" cy="733425"/>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The traps, not the algorithm</a:t>
            </a:r>
            <a:endParaRPr lang="en-US" sz="2250" dirty="0"/>
          </a:p>
        </p:txBody>
      </p:sp>
      <p:sp>
        <p:nvSpPr>
          <p:cNvPr id="7" name="Text 5"/>
          <p:cNvSpPr/>
          <p:nvPr/>
        </p:nvSpPr>
        <p:spPr>
          <a:xfrm>
            <a:off x="952500" y="4017243"/>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Most of the value came from catching sabotaged columns before any modeling.</a:t>
            </a:r>
            <a:endParaRPr lang="en-US" sz="1950" dirty="0"/>
          </a:p>
        </p:txBody>
      </p:sp>
      <p:sp>
        <p:nvSpPr>
          <p:cNvPr id="8" name="Shape 6"/>
          <p:cNvSpPr/>
          <p:nvPr/>
        </p:nvSpPr>
        <p:spPr>
          <a:xfrm>
            <a:off x="4850606" y="2426568"/>
            <a:ext cx="9525" cy="6812682"/>
          </a:xfrm>
          <a:prstGeom prst="rect">
            <a:avLst/>
          </a:prstGeom>
          <a:solidFill>
            <a:srgbClr val="D2E6DD"/>
          </a:solidFill>
          <a:ln/>
        </p:spPr>
        <p:txBody>
          <a:bodyPr/>
          <a:lstStyle/>
          <a:p>
            <a:endParaRPr lang="en-GB"/>
          </a:p>
        </p:txBody>
      </p:sp>
      <p:sp>
        <p:nvSpPr>
          <p:cNvPr id="9" name="Text 7"/>
          <p:cNvSpPr/>
          <p:nvPr/>
        </p:nvSpPr>
        <p:spPr>
          <a:xfrm>
            <a:off x="5241131"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02</a:t>
            </a:r>
            <a:endParaRPr lang="en-US" sz="4800" dirty="0"/>
          </a:p>
        </p:txBody>
      </p:sp>
      <p:sp>
        <p:nvSpPr>
          <p:cNvPr id="10" name="Text 8"/>
          <p:cNvSpPr/>
          <p:nvPr/>
        </p:nvSpPr>
        <p:spPr>
          <a:xfrm>
            <a:off x="5241131"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Test like the real task</a:t>
            </a:r>
            <a:endParaRPr lang="en-US" sz="2250" dirty="0"/>
          </a:p>
        </p:txBody>
      </p:sp>
      <p:sp>
        <p:nvSpPr>
          <p:cNvPr id="11" name="Text 9"/>
          <p:cNvSpPr/>
          <p:nvPr/>
        </p:nvSpPr>
        <p:spPr>
          <a:xfrm>
            <a:off x="5241131" y="3669581"/>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Predicting held-back months exposed mistakes a random split would have hidden.</a:t>
            </a:r>
            <a:endParaRPr lang="en-US" sz="1950" dirty="0"/>
          </a:p>
        </p:txBody>
      </p:sp>
      <p:sp>
        <p:nvSpPr>
          <p:cNvPr id="12" name="Shape 10"/>
          <p:cNvSpPr/>
          <p:nvPr/>
        </p:nvSpPr>
        <p:spPr>
          <a:xfrm>
            <a:off x="9139238" y="2426568"/>
            <a:ext cx="9525" cy="6812682"/>
          </a:xfrm>
          <a:prstGeom prst="rect">
            <a:avLst/>
          </a:prstGeom>
          <a:solidFill>
            <a:srgbClr val="D2E6DD"/>
          </a:solidFill>
          <a:ln/>
        </p:spPr>
        <p:txBody>
          <a:bodyPr/>
          <a:lstStyle/>
          <a:p>
            <a:endParaRPr lang="en-GB"/>
          </a:p>
        </p:txBody>
      </p:sp>
      <p:sp>
        <p:nvSpPr>
          <p:cNvPr id="13" name="Text 11"/>
          <p:cNvSpPr/>
          <p:nvPr/>
        </p:nvSpPr>
        <p:spPr>
          <a:xfrm>
            <a:off x="9529763"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03</a:t>
            </a:r>
            <a:endParaRPr lang="en-US" sz="4800" dirty="0"/>
          </a:p>
        </p:txBody>
      </p:sp>
      <p:sp>
        <p:nvSpPr>
          <p:cNvPr id="14" name="Text 12"/>
          <p:cNvSpPr/>
          <p:nvPr/>
        </p:nvSpPr>
        <p:spPr>
          <a:xfrm>
            <a:off x="9529763"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Measure the ethics</a:t>
            </a:r>
            <a:endParaRPr lang="en-US" sz="2250" dirty="0"/>
          </a:p>
        </p:txBody>
      </p:sp>
      <p:sp>
        <p:nvSpPr>
          <p:cNvPr id="15" name="Text 13"/>
          <p:cNvSpPr/>
          <p:nvPr/>
        </p:nvSpPr>
        <p:spPr>
          <a:xfrm>
            <a:off x="9529763" y="3669581"/>
            <a:ext cx="3622619" cy="1115244"/>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“We dropped race” is weak. “It costs exactly +0.7pt of bias” is strong.</a:t>
            </a:r>
            <a:endParaRPr lang="en-US" sz="1950" dirty="0"/>
          </a:p>
        </p:txBody>
      </p:sp>
      <p:sp>
        <p:nvSpPr>
          <p:cNvPr id="16" name="Shape 14"/>
          <p:cNvSpPr/>
          <p:nvPr/>
        </p:nvSpPr>
        <p:spPr>
          <a:xfrm>
            <a:off x="13427869" y="2426568"/>
            <a:ext cx="9525" cy="6812682"/>
          </a:xfrm>
          <a:prstGeom prst="rect">
            <a:avLst/>
          </a:prstGeom>
          <a:solidFill>
            <a:srgbClr val="D2E6DD"/>
          </a:solidFill>
          <a:ln/>
        </p:spPr>
        <p:txBody>
          <a:bodyPr/>
          <a:lstStyle/>
          <a:p>
            <a:endParaRPr lang="en-GB"/>
          </a:p>
        </p:txBody>
      </p:sp>
      <p:sp>
        <p:nvSpPr>
          <p:cNvPr id="17" name="Text 15"/>
          <p:cNvSpPr/>
          <p:nvPr/>
        </p:nvSpPr>
        <p:spPr>
          <a:xfrm>
            <a:off x="13818394" y="2426568"/>
            <a:ext cx="3868817" cy="647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4800" b="1" dirty="0">
                <a:solidFill>
                  <a:srgbClr val="66B3A1"/>
                </a:solidFill>
                <a:latin typeface="Georgia" pitchFamily="34" charset="0"/>
                <a:ea typeface="Georgia" pitchFamily="34" charset="-122"/>
                <a:cs typeface="Georgia" pitchFamily="34" charset="-120"/>
              </a:rPr>
              <a:t>04</a:t>
            </a:r>
            <a:endParaRPr lang="en-US" sz="4800" dirty="0"/>
          </a:p>
        </p:txBody>
      </p:sp>
      <p:sp>
        <p:nvSpPr>
          <p:cNvPr id="18" name="Text 16"/>
          <p:cNvSpPr/>
          <p:nvPr/>
        </p:nvSpPr>
        <p:spPr>
          <a:xfrm>
            <a:off x="13818394" y="3207618"/>
            <a:ext cx="3868817" cy="385763"/>
          </a:xfrm>
          <a:prstGeom prst="rect">
            <a:avLst/>
          </a:prstGeom>
          <a:noFill/>
          <a:ln/>
        </p:spPr>
        <p:txBody>
          <a:bodyPr wrap="square" lIns="25400" tIns="25400" rIns="25400" bIns="25400" rtlCol="0" anchor="t">
            <a:normAutofit lnSpcReduction="10000"/>
          </a:bodyPr>
          <a:lstStyle/>
          <a:p>
            <a:pPr marL="0" indent="0" algn="l">
              <a:buNone/>
            </a:pPr>
            <a:r>
              <a:rPr lang="en-US" sz="2250" b="1" dirty="0">
                <a:solidFill>
                  <a:srgbClr val="063D22"/>
                </a:solidFill>
                <a:latin typeface="Arial" pitchFamily="34" charset="0"/>
                <a:ea typeface="Arial" pitchFamily="34" charset="-122"/>
                <a:cs typeface="Arial" pitchFamily="34" charset="-120"/>
              </a:rPr>
              <a:t>Deleting can be the fix</a:t>
            </a:r>
            <a:endParaRPr lang="en-US" sz="2250" dirty="0"/>
          </a:p>
        </p:txBody>
      </p:sp>
      <p:sp>
        <p:nvSpPr>
          <p:cNvPr id="19" name="Text 17"/>
          <p:cNvSpPr/>
          <p:nvPr/>
        </p:nvSpPr>
        <p:spPr>
          <a:xfrm>
            <a:off x="13818394" y="3669581"/>
            <a:ext cx="3622619" cy="1474291"/>
          </a:xfrm>
          <a:prstGeom prst="rect">
            <a:avLst/>
          </a:prstGeom>
          <a:noFill/>
          <a:ln/>
        </p:spPr>
        <p:txBody>
          <a:bodyPr wrap="square" lIns="25400" tIns="25400" rIns="25400" bIns="25400" rtlCol="0" anchor="t">
            <a:normAutofit/>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We removed the four most “predictive” columns on purpose — their power was fake.</a:t>
            </a:r>
            <a:endParaRPr lang="en-US" sz="195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retrospective</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12 · WHAT COMES NEXT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Four steps would make this ready for a real bank</a:t>
            </a:r>
            <a:endParaRPr lang="en-US" sz="3600" dirty="0"/>
          </a:p>
        </p:txBody>
      </p:sp>
      <p:sp>
        <p:nvSpPr>
          <p:cNvPr id="5" name="Shape 3"/>
          <p:cNvSpPr/>
          <p:nvPr/>
        </p:nvSpPr>
        <p:spPr>
          <a:xfrm>
            <a:off x="952500" y="2388468"/>
            <a:ext cx="8058150" cy="3292004"/>
          </a:xfrm>
          <a:prstGeom prst="roundRect">
            <a:avLst>
              <a:gd name="adj" fmla="val 3472"/>
            </a:avLst>
          </a:prstGeom>
          <a:solidFill>
            <a:srgbClr val="E6F5EF"/>
          </a:solidFill>
          <a:ln/>
        </p:spPr>
        <p:txBody>
          <a:bodyPr/>
          <a:lstStyle/>
          <a:p>
            <a:endParaRPr lang="en-GB"/>
          </a:p>
        </p:txBody>
      </p:sp>
      <p:sp>
        <p:nvSpPr>
          <p:cNvPr id="6" name="Text 4"/>
          <p:cNvSpPr/>
          <p:nvPr/>
        </p:nvSpPr>
        <p:spPr>
          <a:xfrm>
            <a:off x="1314450" y="2712318"/>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01</a:t>
            </a:r>
            <a:endParaRPr lang="en-US" sz="1800" dirty="0"/>
          </a:p>
        </p:txBody>
      </p:sp>
      <p:sp>
        <p:nvSpPr>
          <p:cNvPr id="7" name="Text 5"/>
          <p:cNvSpPr/>
          <p:nvPr/>
        </p:nvSpPr>
        <p:spPr>
          <a:xfrm>
            <a:off x="1314450" y="3102843"/>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Decide by cost, not accuracy</a:t>
            </a:r>
            <a:endParaRPr lang="en-US" sz="2400" dirty="0"/>
          </a:p>
        </p:txBody>
      </p:sp>
      <p:sp>
        <p:nvSpPr>
          <p:cNvPr id="8" name="Text 6"/>
          <p:cNvSpPr/>
          <p:nvPr/>
        </p:nvSpPr>
        <p:spPr>
          <a:xfrm>
            <a:off x="1314450" y="3569568"/>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A default costs far more than a lost customer — weigh the two mistakes differently.</a:t>
            </a:r>
            <a:endParaRPr lang="en-US" sz="1950" dirty="0"/>
          </a:p>
        </p:txBody>
      </p:sp>
      <p:sp>
        <p:nvSpPr>
          <p:cNvPr id="9" name="Shape 7"/>
          <p:cNvSpPr/>
          <p:nvPr/>
        </p:nvSpPr>
        <p:spPr>
          <a:xfrm>
            <a:off x="9277350" y="2388468"/>
            <a:ext cx="8058150" cy="3292004"/>
          </a:xfrm>
          <a:prstGeom prst="roundRect">
            <a:avLst>
              <a:gd name="adj" fmla="val 3472"/>
            </a:avLst>
          </a:prstGeom>
          <a:solidFill>
            <a:srgbClr val="E6F5EF"/>
          </a:solidFill>
          <a:ln/>
        </p:spPr>
        <p:txBody>
          <a:bodyPr/>
          <a:lstStyle/>
          <a:p>
            <a:endParaRPr lang="en-GB"/>
          </a:p>
        </p:txBody>
      </p:sp>
      <p:sp>
        <p:nvSpPr>
          <p:cNvPr id="10" name="Text 8"/>
          <p:cNvSpPr/>
          <p:nvPr/>
        </p:nvSpPr>
        <p:spPr>
          <a:xfrm>
            <a:off x="9639300" y="2712318"/>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02</a:t>
            </a:r>
            <a:endParaRPr lang="en-US" sz="1800" dirty="0"/>
          </a:p>
        </p:txBody>
      </p:sp>
      <p:sp>
        <p:nvSpPr>
          <p:cNvPr id="11" name="Text 9"/>
          <p:cNvSpPr/>
          <p:nvPr/>
        </p:nvSpPr>
        <p:spPr>
          <a:xfrm>
            <a:off x="9639300" y="3102843"/>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Calibrate the probabilities</a:t>
            </a:r>
            <a:endParaRPr lang="en-US" sz="2400" dirty="0"/>
          </a:p>
        </p:txBody>
      </p:sp>
      <p:sp>
        <p:nvSpPr>
          <p:cNvPr id="12" name="Text 10"/>
          <p:cNvSpPr/>
          <p:nvPr/>
        </p:nvSpPr>
        <p:spPr>
          <a:xfrm>
            <a:off x="9639300" y="3569568"/>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Real lenders need trustworthy risk percentages for pricing and capital, not just a yes/no.</a:t>
            </a:r>
            <a:endParaRPr lang="en-US" sz="1950" dirty="0"/>
          </a:p>
        </p:txBody>
      </p:sp>
      <p:sp>
        <p:nvSpPr>
          <p:cNvPr id="13" name="Shape 11"/>
          <p:cNvSpPr/>
          <p:nvPr/>
        </p:nvSpPr>
        <p:spPr>
          <a:xfrm>
            <a:off x="952500" y="5947172"/>
            <a:ext cx="8058150" cy="3292078"/>
          </a:xfrm>
          <a:prstGeom prst="roundRect">
            <a:avLst>
              <a:gd name="adj" fmla="val 3472"/>
            </a:avLst>
          </a:prstGeom>
          <a:solidFill>
            <a:srgbClr val="E6F5EF"/>
          </a:solidFill>
          <a:ln/>
        </p:spPr>
        <p:txBody>
          <a:bodyPr/>
          <a:lstStyle/>
          <a:p>
            <a:endParaRPr lang="en-GB"/>
          </a:p>
        </p:txBody>
      </p:sp>
      <p:sp>
        <p:nvSpPr>
          <p:cNvPr id="14" name="Text 12"/>
          <p:cNvSpPr/>
          <p:nvPr/>
        </p:nvSpPr>
        <p:spPr>
          <a:xfrm>
            <a:off x="1314450" y="6271022"/>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03</a:t>
            </a:r>
            <a:endParaRPr lang="en-US" sz="1800" dirty="0"/>
          </a:p>
        </p:txBody>
      </p:sp>
      <p:sp>
        <p:nvSpPr>
          <p:cNvPr id="15" name="Text 13"/>
          <p:cNvSpPr/>
          <p:nvPr/>
        </p:nvSpPr>
        <p:spPr>
          <a:xfrm>
            <a:off x="1314450" y="6661547"/>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Explain every decision</a:t>
            </a:r>
            <a:endParaRPr lang="en-US" sz="2400" dirty="0"/>
          </a:p>
        </p:txBody>
      </p:sp>
      <p:sp>
        <p:nvSpPr>
          <p:cNvPr id="16" name="Text 14"/>
          <p:cNvSpPr/>
          <p:nvPr/>
        </p:nvSpPr>
        <p:spPr>
          <a:xfrm>
            <a:off x="1314450" y="7128272"/>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Show why each application was approved or rejected, so the credit team can defend it.</a:t>
            </a:r>
            <a:endParaRPr lang="en-US" sz="1950" dirty="0"/>
          </a:p>
        </p:txBody>
      </p:sp>
      <p:sp>
        <p:nvSpPr>
          <p:cNvPr id="17" name="Shape 15"/>
          <p:cNvSpPr/>
          <p:nvPr/>
        </p:nvSpPr>
        <p:spPr>
          <a:xfrm>
            <a:off x="9277350" y="5947172"/>
            <a:ext cx="8058150" cy="3292078"/>
          </a:xfrm>
          <a:prstGeom prst="roundRect">
            <a:avLst>
              <a:gd name="adj" fmla="val 3472"/>
            </a:avLst>
          </a:prstGeom>
          <a:solidFill>
            <a:srgbClr val="E6F5EF"/>
          </a:solidFill>
          <a:ln/>
        </p:spPr>
        <p:txBody>
          <a:bodyPr/>
          <a:lstStyle/>
          <a:p>
            <a:endParaRPr lang="en-GB"/>
          </a:p>
        </p:txBody>
      </p:sp>
      <p:sp>
        <p:nvSpPr>
          <p:cNvPr id="18" name="Text 16"/>
          <p:cNvSpPr/>
          <p:nvPr/>
        </p:nvSpPr>
        <p:spPr>
          <a:xfrm>
            <a:off x="9639300" y="6271022"/>
            <a:ext cx="8067675"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007A33"/>
                </a:solidFill>
                <a:latin typeface="Courier New" pitchFamily="34" charset="0"/>
                <a:ea typeface="Courier New" pitchFamily="34" charset="-122"/>
                <a:cs typeface="Courier New" pitchFamily="34" charset="-120"/>
              </a:rPr>
              <a:t>04</a:t>
            </a:r>
            <a:endParaRPr lang="en-US" sz="1800" dirty="0"/>
          </a:p>
        </p:txBody>
      </p:sp>
      <p:sp>
        <p:nvSpPr>
          <p:cNvPr id="19" name="Text 17"/>
          <p:cNvSpPr/>
          <p:nvPr/>
        </p:nvSpPr>
        <p:spPr>
          <a:xfrm>
            <a:off x="9639300" y="6661547"/>
            <a:ext cx="8067675" cy="409575"/>
          </a:xfrm>
          <a:prstGeom prst="rect">
            <a:avLst/>
          </a:prstGeom>
          <a:noFill/>
          <a:ln/>
        </p:spPr>
        <p:txBody>
          <a:bodyPr wrap="square" lIns="25400" tIns="25400" rIns="25400" bIns="25400" rtlCol="0" anchor="t">
            <a:normAutofit lnSpcReduction="10000"/>
          </a:bodyPr>
          <a:lstStyle/>
          <a:p>
            <a:pPr marL="0" indent="0" algn="l">
              <a:buNone/>
            </a:pPr>
            <a:r>
              <a:rPr lang="en-US" sz="2400" b="1" dirty="0">
                <a:solidFill>
                  <a:srgbClr val="063D22"/>
                </a:solidFill>
                <a:latin typeface="Arial" pitchFamily="34" charset="0"/>
                <a:ea typeface="Arial" pitchFamily="34" charset="-122"/>
                <a:cs typeface="Arial" pitchFamily="34" charset="-120"/>
              </a:rPr>
              <a:t>Monitor fairness &amp; drift</a:t>
            </a:r>
            <a:endParaRPr lang="en-US" sz="2400" dirty="0"/>
          </a:p>
        </p:txBody>
      </p:sp>
      <p:sp>
        <p:nvSpPr>
          <p:cNvPr id="20" name="Text 18"/>
          <p:cNvSpPr/>
          <p:nvPr/>
        </p:nvSpPr>
        <p:spPr>
          <a:xfrm>
            <a:off x="9639300" y="7128272"/>
            <a:ext cx="7554278" cy="756196"/>
          </a:xfrm>
          <a:prstGeom prst="rect">
            <a:avLst/>
          </a:prstGeom>
          <a:noFill/>
          <a:ln/>
        </p:spPr>
        <p:txBody>
          <a:bodyPr wrap="square" lIns="25400" tIns="25400" rIns="25400" bIns="25400" rtlCol="0" anchor="t">
            <a:normAutofit fontScale="92500" lnSpcReduction="20000"/>
          </a:bodyPr>
          <a:lstStyle/>
          <a:p>
            <a:pPr marL="0" indent="0" algn="l">
              <a:lnSpc>
                <a:spcPct val="145000"/>
              </a:lnSpc>
              <a:buNone/>
            </a:pPr>
            <a:r>
              <a:rPr lang="en-US" sz="1950" dirty="0">
                <a:solidFill>
                  <a:srgbClr val="5C7268"/>
                </a:solidFill>
                <a:latin typeface="Arial" pitchFamily="34" charset="0"/>
                <a:ea typeface="Arial" pitchFamily="34" charset="-122"/>
                <a:cs typeface="Arial" pitchFamily="34" charset="-120"/>
              </a:rPr>
              <a:t>Keep checking for bias and for months that look different from training, then retrain.</a:t>
            </a:r>
            <a:endParaRPr lang="en-US" sz="1950" dirty="0"/>
          </a:p>
        </p:txBody>
      </p:sp>
      <p:sp>
        <p:nvSpPr>
          <p:cNvPr id="21" name="Shape 19"/>
          <p:cNvSpPr/>
          <p:nvPr/>
        </p:nvSpPr>
        <p:spPr>
          <a:xfrm>
            <a:off x="952500" y="9239250"/>
            <a:ext cx="16383000" cy="9525"/>
          </a:xfrm>
          <a:prstGeom prst="rect">
            <a:avLst/>
          </a:prstGeom>
          <a:solidFill>
            <a:srgbClr val="D2E6DD"/>
          </a:solidFill>
          <a:ln/>
        </p:spPr>
        <p:txBody>
          <a:bodyPr/>
          <a:lstStyle/>
          <a:p>
            <a:endParaRPr lang="en-GB"/>
          </a:p>
        </p:txBody>
      </p:sp>
      <p:sp>
        <p:nvSpPr>
          <p:cNvPr id="22" name="Text 20"/>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team roadmap</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952500" y="1912218"/>
            <a:ext cx="16383000" cy="19050"/>
          </a:xfrm>
          <a:prstGeom prst="rect">
            <a:avLst/>
          </a:prstGeom>
          <a:solidFill>
            <a:srgbClr val="1A7A57"/>
          </a:solidFill>
          <a:ln/>
        </p:spPr>
        <p:txBody>
          <a:bodyPr/>
          <a:lstStyle/>
          <a:p>
            <a:pPr algn="l"/>
            <a:endParaRPr/>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13 · KEY CODE</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code behind the method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pPr algn="l"/>
            <a:endParaRPr/>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src/model_v10.py · full notebook in repo</a:t>
            </a:r>
            <a:endParaRPr lang="en-US" sz="1800" dirty="0"/>
          </a:p>
        </p:txBody>
      </p:sp>
      <p:sp>
        <p:nvSpPr>
          <p:cNvPr id="22" name="TextBox 21"/>
          <p:cNvSpPr txBox="1"/>
          <p:nvPr/>
        </p:nvSpPr>
        <p:spPr>
          <a:xfrm>
            <a:off x="950976" y="2395728"/>
            <a:ext cx="10058400" cy="365760"/>
          </a:xfrm>
          <a:prstGeom prst="rect">
            <a:avLst/>
          </a:prstGeom>
          <a:noFill/>
        </p:spPr>
        <p:txBody>
          <a:bodyPr wrap="none">
            <a:spAutoFit/>
          </a:bodyPr>
          <a:lstStyle/>
          <a:p>
            <a:r>
              <a:rPr sz="2100" b="1">
                <a:solidFill>
                  <a:srgbClr val="063D22"/>
                </a:solidFill>
                <a:latin typeface="Arial"/>
              </a:rPr>
              <a:t>Catching the planted leak</a:t>
            </a:r>
          </a:p>
        </p:txBody>
      </p:sp>
      <p:sp>
        <p:nvSpPr>
          <p:cNvPr id="23" name="Rounded Rectangle 22"/>
          <p:cNvSpPr/>
          <p:nvPr/>
        </p:nvSpPr>
        <p:spPr>
          <a:xfrm>
            <a:off x="950976" y="2807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tr_op = train.analyst_opinion.map(approval_rate)</a:t>
            </a:r>
          </a:p>
          <a:p>
            <a:pPr algn="l">
              <a:spcAft>
                <a:spcPts val="400"/>
              </a:spcAft>
            </a:pPr>
            <a:r>
              <a:rPr sz="1500">
                <a:solidFill>
                  <a:srgbClr val="14533B"/>
                </a:solidFill>
                <a:latin typeface="Courier New"/>
              </a:rPr>
              <a:t>train.internal_code.corr(tr_op)</a:t>
            </a:r>
            <a:r>
              <a:rPr sz="1500">
                <a:solidFill>
                  <a:srgbClr val="8A9A93"/>
                </a:solidFill>
                <a:latin typeface="Courier New"/>
              </a:rPr>
              <a:t>   # +0.46  real signal</a:t>
            </a:r>
          </a:p>
          <a:p>
            <a:pPr algn="l">
              <a:spcAft>
                <a:spcPts val="400"/>
              </a:spcAft>
            </a:pPr>
            <a:r>
              <a:rPr sz="1500">
                <a:solidFill>
                  <a:srgbClr val="14533B"/>
                </a:solidFill>
                <a:latin typeface="Courier New"/>
              </a:rPr>
              <a:t>test.internal_code.corr(te_op)</a:t>
            </a:r>
            <a:r>
              <a:rPr sz="1500">
                <a:solidFill>
                  <a:srgbClr val="8A9A93"/>
                </a:solidFill>
                <a:latin typeface="Courier New"/>
              </a:rPr>
              <a:t>    # -0.02  noise -&gt; DROP</a:t>
            </a:r>
          </a:p>
        </p:txBody>
      </p:sp>
      <p:sp>
        <p:nvSpPr>
          <p:cNvPr id="24" name="TextBox 23"/>
          <p:cNvSpPr txBox="1"/>
          <p:nvPr/>
        </p:nvSpPr>
        <p:spPr>
          <a:xfrm>
            <a:off x="11338560" y="2852928"/>
            <a:ext cx="6400800" cy="1371600"/>
          </a:xfrm>
          <a:prstGeom prst="rect">
            <a:avLst/>
          </a:prstGeom>
          <a:noFill/>
        </p:spPr>
        <p:txBody>
          <a:bodyPr wrap="square">
            <a:spAutoFit/>
          </a:bodyPr>
          <a:lstStyle/>
          <a:p>
            <a:r>
              <a:rPr sz="1700">
                <a:solidFill>
                  <a:srgbClr val="5C7268"/>
                </a:solidFill>
                <a:latin typeface="Arial"/>
              </a:rPr>
              <a:t>The column that predicts in training is random noise in test — proof it was scrambled on purpose.</a:t>
            </a:r>
          </a:p>
        </p:txBody>
      </p:sp>
      <p:sp>
        <p:nvSpPr>
          <p:cNvPr id="25" name="TextBox 24"/>
          <p:cNvSpPr txBox="1"/>
          <p:nvPr/>
        </p:nvSpPr>
        <p:spPr>
          <a:xfrm>
            <a:off x="950976" y="4681728"/>
            <a:ext cx="10058400" cy="365760"/>
          </a:xfrm>
          <a:prstGeom prst="rect">
            <a:avLst/>
          </a:prstGeom>
          <a:noFill/>
        </p:spPr>
        <p:txBody>
          <a:bodyPr wrap="none">
            <a:spAutoFit/>
          </a:bodyPr>
          <a:lstStyle/>
          <a:p>
            <a:r>
              <a:rPr sz="2100" b="1">
                <a:solidFill>
                  <a:srgbClr val="063D22"/>
                </a:solidFill>
                <a:latin typeface="Arial"/>
              </a:rPr>
              <a:t>Fixing the legacy mess</a:t>
            </a:r>
          </a:p>
        </p:txBody>
      </p:sp>
      <p:sp>
        <p:nvSpPr>
          <p:cNvPr id="26" name="Rounded Rectangle 25"/>
          <p:cNvSpPr/>
          <p:nvPr/>
        </p:nvSpPr>
        <p:spPr>
          <a:xfrm>
            <a:off x="950976" y="5093208"/>
            <a:ext cx="9692640" cy="1344168"/>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ann_income = np.where(inc &lt; 700, inc*1000, inc)</a:t>
            </a:r>
            <a:r>
              <a:rPr sz="1500">
                <a:solidFill>
                  <a:srgbClr val="8A9A93"/>
                </a:solidFill>
                <a:latin typeface="Courier New"/>
              </a:rPr>
              <a:t>  # units</a:t>
            </a:r>
          </a:p>
          <a:p>
            <a:pPr algn="l">
              <a:spcAft>
                <a:spcPts val="400"/>
              </a:spcAft>
            </a:pPr>
            <a:r>
              <a:rPr sz="1500">
                <a:solidFill>
                  <a:srgbClr val="14533B"/>
                </a:solidFill>
                <a:latin typeface="Courier New"/>
              </a:rPr>
              <a:t>risk12 = risk_1.fillna(risk_2)</a:t>
            </a:r>
            <a:r>
              <a:rPr sz="1500">
                <a:solidFill>
                  <a:srgbClr val="8A9A93"/>
                </a:solidFill>
                <a:latin typeface="Courier New"/>
              </a:rPr>
              <a:t>                  # r1 == r2</a:t>
            </a:r>
          </a:p>
          <a:p>
            <a:pPr algn="l">
              <a:spcAft>
                <a:spcPts val="400"/>
              </a:spcAft>
            </a:pPr>
            <a:r>
              <a:rPr sz="1500">
                <a:solidFill>
                  <a:srgbClr val="14533B"/>
                </a:solidFill>
                <a:latin typeface="Courier New"/>
              </a:rPr>
              <a:t>risk_dev = (risk - 55).abs()</a:t>
            </a:r>
            <a:r>
              <a:rPr sz="1500">
                <a:solidFill>
                  <a:srgbClr val="8A9A93"/>
                </a:solidFill>
                <a:latin typeface="Courier New"/>
              </a:rPr>
              <a:t>                    # inverted-U</a:t>
            </a:r>
          </a:p>
        </p:txBody>
      </p:sp>
      <p:sp>
        <p:nvSpPr>
          <p:cNvPr id="27" name="TextBox 26"/>
          <p:cNvSpPr txBox="1"/>
          <p:nvPr/>
        </p:nvSpPr>
        <p:spPr>
          <a:xfrm>
            <a:off x="11338560" y="5138928"/>
            <a:ext cx="6400800" cy="1371600"/>
          </a:xfrm>
          <a:prstGeom prst="rect">
            <a:avLst/>
          </a:prstGeom>
          <a:noFill/>
        </p:spPr>
        <p:txBody>
          <a:bodyPr wrap="square">
            <a:spAutoFit/>
          </a:bodyPr>
          <a:lstStyle/>
          <a:p>
            <a:r>
              <a:rPr sz="1700">
                <a:solidFill>
                  <a:srgbClr val="5C7268"/>
                </a:solidFill>
                <a:latin typeface="Arial"/>
              </a:rPr>
              <a:t>Three of the highest-value fixes: unit rescaling, one duplicate column, and the risk-shape feature.</a:t>
            </a:r>
          </a:p>
        </p:txBody>
      </p:sp>
      <p:sp>
        <p:nvSpPr>
          <p:cNvPr id="28" name="TextBox 27"/>
          <p:cNvSpPr txBox="1"/>
          <p:nvPr/>
        </p:nvSpPr>
        <p:spPr>
          <a:xfrm>
            <a:off x="950976" y="6967728"/>
            <a:ext cx="10058400" cy="365760"/>
          </a:xfrm>
          <a:prstGeom prst="rect">
            <a:avLst/>
          </a:prstGeom>
          <a:noFill/>
        </p:spPr>
        <p:txBody>
          <a:bodyPr wrap="none">
            <a:spAutoFit/>
          </a:bodyPr>
          <a:lstStyle/>
          <a:p>
            <a:r>
              <a:rPr sz="2100" b="1">
                <a:solidFill>
                  <a:srgbClr val="063D22"/>
                </a:solidFill>
                <a:latin typeface="Arial"/>
              </a:rPr>
              <a:t>Honest validation + robust cutoff</a:t>
            </a:r>
          </a:p>
        </p:txBody>
      </p:sp>
      <p:sp>
        <p:nvSpPr>
          <p:cNvPr id="29" name="Rounded Rectangle 28"/>
          <p:cNvSpPr/>
          <p:nvPr/>
        </p:nvSpPr>
        <p:spPr>
          <a:xfrm>
            <a:off x="950976" y="7379208"/>
            <a:ext cx="9692640" cy="1033272"/>
          </a:xfrm>
          <a:prstGeom prst="roundRect">
            <a:avLst/>
          </a:prstGeom>
          <a:solidFill>
            <a:srgbClr val="EAF3EF"/>
          </a:solidFill>
          <a:ln>
            <a:noFill/>
          </a:ln>
          <a:effectLst/>
        </p:spPr>
        <p:style>
          <a:lnRef idx="1">
            <a:schemeClr val="accent1"/>
          </a:lnRef>
          <a:fillRef idx="3">
            <a:schemeClr val="accent1"/>
          </a:fillRef>
          <a:effectRef idx="2">
            <a:schemeClr val="accent1"/>
          </a:effectRef>
          <a:fontRef idx="minor">
            <a:schemeClr val="lt1"/>
          </a:fontRef>
        </p:style>
        <p:txBody>
          <a:bodyPr wrap="square" lIns="228600" tIns="137160" rIns="137160" bIns="109728" rtlCol="0" anchor="ctr"/>
          <a:lstStyle/>
          <a:p>
            <a:pPr algn="l">
              <a:spcAft>
                <a:spcPts val="400"/>
              </a:spcAft>
            </a:pPr>
            <a:r>
              <a:rPr sz="1500">
                <a:solidFill>
                  <a:srgbClr val="14533B"/>
                </a:solidFill>
                <a:latin typeface="Courier New"/>
              </a:rPr>
              <a:t>oof[val] = model.predict_proba(X.iloc[val])[:,1]</a:t>
            </a:r>
            <a:r>
              <a:rPr sz="1500">
                <a:solidFill>
                  <a:srgbClr val="8A9A93"/>
                </a:solidFill>
                <a:latin typeface="Courier New"/>
              </a:rPr>
              <a:t>  # 5-fold OOF</a:t>
            </a:r>
          </a:p>
          <a:p>
            <a:pPr algn="l">
              <a:spcAft>
                <a:spcPts val="400"/>
              </a:spcAft>
            </a:pPr>
            <a:r>
              <a:rPr sz="1500">
                <a:solidFill>
                  <a:srgbClr val="14533B"/>
                </a:solidFill>
                <a:latin typeface="Courier New"/>
              </a:rPr>
              <a:t>t = thresholds[acc.argsort()[-6:]].mean()</a:t>
            </a:r>
            <a:r>
              <a:rPr sz="1500">
                <a:solidFill>
                  <a:srgbClr val="8A9A93"/>
                </a:solidFill>
                <a:latin typeface="Courier New"/>
              </a:rPr>
              <a:t>         # smooth cutoff</a:t>
            </a:r>
          </a:p>
        </p:txBody>
      </p:sp>
      <p:sp>
        <p:nvSpPr>
          <p:cNvPr id="30" name="TextBox 29"/>
          <p:cNvSpPr txBox="1"/>
          <p:nvPr/>
        </p:nvSpPr>
        <p:spPr>
          <a:xfrm>
            <a:off x="11338560" y="7424928"/>
            <a:ext cx="6400800" cy="1371600"/>
          </a:xfrm>
          <a:prstGeom prst="rect">
            <a:avLst/>
          </a:prstGeom>
          <a:noFill/>
        </p:spPr>
        <p:txBody>
          <a:bodyPr wrap="square">
            <a:spAutoFit/>
          </a:bodyPr>
          <a:lstStyle/>
          <a:p>
            <a:r>
              <a:rPr sz="1700">
                <a:solidFill>
                  <a:srgbClr val="5C7268"/>
                </a:solidFill>
                <a:latin typeface="Arial"/>
              </a:rPr>
              <a:t>Every row scored out-of-fold; the decision cutoff is averaged over the top-1% to avoid overfitting noise.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1A7A57"/>
        </a:solidFill>
        <a:effectLst/>
      </p:bgPr>
    </p:bg>
    <p:spTree>
      <p:nvGrpSpPr>
        <p:cNvPr id="1" name=""/>
        <p:cNvGrpSpPr/>
        <p:nvPr/>
      </p:nvGrpSpPr>
      <p:grpSpPr>
        <a:xfrm>
          <a:off x="0" y="0"/>
          <a:ext cx="0" cy="0"/>
          <a:chOff x="0" y="0"/>
          <a:chExt cx="0" cy="0"/>
        </a:xfrm>
      </p:grpSpPr>
      <p:sp>
        <p:nvSpPr>
          <p:cNvPr id="2" name="Text 0"/>
          <p:cNvSpPr/>
          <p:nvPr/>
        </p:nvSpPr>
        <p:spPr>
          <a:xfrm>
            <a:off x="990600" y="876300"/>
            <a:ext cx="1793748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B2E0D4"/>
                </a:solidFill>
                <a:latin typeface="Courier New" pitchFamily="34" charset="0"/>
                <a:ea typeface="Courier New" pitchFamily="34" charset="-122"/>
                <a:cs typeface="Courier New" pitchFamily="34" charset="-120"/>
              </a:rPr>
              <a:t>14 · QUESTIONS</a:t>
            </a:r>
            <a:endParaRPr lang="en-US" sz="1800" dirty="0"/>
          </a:p>
        </p:txBody>
      </p:sp>
      <p:sp>
        <p:nvSpPr>
          <p:cNvPr id="3" name="Text 1"/>
          <p:cNvSpPr/>
          <p:nvPr/>
        </p:nvSpPr>
        <p:spPr>
          <a:xfrm>
            <a:off x="990600" y="3398044"/>
            <a:ext cx="17937480" cy="1028700"/>
          </a:xfrm>
          <a:prstGeom prst="rect">
            <a:avLst/>
          </a:prstGeom>
          <a:noFill/>
          <a:ln/>
        </p:spPr>
        <p:txBody>
          <a:bodyPr wrap="square" lIns="25400" tIns="25400" rIns="25400" bIns="25400" rtlCol="0" anchor="t">
            <a:normAutofit fontScale="92500" lnSpcReduction="20000"/>
          </a:bodyPr>
          <a:lstStyle/>
          <a:p>
            <a:pPr marL="0" indent="0" algn="l">
              <a:lnSpc>
                <a:spcPct val="100000"/>
              </a:lnSpc>
              <a:buNone/>
            </a:pPr>
            <a:r>
              <a:rPr lang="en-US" sz="7800" b="1" dirty="0">
                <a:solidFill>
                  <a:srgbClr val="FFFFFF"/>
                </a:solidFill>
                <a:latin typeface="Georgia" pitchFamily="34" charset="0"/>
                <a:ea typeface="Georgia" pitchFamily="34" charset="-122"/>
                <a:cs typeface="Georgia" pitchFamily="34" charset="-120"/>
              </a:rPr>
              <a:t>Thank you.</a:t>
            </a:r>
            <a:endParaRPr lang="en-US" sz="7800" dirty="0"/>
          </a:p>
        </p:txBody>
      </p:sp>
      <p:sp>
        <p:nvSpPr>
          <p:cNvPr id="4" name="Text 2"/>
          <p:cNvSpPr/>
          <p:nvPr/>
        </p:nvSpPr>
        <p:spPr>
          <a:xfrm>
            <a:off x="990600" y="4617244"/>
            <a:ext cx="17937480" cy="409575"/>
          </a:xfrm>
          <a:prstGeom prst="rect">
            <a:avLst/>
          </a:prstGeom>
          <a:noFill/>
          <a:ln/>
        </p:spPr>
        <p:txBody>
          <a:bodyPr wrap="square" lIns="25400" tIns="25400" rIns="25400" bIns="25400" rtlCol="0" anchor="t">
            <a:normAutofit lnSpcReduction="10000"/>
          </a:bodyPr>
          <a:lstStyle/>
          <a:p>
            <a:pPr marL="0" indent="0" algn="l">
              <a:buNone/>
            </a:pPr>
            <a:r>
              <a:rPr lang="en-US" sz="2550" dirty="0">
                <a:solidFill>
                  <a:srgbClr val="B2E0D4"/>
                </a:solidFill>
                <a:latin typeface="Arial" pitchFamily="34" charset="0"/>
                <a:ea typeface="Arial" pitchFamily="34" charset="-122"/>
                <a:cs typeface="Arial" pitchFamily="34" charset="-120"/>
              </a:rPr>
              <a:t>We’re happy to take questions.</a:t>
            </a:r>
            <a:endParaRPr lang="en-US" sz="2550" dirty="0"/>
          </a:p>
        </p:txBody>
      </p:sp>
      <p:sp>
        <p:nvSpPr>
          <p:cNvPr id="5" name="Shape 3"/>
          <p:cNvSpPr/>
          <p:nvPr/>
        </p:nvSpPr>
        <p:spPr>
          <a:xfrm>
            <a:off x="990600" y="5522119"/>
            <a:ext cx="3759175" cy="19050"/>
          </a:xfrm>
          <a:prstGeom prst="rect">
            <a:avLst/>
          </a:prstGeom>
          <a:solidFill>
            <a:srgbClr val="B2E0D4"/>
          </a:solidFill>
          <a:ln/>
        </p:spPr>
        <p:txBody>
          <a:bodyPr/>
          <a:lstStyle/>
          <a:p>
            <a:endParaRPr/>
          </a:p>
        </p:txBody>
      </p:sp>
      <p:sp>
        <p:nvSpPr>
          <p:cNvPr id="6" name="Text 4"/>
          <p:cNvSpPr/>
          <p:nvPr/>
        </p:nvSpPr>
        <p:spPr>
          <a:xfrm>
            <a:off x="990600"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Built clean</a:t>
            </a:r>
            <a:endParaRPr lang="en-US" sz="1950" dirty="0"/>
          </a:p>
        </p:txBody>
      </p:sp>
      <p:sp>
        <p:nvSpPr>
          <p:cNvPr id="7" name="Text 5"/>
          <p:cNvSpPr/>
          <p:nvPr/>
        </p:nvSpPr>
        <p:spPr>
          <a:xfrm>
            <a:off x="990600" y="6088856"/>
            <a:ext cx="3871950" cy="704850"/>
          </a:xfrm>
          <a:prstGeom prst="rect">
            <a:avLst/>
          </a:prstGeom>
          <a:noFill/>
          <a:ln/>
        </p:spPr>
        <p:txBody>
          <a:bodyPr wrap="square" lIns="25400" tIns="25400" rIns="25400" bIns="25400" rtlCol="0" anchor="t">
            <a:normAutofit/>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no planted trap, no protected data.</a:t>
            </a:r>
            <a:endParaRPr lang="en-US" sz="1875" dirty="0"/>
          </a:p>
        </p:txBody>
      </p:sp>
      <p:sp>
        <p:nvSpPr>
          <p:cNvPr id="8" name="Shape 6"/>
          <p:cNvSpPr/>
          <p:nvPr/>
        </p:nvSpPr>
        <p:spPr>
          <a:xfrm>
            <a:off x="5016475" y="5522119"/>
            <a:ext cx="3759250" cy="19050"/>
          </a:xfrm>
          <a:prstGeom prst="rect">
            <a:avLst/>
          </a:prstGeom>
          <a:solidFill>
            <a:srgbClr val="B2E0D4"/>
          </a:solidFill>
          <a:ln/>
        </p:spPr>
        <p:txBody>
          <a:bodyPr/>
          <a:lstStyle/>
          <a:p>
            <a:endParaRPr/>
          </a:p>
        </p:txBody>
      </p:sp>
      <p:sp>
        <p:nvSpPr>
          <p:cNvPr id="9" name="Text 7"/>
          <p:cNvSpPr/>
          <p:nvPr/>
        </p:nvSpPr>
        <p:spPr>
          <a:xfrm>
            <a:off x="5016475" y="5712619"/>
            <a:ext cx="4135175"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caught the traps first</a:t>
            </a:r>
            <a:endParaRPr lang="en-US" sz="1950" dirty="0"/>
          </a:p>
        </p:txBody>
      </p:sp>
      <p:sp>
        <p:nvSpPr>
          <p:cNvPr id="10" name="Text 8"/>
          <p:cNvSpPr/>
          <p:nvPr/>
        </p:nvSpPr>
        <p:spPr>
          <a:xfrm>
            <a:off x="5016475" y="6088856"/>
            <a:ext cx="3872027" cy="704850"/>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forensics mattered more than the algorithm.</a:t>
            </a:r>
            <a:endParaRPr lang="en-US" sz="1875" dirty="0"/>
          </a:p>
        </p:txBody>
      </p:sp>
      <p:sp>
        <p:nvSpPr>
          <p:cNvPr id="11" name="Shape 9"/>
          <p:cNvSpPr/>
          <p:nvPr/>
        </p:nvSpPr>
        <p:spPr>
          <a:xfrm>
            <a:off x="9042425" y="5522119"/>
            <a:ext cx="3759175" cy="19050"/>
          </a:xfrm>
          <a:prstGeom prst="rect">
            <a:avLst/>
          </a:prstGeom>
          <a:solidFill>
            <a:srgbClr val="B2E0D4"/>
          </a:solidFill>
          <a:ln/>
        </p:spPr>
        <p:txBody>
          <a:bodyPr/>
          <a:lstStyle/>
          <a:p>
            <a:endParaRPr/>
          </a:p>
        </p:txBody>
      </p:sp>
      <p:sp>
        <p:nvSpPr>
          <p:cNvPr id="12" name="Text 10"/>
          <p:cNvSpPr/>
          <p:nvPr/>
        </p:nvSpPr>
        <p:spPr>
          <a:xfrm>
            <a:off x="9042425" y="5712619"/>
            <a:ext cx="4135093" cy="338138"/>
          </a:xfrm>
          <a:prstGeom prst="rect">
            <a:avLst/>
          </a:prstGeom>
          <a:noFill/>
          <a:ln/>
        </p:spPr>
        <p:txBody>
          <a:bodyPr wrap="square" lIns="25400" tIns="25400" rIns="25400" bIns="25400" rtlCol="0" anchor="t">
            <a:normAutofit lnSpcReduction="10000"/>
          </a:bodyPr>
          <a:lstStyle/>
          <a:p>
            <a:pPr marL="0" indent="0" algn="l">
              <a:buNone/>
            </a:pPr>
            <a:r>
              <a:rPr lang="en-US" sz="1950" b="1" dirty="0">
                <a:solidFill>
                  <a:srgbClr val="FFFFFF"/>
                </a:solidFill>
                <a:latin typeface="Arial" pitchFamily="34" charset="0"/>
                <a:ea typeface="Arial" pitchFamily="34" charset="-122"/>
                <a:cs typeface="Arial" pitchFamily="34" charset="-120"/>
              </a:rPr>
              <a:t>We measured our ethics</a:t>
            </a:r>
            <a:endParaRPr lang="en-US" sz="1950" dirty="0"/>
          </a:p>
        </p:txBody>
      </p:sp>
      <p:sp>
        <p:nvSpPr>
          <p:cNvPr id="13" name="Text 11"/>
          <p:cNvSpPr/>
          <p:nvPr/>
        </p:nvSpPr>
        <p:spPr>
          <a:xfrm>
            <a:off x="9042425" y="6088856"/>
            <a:ext cx="4135093" cy="371475"/>
          </a:xfrm>
          <a:prstGeom prst="rect">
            <a:avLst/>
          </a:prstGeom>
          <a:noFill/>
          <a:ln/>
        </p:spPr>
        <p:txBody>
          <a:bodyPr wrap="square" lIns="25400" tIns="25400" rIns="25400" bIns="25400" rtlCol="0" anchor="t">
            <a:normAutofit fontScale="92500" lnSpcReduction="10000"/>
          </a:bodyPr>
          <a:lstStyle/>
          <a:p>
            <a:pPr marL="0" indent="0" algn="l">
              <a:lnSpc>
                <a:spcPct val="140000"/>
              </a:lnSpc>
              <a:buNone/>
            </a:pPr>
            <a:r>
              <a:rPr lang="en-US" sz="1875" dirty="0">
                <a:solidFill>
                  <a:srgbClr val="E0F7F1"/>
                </a:solidFill>
                <a:latin typeface="Arial" pitchFamily="34" charset="0"/>
                <a:ea typeface="Arial" pitchFamily="34" charset="-122"/>
                <a:cs typeface="Arial" pitchFamily="34" charset="-120"/>
              </a:rPr>
              <a:t>refusing +0.7pt of pure bias.</a:t>
            </a:r>
            <a:endParaRPr lang="en-US" sz="1875" dirty="0"/>
          </a:p>
        </p:txBody>
      </p:sp>
      <p:sp>
        <p:nvSpPr>
          <p:cNvPr id="14" name="Shape 12"/>
          <p:cNvSpPr/>
          <p:nvPr/>
        </p:nvSpPr>
        <p:spPr>
          <a:xfrm>
            <a:off x="990600" y="9020175"/>
            <a:ext cx="16306800" cy="9525"/>
          </a:xfrm>
          <a:prstGeom prst="rect">
            <a:avLst/>
          </a:prstGeom>
          <a:solidFill>
            <a:srgbClr val="E0F7F1">
              <a:alpha val="25000"/>
            </a:srgbClr>
          </a:solidFill>
          <a:ln/>
        </p:spPr>
        <p:txBody>
          <a:bodyPr/>
          <a:lstStyle/>
          <a:p>
            <a:endParaRPr/>
          </a:p>
        </p:txBody>
      </p:sp>
      <p:sp>
        <p:nvSpPr>
          <p:cNvPr id="15" name="Text 13"/>
          <p:cNvSpPr/>
          <p:nvPr/>
        </p:nvSpPr>
        <p:spPr>
          <a:xfrm>
            <a:off x="990600" y="9277350"/>
            <a:ext cx="4676730" cy="361950"/>
          </a:xfrm>
          <a:prstGeom prst="rect">
            <a:avLst/>
          </a:prstGeom>
          <a:noFill/>
          <a:ln/>
        </p:spPr>
        <p:txBody>
          <a:bodyPr wrap="square" lIns="25400" tIns="25400" rIns="25400" bIns="25400" rtlCol="0" anchor="t">
            <a:normAutofit lnSpcReduction="10000"/>
          </a:bodyPr>
          <a:lstStyle/>
          <a:p>
            <a:pPr marL="0" indent="0" algn="l">
              <a:buNone/>
            </a:pPr>
            <a:r>
              <a:rPr lang="en-US" sz="2100" dirty="0">
                <a:solidFill>
                  <a:srgbClr val="FFFFFF"/>
                </a:solidFill>
                <a:latin typeface="Arial" pitchFamily="34" charset="0"/>
                <a:ea typeface="Arial" pitchFamily="34" charset="-122"/>
                <a:cs typeface="Arial" pitchFamily="34" charset="-120"/>
              </a:rPr>
              <a:t>Gianluca Bavelloni · Riwad Irshied</a:t>
            </a:r>
            <a:endParaRPr lang="en-US" sz="2100" dirty="0"/>
          </a:p>
        </p:txBody>
      </p:sp>
      <p:sp>
        <p:nvSpPr>
          <p:cNvPr id="16" name="Text 14"/>
          <p:cNvSpPr/>
          <p:nvPr/>
        </p:nvSpPr>
        <p:spPr>
          <a:xfrm>
            <a:off x="11535742" y="9310688"/>
            <a:ext cx="6337823"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B2E0D4"/>
                </a:solidFill>
                <a:latin typeface="Courier New" pitchFamily="34" charset="0"/>
                <a:ea typeface="Courier New" pitchFamily="34" charset="-122"/>
                <a:cs typeface="Courier New" pitchFamily="34" charset="-120"/>
              </a:rPr>
              <a:t>github.com/GianlucaBave/final-data-finance</a:t>
            </a:r>
            <a:endParaRPr lang="en-US" sz="18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hape 0"/>
          <p:cNvSpPr/>
          <p:nvPr/>
        </p:nvSpPr>
        <p:spPr>
          <a:xfrm>
            <a:off x="952500" y="1912218"/>
            <a:ext cx="16383000" cy="19050"/>
          </a:xfrm>
          <a:prstGeom prst="rect">
            <a:avLst/>
          </a:prstGeom>
          <a:solidFill>
            <a:srgbClr val="1A7A57"/>
          </a:solidFill>
          <a:ln/>
        </p:spPr>
        <p:txBody>
          <a:bodyPr/>
          <a:lstStyle/>
          <a:p>
            <a:endParaRPr lang="en-GB"/>
          </a:p>
        </p:txBody>
      </p:sp>
      <p:sp>
        <p:nvSpPr>
          <p:cNvPr id="3" name="Text 1"/>
          <p:cNvSpPr/>
          <p:nvPr/>
        </p:nvSpPr>
        <p:spPr>
          <a:xfrm>
            <a:off x="952500" y="742950"/>
            <a:ext cx="1802130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kern="0" spc="225" dirty="0">
                <a:solidFill>
                  <a:srgbClr val="007A33"/>
                </a:solidFill>
                <a:latin typeface="Courier New" pitchFamily="34" charset="0"/>
                <a:ea typeface="Courier New" pitchFamily="34" charset="-122"/>
                <a:cs typeface="Courier New" pitchFamily="34" charset="-120"/>
              </a:rPr>
              <a:t>09 · FEATURES WE BUILT</a:t>
            </a:r>
            <a:endParaRPr lang="en-US" sz="1800" dirty="0"/>
          </a:p>
        </p:txBody>
      </p:sp>
      <p:sp>
        <p:nvSpPr>
          <p:cNvPr id="4" name="Text 2"/>
          <p:cNvSpPr/>
          <p:nvPr/>
        </p:nvSpPr>
        <p:spPr>
          <a:xfrm>
            <a:off x="952500" y="1152525"/>
            <a:ext cx="18021300" cy="550143"/>
          </a:xfrm>
          <a:prstGeom prst="rect">
            <a:avLst/>
          </a:prstGeom>
          <a:noFill/>
          <a:ln/>
        </p:spPr>
        <p:txBody>
          <a:bodyPr wrap="square" lIns="25400" tIns="25400" rIns="25400" bIns="25400" rtlCol="0" anchor="t">
            <a:normAutofit fontScale="92500" lnSpcReduction="10000"/>
          </a:bodyPr>
          <a:lstStyle/>
          <a:p>
            <a:pPr marL="0" indent="0" algn="l">
              <a:lnSpc>
                <a:spcPct val="112000"/>
              </a:lnSpc>
              <a:buNone/>
            </a:pPr>
            <a:r>
              <a:rPr lang="en-US" sz="3600" b="1" kern="0" spc="-37" dirty="0">
                <a:solidFill>
                  <a:srgbClr val="063D22"/>
                </a:solidFill>
                <a:latin typeface="Arial" pitchFamily="34" charset="0"/>
                <a:ea typeface="Arial" pitchFamily="34" charset="-122"/>
                <a:cs typeface="Arial" pitchFamily="34" charset="-120"/>
              </a:rPr>
              <a:t>The features we engineered</a:t>
            </a:r>
            <a:endParaRPr lang="en-US" sz="3600" dirty="0"/>
          </a:p>
        </p:txBody>
      </p:sp>
      <p:sp>
        <p:nvSpPr>
          <p:cNvPr id="20" name="Shape 18"/>
          <p:cNvSpPr/>
          <p:nvPr/>
        </p:nvSpPr>
        <p:spPr>
          <a:xfrm>
            <a:off x="952500" y="9239250"/>
            <a:ext cx="16383000" cy="9525"/>
          </a:xfrm>
          <a:prstGeom prst="rect">
            <a:avLst/>
          </a:prstGeom>
          <a:solidFill>
            <a:srgbClr val="D2E6DD"/>
          </a:solidFill>
          <a:ln/>
        </p:spPr>
        <p:txBody>
          <a:bodyPr/>
          <a:lstStyle/>
          <a:p>
            <a:endParaRPr lang="en-GB"/>
          </a:p>
        </p:txBody>
      </p:sp>
      <p:sp>
        <p:nvSpPr>
          <p:cNvPr id="21" name="Text 19"/>
          <p:cNvSpPr/>
          <p:nvPr/>
        </p:nvSpPr>
        <p:spPr>
          <a:xfrm>
            <a:off x="952500" y="9458325"/>
            <a:ext cx="16874490" cy="295275"/>
          </a:xfrm>
          <a:prstGeom prst="rect">
            <a:avLst/>
          </a:prstGeom>
          <a:noFill/>
          <a:ln/>
        </p:spPr>
        <p:txBody>
          <a:bodyPr wrap="square" lIns="25400" tIns="25400" rIns="25400" bIns="25400" rtlCol="0" anchor="t">
            <a:normAutofit fontScale="92500" lnSpcReduction="10000"/>
          </a:bodyPr>
          <a:lstStyle/>
          <a:p>
            <a:pPr marL="0" indent="0" algn="l">
              <a:buNone/>
            </a:pPr>
            <a:r>
              <a:rPr lang="en-US" sz="1800" dirty="0">
                <a:solidFill>
                  <a:srgbClr val="5C7268"/>
                </a:solidFill>
                <a:latin typeface="Courier New" pitchFamily="34" charset="0"/>
                <a:ea typeface="Courier New" pitchFamily="34" charset="-122"/>
                <a:cs typeface="Courier New" pitchFamily="34" charset="-120"/>
              </a:rPr>
              <a:t>Source: src/prep.py · engineered features ranked on slide 8</a:t>
            </a:r>
            <a:endParaRPr lang="en-US" sz="1800" dirty="0"/>
          </a:p>
        </p:txBody>
      </p:sp>
      <p:graphicFrame>
        <p:nvGraphicFramePr>
          <p:cNvPr id="22" name="Table 21"/>
          <p:cNvGraphicFramePr>
            <a:graphicFrameLocks noGrp="1"/>
          </p:cNvGraphicFramePr>
          <p:nvPr/>
        </p:nvGraphicFramePr>
        <p:xfrm>
          <a:off x="950976" y="2468880"/>
          <a:ext cx="16367760" cy="6035040"/>
        </p:xfrm>
        <a:graphic>
          <a:graphicData uri="http://schemas.openxmlformats.org/drawingml/2006/table">
            <a:tbl>
              <a:tblPr>
                <a:tableStyleId>{5C22544A-7EE6-4342-B048-85BDC9FD1C3A}</a:tableStyleId>
              </a:tblPr>
              <a:tblGrid>
                <a:gridCol w="3931920"/>
                <a:gridCol w="5943600"/>
                <a:gridCol w="6492240"/>
              </a:tblGrid>
              <a:tr h="754380">
                <a:tc>
                  <a:txBody>
                    <a:bodyPr wrap="square"/>
                    <a:lstStyle/>
                    <a:p>
                      <a:pPr algn="l"/>
                      <a:r>
                        <a:rPr sz="1700" b="1">
                          <a:solidFill>
                            <a:srgbClr val="FFFFFF"/>
                          </a:solidFill>
                          <a:latin typeface="Arial"/>
                        </a:rPr>
                        <a:t>Feature</a:t>
                      </a:r>
                    </a:p>
                  </a:txBody>
                  <a:tcPr anchor="ctr" marL="164592" marT="54864" marB="54864">
                    <a:solidFill>
                      <a:srgbClr val="063D22"/>
                    </a:solidFill>
                  </a:tcPr>
                </a:tc>
                <a:tc>
                  <a:txBody>
                    <a:bodyPr wrap="square"/>
                    <a:lstStyle/>
                    <a:p>
                      <a:pPr algn="l"/>
                      <a:r>
                        <a:rPr sz="1700" b="1">
                          <a:solidFill>
                            <a:srgbClr val="FFFFFF"/>
                          </a:solidFill>
                          <a:latin typeface="Arial"/>
                        </a:rPr>
                        <a:t>How we built it</a:t>
                      </a:r>
                    </a:p>
                  </a:txBody>
                  <a:tcPr anchor="ctr" marL="164592" marT="54864" marB="54864">
                    <a:solidFill>
                      <a:srgbClr val="063D22"/>
                    </a:solidFill>
                  </a:tcPr>
                </a:tc>
                <a:tc>
                  <a:txBody>
                    <a:bodyPr wrap="square"/>
                    <a:lstStyle/>
                    <a:p>
                      <a:pPr algn="l"/>
                      <a:r>
                        <a:rPr sz="1700" b="1">
                          <a:solidFill>
                            <a:srgbClr val="FFFFFF"/>
                          </a:solidFill>
                          <a:latin typeface="Arial"/>
                        </a:rPr>
                        <a:t>Why it helps</a:t>
                      </a:r>
                    </a:p>
                  </a:txBody>
                  <a:tcPr anchor="ctr" marL="164592" marT="54864" marB="54864">
                    <a:solidFill>
                      <a:srgbClr val="063D22"/>
                    </a:solidFill>
                  </a:tcPr>
                </a:tc>
              </a:tr>
              <a:tr h="754380">
                <a:tc>
                  <a:txBody>
                    <a:bodyPr wrap="square"/>
                    <a:lstStyle/>
                    <a:p>
                      <a:pPr algn="l"/>
                      <a:r>
                        <a:rPr sz="1500">
                          <a:solidFill>
                            <a:srgbClr val="14533B"/>
                          </a:solidFill>
                          <a:latin typeface="Courier New"/>
                        </a:rPr>
                        <a:t>risk_mean · risk_max</a:t>
                      </a:r>
                    </a:p>
                  </a:txBody>
                  <a:tcPr anchor="ctr" marL="164592" marT="54864" marB="54864">
                    <a:solidFill>
                      <a:srgbClr val="EAF3EF"/>
                    </a:solidFill>
                  </a:tcPr>
                </a:tc>
                <a:tc>
                  <a:txBody>
                    <a:bodyPr wrap="square"/>
                    <a:lstStyle/>
                    <a:p>
                      <a:pPr algn="l"/>
                      <a:r>
                        <a:rPr sz="1500">
                          <a:solidFill>
                            <a:srgbClr val="14533B"/>
                          </a:solidFill>
                          <a:latin typeface="Courier New"/>
                        </a:rPr>
                        <a:t>mean &amp; max of the two risk indicators</a:t>
                      </a:r>
                    </a:p>
                  </a:txBody>
                  <a:tcPr anchor="ctr" marL="164592" marT="54864" marB="54864">
                    <a:solidFill>
                      <a:srgbClr val="EAF3EF"/>
                    </a:solidFill>
                  </a:tcPr>
                </a:tc>
                <a:tc>
                  <a:txBody>
                    <a:bodyPr wrap="square"/>
                    <a:lstStyle/>
                    <a:p>
                      <a:pPr algn="l"/>
                      <a:r>
                        <a:rPr sz="1500">
                          <a:solidFill>
                            <a:srgbClr val="5C7268"/>
                          </a:solidFill>
                          <a:latin typeface="Arial"/>
                        </a:rPr>
                        <a:t>Combine both risk sources</a:t>
                      </a:r>
                    </a:p>
                  </a:txBody>
                  <a:tcPr anchor="ctr" marL="164592" marT="54864" marB="54864">
                    <a:solidFill>
                      <a:srgbClr val="EAF3EF"/>
                    </a:solidFill>
                  </a:tcPr>
                </a:tc>
              </a:tr>
              <a:tr h="754380">
                <a:tc>
                  <a:txBody>
                    <a:bodyPr wrap="square"/>
                    <a:lstStyle/>
                    <a:p>
                      <a:pPr algn="l"/>
                      <a:r>
                        <a:rPr sz="1500">
                          <a:solidFill>
                            <a:srgbClr val="14533B"/>
                          </a:solidFill>
                          <a:latin typeface="Courier New"/>
                        </a:rPr>
                        <a:t>risk_dev</a:t>
                      </a:r>
                    </a:p>
                  </a:txBody>
                  <a:tcPr anchor="ctr" marL="164592" marT="54864" marB="54864">
                    <a:solidFill>
                      <a:srgbClr val="FFFFFF"/>
                    </a:solidFill>
                  </a:tcPr>
                </a:tc>
                <a:tc>
                  <a:txBody>
                    <a:bodyPr wrap="square"/>
                    <a:lstStyle/>
                    <a:p>
                      <a:pPr algn="l"/>
                      <a:r>
                        <a:rPr sz="1500">
                          <a:solidFill>
                            <a:srgbClr val="14533B"/>
                          </a:solidFill>
                          <a:latin typeface="Courier New"/>
                        </a:rPr>
                        <a:t>distance from the middle:  |risk - 55|</a:t>
                      </a:r>
                    </a:p>
                  </a:txBody>
                  <a:tcPr anchor="ctr" marL="164592" marT="54864" marB="54864">
                    <a:solidFill>
                      <a:srgbClr val="FFFFFF"/>
                    </a:solidFill>
                  </a:tcPr>
                </a:tc>
                <a:tc>
                  <a:txBody>
                    <a:bodyPr wrap="square"/>
                    <a:lstStyle/>
                    <a:p>
                      <a:pPr algn="l"/>
                      <a:r>
                        <a:rPr sz="1500">
                          <a:solidFill>
                            <a:srgbClr val="5C7268"/>
                          </a:solidFill>
                          <a:latin typeface="Arial"/>
                        </a:rPr>
                        <a:t>Turns the risk hump into usable signal</a:t>
                      </a:r>
                    </a:p>
                  </a:txBody>
                  <a:tcPr anchor="ctr" marL="164592" marT="54864" marB="54864">
                    <a:solidFill>
                      <a:srgbClr val="FFFFFF"/>
                    </a:solidFill>
                  </a:tcPr>
                </a:tc>
              </a:tr>
              <a:tr h="754380">
                <a:tc>
                  <a:txBody>
                    <a:bodyPr wrap="square"/>
                    <a:lstStyle/>
                    <a:p>
                      <a:pPr algn="l"/>
                      <a:r>
                        <a:rPr sz="1500">
                          <a:solidFill>
                            <a:srgbClr val="14533B"/>
                          </a:solidFill>
                          <a:latin typeface="Courier New"/>
                        </a:rPr>
                        <a:t>amt_to_income</a:t>
                      </a:r>
                    </a:p>
                  </a:txBody>
                  <a:tcPr anchor="ctr" marL="164592" marT="54864" marB="54864">
                    <a:solidFill>
                      <a:srgbClr val="EAF3EF"/>
                    </a:solidFill>
                  </a:tcPr>
                </a:tc>
                <a:tc>
                  <a:txBody>
                    <a:bodyPr wrap="square"/>
                    <a:lstStyle/>
                    <a:p>
                      <a:pPr algn="l"/>
                      <a:r>
                        <a:rPr sz="1500">
                          <a:solidFill>
                            <a:srgbClr val="14533B"/>
                          </a:solidFill>
                          <a:latin typeface="Courier New"/>
                        </a:rPr>
                        <a:t>amount / (total_income + 1)</a:t>
                      </a:r>
                    </a:p>
                  </a:txBody>
                  <a:tcPr anchor="ctr" marL="164592" marT="54864" marB="54864">
                    <a:solidFill>
                      <a:srgbClr val="EAF3EF"/>
                    </a:solidFill>
                  </a:tcPr>
                </a:tc>
                <a:tc>
                  <a:txBody>
                    <a:bodyPr wrap="square"/>
                    <a:lstStyle/>
                    <a:p>
                      <a:pPr algn="l"/>
                      <a:r>
                        <a:rPr sz="1500">
                          <a:solidFill>
                            <a:srgbClr val="5C7268"/>
                          </a:solidFill>
                          <a:latin typeface="Arial"/>
                        </a:rPr>
                        <a:t>Affordability ratio — a credit standard</a:t>
                      </a:r>
                    </a:p>
                  </a:txBody>
                  <a:tcPr anchor="ctr" marL="164592" marT="54864" marB="54864">
                    <a:solidFill>
                      <a:srgbClr val="EAF3EF"/>
                    </a:solidFill>
                  </a:tcPr>
                </a:tc>
              </a:tr>
              <a:tr h="754380">
                <a:tc>
                  <a:txBody>
                    <a:bodyPr wrap="square"/>
                    <a:lstStyle/>
                    <a:p>
                      <a:pPr algn="l"/>
                      <a:r>
                        <a:rPr sz="1500">
                          <a:solidFill>
                            <a:srgbClr val="14533B"/>
                          </a:solidFill>
                          <a:latin typeface="Courier New"/>
                        </a:rPr>
                        <a:t>total_income · log_income</a:t>
                      </a:r>
                    </a:p>
                  </a:txBody>
                  <a:tcPr anchor="ctr" marL="164592" marT="54864" marB="54864">
                    <a:solidFill>
                      <a:srgbClr val="FFFFFF"/>
                    </a:solidFill>
                  </a:tcPr>
                </a:tc>
                <a:tc>
                  <a:txBody>
                    <a:bodyPr wrap="square"/>
                    <a:lstStyle/>
                    <a:p>
                      <a:pPr algn="l"/>
                      <a:r>
                        <a:rPr sz="1500">
                          <a:solidFill>
                            <a:srgbClr val="14533B"/>
                          </a:solidFill>
                          <a:latin typeface="Courier New"/>
                        </a:rPr>
                        <a:t>ann_income + other_income (log-scaled)</a:t>
                      </a:r>
                    </a:p>
                  </a:txBody>
                  <a:tcPr anchor="ctr" marL="164592" marT="54864" marB="54864">
                    <a:solidFill>
                      <a:srgbClr val="FFFFFF"/>
                    </a:solidFill>
                  </a:tcPr>
                </a:tc>
                <a:tc>
                  <a:txBody>
                    <a:bodyPr wrap="square"/>
                    <a:lstStyle/>
                    <a:p>
                      <a:pPr algn="l"/>
                      <a:r>
                        <a:rPr sz="1500">
                          <a:solidFill>
                            <a:srgbClr val="5C7268"/>
                          </a:solidFill>
                          <a:latin typeface="Arial"/>
                        </a:rPr>
                        <a:t>Real disposable income</a:t>
                      </a:r>
                    </a:p>
                  </a:txBody>
                  <a:tcPr anchor="ctr" marL="164592" marT="54864" marB="54864">
                    <a:solidFill>
                      <a:srgbClr val="FFFFFF"/>
                    </a:solidFill>
                  </a:tcPr>
                </a:tc>
              </a:tr>
              <a:tr h="754380">
                <a:tc>
                  <a:txBody>
                    <a:bodyPr wrap="square"/>
                    <a:lstStyle/>
                    <a:p>
                      <a:pPr algn="l"/>
                      <a:r>
                        <a:rPr sz="1500">
                          <a:solidFill>
                            <a:srgbClr val="14533B"/>
                          </a:solidFill>
                          <a:latin typeface="Courier New"/>
                        </a:rPr>
                        <a:t>credit_z</a:t>
                      </a:r>
                    </a:p>
                  </a:txBody>
                  <a:tcPr anchor="ctr" marL="164592" marT="54864" marB="54864">
                    <a:solidFill>
                      <a:srgbClr val="EAF3EF"/>
                    </a:solidFill>
                  </a:tcPr>
                </a:tc>
                <a:tc>
                  <a:txBody>
                    <a:bodyPr wrap="square"/>
                    <a:lstStyle/>
                    <a:p>
                      <a:pPr algn="l"/>
                      <a:r>
                        <a:rPr sz="1500">
                          <a:solidFill>
                            <a:srgbClr val="14533B"/>
                          </a:solidFill>
                          <a:latin typeface="Courier New"/>
                        </a:rPr>
                        <a:t>3 bureau scores z-scored &amp; merged</a:t>
                      </a:r>
                    </a:p>
                  </a:txBody>
                  <a:tcPr anchor="ctr" marL="164592" marT="54864" marB="54864">
                    <a:solidFill>
                      <a:srgbClr val="EAF3EF"/>
                    </a:solidFill>
                  </a:tcPr>
                </a:tc>
                <a:tc>
                  <a:txBody>
                    <a:bodyPr wrap="square"/>
                    <a:lstStyle/>
                    <a:p>
                      <a:pPr algn="l"/>
                      <a:r>
                        <a:rPr sz="1500">
                          <a:solidFill>
                            <a:srgbClr val="5C7268"/>
                          </a:solidFill>
                          <a:latin typeface="Arial"/>
                        </a:rPr>
                        <a:t>One comparable score from 3 scales</a:t>
                      </a:r>
                    </a:p>
                  </a:txBody>
                  <a:tcPr anchor="ctr" marL="164592" marT="54864" marB="54864">
                    <a:solidFill>
                      <a:srgbClr val="EAF3EF"/>
                    </a:solidFill>
                  </a:tcPr>
                </a:tc>
              </a:tr>
              <a:tr h="754380">
                <a:tc>
                  <a:txBody>
                    <a:bodyPr wrap="square"/>
                    <a:lstStyle/>
                    <a:p>
                      <a:pPr algn="l"/>
                      <a:r>
                        <a:rPr sz="1500">
                          <a:solidFill>
                            <a:srgbClr val="14533B"/>
                          </a:solidFill>
                          <a:latin typeface="Courier New"/>
                        </a:rPr>
                        <a:t>has_score · *_missing</a:t>
                      </a:r>
                    </a:p>
                  </a:txBody>
                  <a:tcPr anchor="ctr" marL="164592" marT="54864" marB="54864">
                    <a:solidFill>
                      <a:srgbClr val="FFFFFF"/>
                    </a:solidFill>
                  </a:tcPr>
                </a:tc>
                <a:tc>
                  <a:txBody>
                    <a:bodyPr wrap="square"/>
                    <a:lstStyle/>
                    <a:p>
                      <a:pPr algn="l"/>
                      <a:r>
                        <a:rPr sz="1500">
                          <a:solidFill>
                            <a:srgbClr val="14533B"/>
                          </a:solidFill>
                          <a:latin typeface="Courier New"/>
                        </a:rPr>
                        <a:t>binary 0/1 flags</a:t>
                      </a:r>
                    </a:p>
                  </a:txBody>
                  <a:tcPr anchor="ctr" marL="164592" marT="54864" marB="54864">
                    <a:solidFill>
                      <a:srgbClr val="FFFFFF"/>
                    </a:solidFill>
                  </a:tcPr>
                </a:tc>
                <a:tc>
                  <a:txBody>
                    <a:bodyPr wrap="square"/>
                    <a:lstStyle/>
                    <a:p>
                      <a:pPr algn="l"/>
                      <a:r>
                        <a:rPr sz="1500">
                          <a:solidFill>
                            <a:srgbClr val="5C7268"/>
                          </a:solidFill>
                          <a:latin typeface="Arial"/>
                        </a:rPr>
                        <a:t>“Value absent” is itself a signal</a:t>
                      </a:r>
                    </a:p>
                  </a:txBody>
                  <a:tcPr anchor="ctr" marL="164592" marT="54864" marB="54864">
                    <a:solidFill>
                      <a:srgbClr val="FFFFFF"/>
                    </a:solidFill>
                  </a:tcPr>
                </a:tc>
              </a:tr>
              <a:tr h="754380">
                <a:tc>
                  <a:txBody>
                    <a:bodyPr wrap="square"/>
                    <a:lstStyle/>
                    <a:p>
                      <a:pPr algn="l"/>
                      <a:r>
                        <a:rPr sz="1500">
                          <a:solidFill>
                            <a:srgbClr val="14533B"/>
                          </a:solidFill>
                          <a:latin typeface="Courier New"/>
                        </a:rPr>
                        <a:t>year · month</a:t>
                      </a:r>
                    </a:p>
                  </a:txBody>
                  <a:tcPr anchor="ctr" marL="164592" marT="54864" marB="54864">
                    <a:solidFill>
                      <a:srgbClr val="EAF3EF"/>
                    </a:solidFill>
                  </a:tcPr>
                </a:tc>
                <a:tc>
                  <a:txBody>
                    <a:bodyPr wrap="square"/>
                    <a:lstStyle/>
                    <a:p>
                      <a:pPr algn="l"/>
                      <a:r>
                        <a:rPr sz="1500">
                          <a:solidFill>
                            <a:srgbClr val="14533B"/>
                          </a:solidFill>
                          <a:latin typeface="Courier New"/>
                        </a:rPr>
                        <a:t>parsed from the date</a:t>
                      </a:r>
                    </a:p>
                  </a:txBody>
                  <a:tcPr anchor="ctr" marL="164592" marT="54864" marB="54864">
                    <a:solidFill>
                      <a:srgbClr val="EAF3EF"/>
                    </a:solidFill>
                  </a:tcPr>
                </a:tc>
                <a:tc>
                  <a:txBody>
                    <a:bodyPr wrap="square"/>
                    <a:lstStyle/>
                    <a:p>
                      <a:pPr algn="l"/>
                      <a:r>
                        <a:rPr sz="1500">
                          <a:solidFill>
                            <a:srgbClr val="5C7268"/>
                          </a:solidFill>
                          <a:latin typeface="Arial"/>
                        </a:rPr>
                        <a:t>Captures the downward 2026 approval trend</a:t>
                      </a:r>
                    </a:p>
                  </a:txBody>
                  <a:tcPr anchor="ctr" marL="164592" marT="54864" marB="54864">
                    <a:solidFill>
                      <a:srgbClr val="EAF3E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868</TotalTime>
  <Words>2298</Words>
  <Application>Microsoft Macintosh PowerPoint</Application>
  <PresentationFormat>Custom</PresentationFormat>
  <Paragraphs>239</Paragraphs>
  <Slides>13</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Courier New</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Irshied, Riwad</cp:lastModifiedBy>
  <cp:revision>2</cp:revision>
  <dcterms:created xsi:type="dcterms:W3CDTF">2026-06-16T18:58:41Z</dcterms:created>
  <dcterms:modified xsi:type="dcterms:W3CDTF">2026-06-17T10:20:04Z</dcterms:modified>
</cp:coreProperties>
</file>