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9" r:id="rId10"/>
    <p:sldId id="264" r:id="rId11"/>
    <p:sldId id="265" r:id="rId12"/>
    <p:sldId id="266" r:id="rId13"/>
    <p:sldId id="268" r:id="rId14"/>
    <p:sldId id="267"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Arial"/>
              </a:rPr>
              <a:t>mean blend</a:t>
            </a:r>
          </a:p>
          <a:p>
            <a:pPr algn="ctr"/>
            <a:r>
              <a:rPr sz="1300" b="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950976" y="4983480"/>
            <a:ext cx="16367759" cy="868680"/>
          </a:xfrm>
          <a:prstGeom prst="roundRect">
            <a:avLst/>
          </a:prstGeom>
          <a:solidFill>
            <a:srgbClr val="F4F8F6"/>
          </a:solidFill>
          <a:ln w="1905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063D22"/>
                </a:solidFill>
                <a:latin typeface="Arial"/>
              </a:rPr>
              <a:t>Pseudo-labeling pass (v8 / v10)</a:t>
            </a:r>
          </a:p>
          <a:p>
            <a:pPr algn="ctr"/>
            <a:r>
              <a:rPr sz="1300" b="0">
                <a:solidFill>
                  <a:srgbClr val="5C7268"/>
                </a:solidFill>
                <a:latin typeface="Arial"/>
              </a:rPr>
              <a:t>confident test rows (≥ 0.97) added at weight 0.5  —  +0.14 pt on rolling validation</a:t>
            </a:r>
          </a:p>
        </p:txBody>
      </p:sp>
      <p:sp>
        <p:nvSpPr>
          <p:cNvPr id="55" name="TextBox 54"/>
          <p:cNvSpPr txBox="1"/>
          <p:nvPr/>
        </p:nvSpPr>
        <p:spPr>
          <a:xfrm>
            <a:off x="950976" y="5943600"/>
            <a:ext cx="16367759" cy="365760"/>
          </a:xfrm>
          <a:prstGeom prst="rect">
            <a:avLst/>
          </a:prstGeom>
          <a:noFill/>
        </p:spPr>
        <p:txBody>
          <a:bodyPr wrap="none">
            <a:spAutoFit/>
          </a:bodyPr>
          <a:lstStyle/>
          <a:p>
            <a:pPr algn="ctr"/>
            <a:r>
              <a:rPr sz="1400" i="1">
                <a:solidFill>
                  <a:srgbClr val="5C7268"/>
                </a:solidFill>
                <a:latin typeface="Arial"/>
              </a:rPr>
              <a:t>From clean features to a single approve / reject decision per applicant.</a:t>
            </a:r>
          </a:p>
        </p:txBody>
      </p: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9 × LightGBM</a:t>
            </a:r>
          </a:p>
          <a:p>
            <a:pPr algn="ctr"/>
            <a:r>
              <a:rPr sz="1150" b="0" i="0">
                <a:solidFill>
                  <a:srgbClr val="2E8B62"/>
                </a:solidFill>
                <a:latin typeface="Arial"/>
              </a:rPr>
              <a:t>Fast · native missing-value handling</a:t>
            </a:r>
          </a:p>
          <a:p>
            <a:pPr algn="ctr"/>
            <a:r>
              <a:rPr sz="1000" b="0" i="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3 × XGBoost</a:t>
            </a:r>
          </a:p>
          <a:p>
            <a:pPr algn="ctr"/>
            <a:r>
              <a:rPr sz="1150" b="0" i="0">
                <a:solidFill>
                  <a:srgbClr val="2E8B62"/>
                </a:solidFill>
                <a:latin typeface="Arial"/>
              </a:rPr>
              <a:t>Different algorithm → adds diversity</a:t>
            </a:r>
          </a:p>
          <a:p>
            <a:pPr algn="ctr"/>
            <a:r>
              <a:rPr sz="1000" b="0" i="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700" b="1">
                          <a:solidFill>
                            <a:srgbClr val="FFFFFF"/>
                          </a:solidFill>
                          <a:latin typeface="Arial"/>
                        </a:rPr>
                        <a:t>Feature</a:t>
                      </a:r>
                    </a:p>
                  </a:txBody>
                  <a:tcPr marL="164592" marT="54864" marB="54864" anchor="ctr">
                    <a:solidFill>
                      <a:srgbClr val="063D22"/>
                    </a:solidFill>
                  </a:tcPr>
                </a:tc>
                <a:tc>
                  <a:txBody>
                    <a:bodyPr/>
                    <a:lstStyle/>
                    <a:p>
                      <a:pPr algn="l"/>
                      <a:r>
                        <a:rPr sz="1700" b="1">
                          <a:solidFill>
                            <a:srgbClr val="FFFFFF"/>
                          </a:solidFill>
                          <a:latin typeface="Arial"/>
                        </a:rPr>
                        <a:t>How we built it</a:t>
                      </a:r>
                    </a:p>
                  </a:txBody>
                  <a:tcPr marL="164592" marT="54864" marB="54864" anchor="ctr">
                    <a:solidFill>
                      <a:srgbClr val="063D22"/>
                    </a:solidFill>
                  </a:tcPr>
                </a:tc>
                <a:tc>
                  <a:txBody>
                    <a:bodyPr/>
                    <a:lstStyle/>
                    <a:p>
                      <a:pPr algn="l"/>
                      <a:r>
                        <a:rPr sz="1700" b="1">
                          <a:solidFill>
                            <a:srgbClr val="FFFFFF"/>
                          </a:solidFill>
                          <a:latin typeface="Arial"/>
                        </a:rPr>
                        <a:t>Why it helps</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500">
                          <a:solidFill>
                            <a:srgbClr val="14533B"/>
                          </a:solidFill>
                          <a:latin typeface="Courier New"/>
                        </a:rPr>
                        <a:t>risk_mean · risk_max</a:t>
                      </a:r>
                    </a:p>
                  </a:txBody>
                  <a:tcPr marL="164592" marT="54864" marB="54864" anchor="ctr">
                    <a:solidFill>
                      <a:srgbClr val="EAF3EF"/>
                    </a:solidFill>
                  </a:tcPr>
                </a:tc>
                <a:tc>
                  <a:txBody>
                    <a:bodyPr/>
                    <a:lstStyle/>
                    <a:p>
                      <a:pPr algn="l"/>
                      <a:r>
                        <a:rPr sz="1500">
                          <a:solidFill>
                            <a:srgbClr val="14533B"/>
                          </a:solidFill>
                          <a:latin typeface="Courier New"/>
                        </a:rPr>
                        <a:t>mean &amp; max of the two risk indicators</a:t>
                      </a:r>
                    </a:p>
                  </a:txBody>
                  <a:tcPr marL="164592" marT="54864" marB="54864" anchor="ctr">
                    <a:solidFill>
                      <a:srgbClr val="EAF3EF"/>
                    </a:solidFill>
                  </a:tcPr>
                </a:tc>
                <a:tc>
                  <a:txBody>
                    <a:bodyPr/>
                    <a:lstStyle/>
                    <a:p>
                      <a:pPr algn="l"/>
                      <a:r>
                        <a:rPr sz="1500">
                          <a:solidFill>
                            <a:srgbClr val="5C7268"/>
                          </a:solidFill>
                          <a:latin typeface="Arial"/>
                        </a:rPr>
                        <a:t>Combine both risk sources</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500">
                          <a:solidFill>
                            <a:srgbClr val="14533B"/>
                          </a:solidFill>
                          <a:latin typeface="Courier New"/>
                        </a:rPr>
                        <a:t>risk_dev</a:t>
                      </a:r>
                    </a:p>
                  </a:txBody>
                  <a:tcPr marL="164592" marT="54864" marB="54864" anchor="ctr">
                    <a:solidFill>
                      <a:srgbClr val="FFFFFF"/>
                    </a:solidFill>
                  </a:tcPr>
                </a:tc>
                <a:tc>
                  <a:txBody>
                    <a:bodyPr/>
                    <a:lstStyle/>
                    <a:p>
                      <a:pPr algn="l"/>
                      <a:r>
                        <a:rPr sz="1500">
                          <a:solidFill>
                            <a:srgbClr val="14533B"/>
                          </a:solidFill>
                          <a:latin typeface="Courier New"/>
                        </a:rPr>
                        <a:t>distance from the middle:  |risk - 55|</a:t>
                      </a:r>
                    </a:p>
                  </a:txBody>
                  <a:tcPr marL="164592" marT="54864" marB="54864" anchor="ctr">
                    <a:solidFill>
                      <a:srgbClr val="FFFFFF"/>
                    </a:solidFill>
                  </a:tcPr>
                </a:tc>
                <a:tc>
                  <a:txBody>
                    <a:bodyPr/>
                    <a:lstStyle/>
                    <a:p>
                      <a:pPr algn="l"/>
                      <a:r>
                        <a:rPr sz="1500">
                          <a:solidFill>
                            <a:srgbClr val="5C7268"/>
                          </a:solidFill>
                          <a:latin typeface="Arial"/>
                        </a:rPr>
                        <a:t>Turns the risk hump into usable signal</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500">
                          <a:solidFill>
                            <a:srgbClr val="14533B"/>
                          </a:solidFill>
                          <a:latin typeface="Courier New"/>
                        </a:rPr>
                        <a:t>amt_to_income</a:t>
                      </a:r>
                    </a:p>
                  </a:txBody>
                  <a:tcPr marL="164592" marT="54864" marB="54864" anchor="ctr">
                    <a:solidFill>
                      <a:srgbClr val="EAF3EF"/>
                    </a:solidFill>
                  </a:tcPr>
                </a:tc>
                <a:tc>
                  <a:txBody>
                    <a:bodyPr/>
                    <a:lstStyle/>
                    <a:p>
                      <a:pPr algn="l"/>
                      <a:r>
                        <a:rPr sz="1500">
                          <a:solidFill>
                            <a:srgbClr val="14533B"/>
                          </a:solidFill>
                          <a:latin typeface="Courier New"/>
                        </a:rPr>
                        <a:t>amount / (total_income + 1)</a:t>
                      </a:r>
                    </a:p>
                  </a:txBody>
                  <a:tcPr marL="164592" marT="54864" marB="54864" anchor="ctr">
                    <a:solidFill>
                      <a:srgbClr val="EAF3EF"/>
                    </a:solidFill>
                  </a:tcPr>
                </a:tc>
                <a:tc>
                  <a:txBody>
                    <a:bodyPr/>
                    <a:lstStyle/>
                    <a:p>
                      <a:pPr algn="l"/>
                      <a:r>
                        <a:rPr sz="1500">
                          <a:solidFill>
                            <a:srgbClr val="5C7268"/>
                          </a:solidFill>
                          <a:latin typeface="Arial"/>
                        </a:rPr>
                        <a:t>Affordability ratio —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500">
                          <a:solidFill>
                            <a:srgbClr val="14533B"/>
                          </a:solidFill>
                          <a:latin typeface="Courier New"/>
                        </a:rPr>
                        <a:t>total_income · log_income</a:t>
                      </a:r>
                    </a:p>
                  </a:txBody>
                  <a:tcPr marL="164592" marT="54864" marB="54864" anchor="ctr">
                    <a:solidFill>
                      <a:srgbClr val="FFFFFF"/>
                    </a:solidFill>
                  </a:tcPr>
                </a:tc>
                <a:tc>
                  <a:txBody>
                    <a:bodyPr/>
                    <a:lstStyle/>
                    <a:p>
                      <a:pPr algn="l"/>
                      <a:r>
                        <a:rPr sz="1500">
                          <a:solidFill>
                            <a:srgbClr val="14533B"/>
                          </a:solidFill>
                          <a:latin typeface="Courier New"/>
                        </a:rPr>
                        <a:t>ann_income + other_income (log-scaled)</a:t>
                      </a:r>
                    </a:p>
                  </a:txBody>
                  <a:tcPr marL="164592" marT="54864" marB="54864" anchor="ctr">
                    <a:solidFill>
                      <a:srgbClr val="FFFFFF"/>
                    </a:solidFill>
                  </a:tcPr>
                </a:tc>
                <a:tc>
                  <a:txBody>
                    <a:bodyPr/>
                    <a:lstStyle/>
                    <a:p>
                      <a:pPr algn="l"/>
                      <a:r>
                        <a:rPr sz="1500">
                          <a:solidFill>
                            <a:srgbClr val="5C7268"/>
                          </a:solidFill>
                          <a:latin typeface="Arial"/>
                        </a:rPr>
                        <a:t>Real disposable income</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500">
                          <a:solidFill>
                            <a:srgbClr val="14533B"/>
                          </a:solidFill>
                          <a:latin typeface="Courier New"/>
                        </a:rPr>
                        <a:t>credit_z</a:t>
                      </a:r>
                    </a:p>
                  </a:txBody>
                  <a:tcPr marL="164592" marT="54864" marB="54864" anchor="ctr">
                    <a:solidFill>
                      <a:srgbClr val="EAF3EF"/>
                    </a:solidFill>
                  </a:tcPr>
                </a:tc>
                <a:tc>
                  <a:txBody>
                    <a:bodyPr/>
                    <a:lstStyle/>
                    <a:p>
                      <a:pPr algn="l"/>
                      <a:r>
                        <a:rPr sz="1500">
                          <a:solidFill>
                            <a:srgbClr val="14533B"/>
                          </a:solidFill>
                          <a:latin typeface="Courier New"/>
                        </a:rPr>
                        <a:t>3 bureau scores z-scored &amp; merged</a:t>
                      </a:r>
                    </a:p>
                  </a:txBody>
                  <a:tcPr marL="164592" marT="54864" marB="54864" anchor="ctr">
                    <a:solidFill>
                      <a:srgbClr val="EAF3EF"/>
                    </a:solidFill>
                  </a:tcPr>
                </a:tc>
                <a:tc>
                  <a:txBody>
                    <a:bodyPr/>
                    <a:lstStyle/>
                    <a:p>
                      <a:pPr algn="l"/>
                      <a:r>
                        <a:rPr sz="1500">
                          <a:solidFill>
                            <a:srgbClr val="5C7268"/>
                          </a:solidFill>
                          <a:latin typeface="Arial"/>
                        </a:rPr>
                        <a:t>One comparable score from 3 scales</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500">
                          <a:solidFill>
                            <a:srgbClr val="14533B"/>
                          </a:solidFill>
                          <a:latin typeface="Courier New"/>
                        </a:rPr>
                        <a:t>has_score · *_missing</a:t>
                      </a:r>
                    </a:p>
                  </a:txBody>
                  <a:tcPr marL="164592" marT="54864" marB="54864" anchor="ctr">
                    <a:solidFill>
                      <a:srgbClr val="FFFFFF"/>
                    </a:solidFill>
                  </a:tcPr>
                </a:tc>
                <a:tc>
                  <a:txBody>
                    <a:bodyPr/>
                    <a:lstStyle/>
                    <a:p>
                      <a:pPr algn="l"/>
                      <a:r>
                        <a:rPr sz="1500">
                          <a:solidFill>
                            <a:srgbClr val="14533B"/>
                          </a:solidFill>
                          <a:latin typeface="Courier New"/>
                        </a:rPr>
                        <a:t>binary 0/1 flags</a:t>
                      </a:r>
                    </a:p>
                  </a:txBody>
                  <a:tcPr marL="164592" marT="54864" marB="54864" anchor="ctr">
                    <a:solidFill>
                      <a:srgbClr val="FFFFFF"/>
                    </a:solidFill>
                  </a:tcPr>
                </a:tc>
                <a:tc>
                  <a:txBody>
                    <a:bodyPr/>
                    <a:lstStyle/>
                    <a:p>
                      <a:pPr algn="l"/>
                      <a:r>
                        <a:rPr sz="1500">
                          <a:solidFill>
                            <a:srgbClr val="5C7268"/>
                          </a:solidFill>
                          <a:latin typeface="Arial"/>
                        </a:rPr>
                        <a:t>“Value absent” is itself a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500">
                          <a:solidFill>
                            <a:srgbClr val="14533B"/>
                          </a:solidFill>
                          <a:latin typeface="Courier New"/>
                        </a:rPr>
                        <a:t>year · month</a:t>
                      </a:r>
                    </a:p>
                  </a:txBody>
                  <a:tcPr marL="164592" marT="54864" marB="54864" anchor="ctr">
                    <a:solidFill>
                      <a:srgbClr val="EAF3EF"/>
                    </a:solidFill>
                  </a:tcPr>
                </a:tc>
                <a:tc>
                  <a:txBody>
                    <a:bodyPr/>
                    <a:lstStyle/>
                    <a:p>
                      <a:pPr algn="l"/>
                      <a:r>
                        <a:rPr sz="1500">
                          <a:solidFill>
                            <a:srgbClr val="14533B"/>
                          </a:solidFill>
                          <a:latin typeface="Courier New"/>
                        </a:rPr>
                        <a:t>parsed from the date</a:t>
                      </a:r>
                    </a:p>
                  </a:txBody>
                  <a:tcPr marL="164592" marT="54864" marB="54864" anchor="ctr">
                    <a:solidFill>
                      <a:srgbClr val="EAF3EF"/>
                    </a:solidFill>
                  </a:tcPr>
                </a:tc>
                <a:tc>
                  <a:txBody>
                    <a:bodyPr/>
                    <a:lstStyle/>
                    <a:p>
                      <a:pPr algn="l"/>
                      <a:r>
                        <a:rPr sz="1500">
                          <a:solidFill>
                            <a:srgbClr val="5C7268"/>
                          </a:solidFill>
                          <a:latin typeface="Arial"/>
                        </a:rPr>
                        <a:t>Captures the downward 2026 approval trend</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13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14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891</TotalTime>
  <Words>2506</Words>
  <Application>Microsoft Macintosh PowerPoint</Application>
  <PresentationFormat>Custom</PresentationFormat>
  <Paragraphs>269</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4</cp:revision>
  <dcterms:created xsi:type="dcterms:W3CDTF">2026-06-16T18:58:41Z</dcterms:created>
  <dcterms:modified xsi:type="dcterms:W3CDTF">2026-06-17T11:18:21Z</dcterms:modified>
</cp:coreProperties>
</file>