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algn="l" indent="0" marL="0">
              <a:lnSpc>
                <a:spcPct val="100000"/>
              </a:lnSpc>
              <a:buNone/>
            </a:pPr>
            <a:r>
              <a:rPr lang="en-US" sz="7500" b="1" spc="-75" kern="0"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a:bodyPr>
          <a:lstStyle/>
          <a:p>
            <a:pPr algn="l" indent="0" marL="0">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5" name="Text 3"/>
          <p:cNvSpPr/>
          <p:nvPr/>
        </p:nvSpPr>
        <p:spPr>
          <a:xfrm>
            <a:off x="990600" y="6279877"/>
            <a:ext cx="872654" cy="781050"/>
          </a:xfrm>
          <a:prstGeom prst="rect">
            <a:avLst/>
          </a:prstGeom>
          <a:noFill/>
          <a:ln/>
        </p:spPr>
        <p:txBody>
          <a:bodyPr wrap="square" lIns="25400" tIns="25400" rIns="25400" bIns="25400" rtlCol="0" anchor="t">
            <a:normAutofit/>
          </a:bodyPr>
          <a:lstStyle/>
          <a:p>
            <a:pPr algn="l" indent="0" marL="0">
              <a:lnSpc>
                <a:spcPct val="100000"/>
              </a:lnSpc>
              <a:buNone/>
            </a:pPr>
            <a:r>
              <a:rPr lang="en-US" sz="5850" b="1" dirty="0">
                <a:solidFill>
                  <a:srgbClr val="FFFFFF"/>
                </a:solidFill>
                <a:latin typeface="Georgia" pitchFamily="34" charset="0"/>
                <a:ea typeface="Georgia" pitchFamily="34" charset="-122"/>
                <a:cs typeface="Georgia" pitchFamily="34" charset="-120"/>
              </a:rPr>
              <a:t>#1</a:t>
            </a:r>
            <a:endParaRPr lang="en-US" sz="58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B2E0D4"/>
                </a:solidFill>
                <a:latin typeface="Arial" pitchFamily="34" charset="0"/>
                <a:ea typeface="Arial" pitchFamily="34" charset="-122"/>
                <a:cs typeface="Arial" pitchFamily="34" charset="-120"/>
              </a:rPr>
              <a:t>Tied for first place — reached without the planted data trap and without using race or religion.</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sp>
      <p:sp>
        <p:nvSpPr>
          <p:cNvPr id="8" name="Text 6"/>
          <p:cNvSpPr/>
          <p:nvPr/>
        </p:nvSpPr>
        <p:spPr>
          <a:xfrm>
            <a:off x="990600" y="9277350"/>
            <a:ext cx="4676730" cy="361950"/>
          </a:xfrm>
          <a:prstGeom prst="rect">
            <a:avLst/>
          </a:prstGeom>
          <a:noFill/>
          <a:ln/>
        </p:spPr>
        <p:txBody>
          <a:bodyPr wrap="square" lIns="25400" tIns="25400" rIns="25400" bIns="25400" rtlCol="0" anchor="t">
            <a:normAutofit/>
          </a:bodyPr>
          <a:lstStyle/>
          <a:p>
            <a:pPr algn="l" indent="0" marL="0">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a:bodyPr>
          <a:lstStyle/>
          <a:p>
            <a:pPr algn="r" indent="0" marL="0">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a:bodyPr>
          <a:lstStyle/>
          <a:p>
            <a:pPr algn="ctr" indent="0" marL="0">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a:bodyPr>
          <a:lstStyle/>
          <a:p>
            <a:pPr algn="ctr" indent="0" marL="0">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algn="r" indent="0" marL="0">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sp>
      <p:sp>
        <p:nvSpPr>
          <p:cNvPr id="9" name="Text 7"/>
          <p:cNvSpPr/>
          <p:nvPr/>
        </p:nvSpPr>
        <p:spPr>
          <a:xfrm>
            <a:off x="3248025" y="5051822"/>
            <a:ext cx="3623169"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sp>
      <p:sp>
        <p:nvSpPr>
          <p:cNvPr id="12" name="Text 10"/>
          <p:cNvSpPr/>
          <p:nvPr/>
        </p:nvSpPr>
        <p:spPr>
          <a:xfrm>
            <a:off x="7189515" y="5051822"/>
            <a:ext cx="3623250"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algn="r" indent="0" marL="0">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sp>
      <p:sp>
        <p:nvSpPr>
          <p:cNvPr id="16" name="Text 14"/>
          <p:cNvSpPr/>
          <p:nvPr/>
        </p:nvSpPr>
        <p:spPr>
          <a:xfrm>
            <a:off x="3248025" y="6342459"/>
            <a:ext cx="3623169"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sp>
      <p:sp>
        <p:nvSpPr>
          <p:cNvPr id="19" name="Text 17"/>
          <p:cNvSpPr/>
          <p:nvPr/>
        </p:nvSpPr>
        <p:spPr>
          <a:xfrm>
            <a:off x="7189515" y="6342459"/>
            <a:ext cx="3623250"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pPr algn="l" indent="0" marL="0">
              <a:lnSpc>
                <a:spcPct val="145000"/>
              </a:lnSpc>
              <a:buNone/>
            </a:pPr>
            <a:r>
              <a:rPr lang="en-US" sz="2250" b="1" dirty="0">
                <a:solidFill>
                  <a:srgbClr val="063D22"/>
                </a:solidFill>
                <a:latin typeface="Arial" pitchFamily="34" charset="0"/>
                <a:ea typeface="Arial" pitchFamily="34" charset="-122"/>
                <a:cs typeface="Arial" pitchFamily="34" charset="-120"/>
              </a:rPr>
              <a:t>make the same approve-or-reject call a human analyst would </a:t>
            </a:r>
            <a:pPr algn="l" indent="0" marL="0">
              <a:lnSpc>
                <a:spcPct val="145000"/>
              </a:lnSpc>
              <a:buNone/>
            </a:pP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sp>
      <p:sp>
        <p:nvSpPr>
          <p:cNvPr id="24" name="Text 22"/>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sp>
      <p:sp>
        <p:nvSpPr>
          <p:cNvPr id="6" name="Text 4"/>
          <p:cNvSpPr/>
          <p:nvPr/>
        </p:nvSpPr>
        <p:spPr>
          <a:xfrm>
            <a:off x="1333500" y="4454128"/>
            <a:ext cx="13552073"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sp>
      <p:sp>
        <p:nvSpPr>
          <p:cNvPr id="9" name="Text 7"/>
          <p:cNvSpPr/>
          <p:nvPr/>
        </p:nvSpPr>
        <p:spPr>
          <a:xfrm>
            <a:off x="14377467" y="4489847"/>
            <a:ext cx="2981422"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guessing scores only ~52%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One “perfect” column, </a:t>
            </a:r>
            <a:pPr algn="l" indent="0" marL="0">
              <a:buNone/>
            </a:pPr>
            <a:r>
              <a:rPr lang="en-US" sz="1800" dirty="0">
                <a:solidFill>
                  <a:srgbClr val="B3573F"/>
                </a:solidFill>
                <a:latin typeface="Courier New" pitchFamily="34" charset="0"/>
                <a:ea typeface="Courier New" pitchFamily="34" charset="-122"/>
                <a:cs typeface="Courier New" pitchFamily="34" charset="-120"/>
              </a:rPr>
              <a:t>internal_code </a:t>
            </a:r>
            <a:pPr algn="l" indent="0" marL="0">
              <a:buNone/>
            </a:pP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a:bodyPr>
          <a:lstStyle/>
          <a:p>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pPr algn="l" indent="0" marL="0">
              <a:lnSpc>
                <a:spcPct val="145000"/>
              </a:lnSpc>
              <a:buNone/>
            </a:pPr>
            <a:r>
              <a:rPr lang="en-US" sz="2175" b="1" dirty="0">
                <a:solidFill>
                  <a:srgbClr val="063D22"/>
                </a:solidFill>
                <a:latin typeface="Arial" pitchFamily="34" charset="0"/>
                <a:ea typeface="Arial" pitchFamily="34" charset="-122"/>
                <a:cs typeface="Arial" pitchFamily="34" charset="-120"/>
              </a:rPr>
              <a:t>training data </a:t>
            </a:r>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but is random noise in the </a:t>
            </a:r>
            <a:pPr algn="l" indent="0" marL="0">
              <a:lnSpc>
                <a:spcPct val="145000"/>
              </a:lnSpc>
              <a:buNone/>
            </a:pPr>
            <a:r>
              <a:rPr lang="en-US" sz="2175" b="1" dirty="0">
                <a:solidFill>
                  <a:srgbClr val="063D22"/>
                </a:solidFill>
                <a:latin typeface="Arial" pitchFamily="34" charset="0"/>
                <a:ea typeface="Arial" pitchFamily="34" charset="-122"/>
                <a:cs typeface="Arial" pitchFamily="34" charset="-120"/>
              </a:rPr>
              <a:t>test data </a:t>
            </a:r>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 it was scrambled on purpose. </a:t>
            </a:r>
            <a:pPr algn="l" indent="0" marL="0">
              <a:lnSpc>
                <a:spcPct val="145000"/>
              </a:lnSpc>
              <a:buNone/>
            </a:pP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sp>
      <p:sp>
        <p:nvSpPr>
          <p:cNvPr id="9" name="Text 7"/>
          <p:cNvSpPr/>
          <p:nvPr/>
        </p:nvSpPr>
        <p:spPr>
          <a:xfrm>
            <a:off x="9658350" y="4752454"/>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sp>
      <p:sp>
        <p:nvSpPr>
          <p:cNvPr id="12" name="Text 10"/>
          <p:cNvSpPr/>
          <p:nvPr/>
        </p:nvSpPr>
        <p:spPr>
          <a:xfrm>
            <a:off x="9658350" y="5466829"/>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sp>
      <p:sp>
        <p:nvSpPr>
          <p:cNvPr id="18" name="Text 16"/>
          <p:cNvSpPr/>
          <p:nvPr/>
        </p:nvSpPr>
        <p:spPr>
          <a:xfrm>
            <a:off x="9658350" y="6895579"/>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3449092"/>
            <a:ext cx="3363888" cy="2845594"/>
          </a:xfrm>
          <a:prstGeom prst="roundRect">
            <a:avLst>
              <a:gd name="adj" fmla="val 3347"/>
            </a:avLst>
          </a:prstGeom>
          <a:solidFill>
            <a:srgbClr val="E6F5EF"/>
          </a:solidFill>
          <a:ln w="9525">
            <a:solidFill>
              <a:srgbClr val="B2E0D4"/>
            </a:solidFill>
            <a:prstDash val="solid"/>
          </a:ln>
        </p:spPr>
      </p:sp>
      <p:sp>
        <p:nvSpPr>
          <p:cNvPr id="6" name="Text 4"/>
          <p:cNvSpPr/>
          <p:nvPr/>
        </p:nvSpPr>
        <p:spPr>
          <a:xfrm>
            <a:off x="1247775" y="4187577"/>
            <a:ext cx="3050671" cy="661987"/>
          </a:xfrm>
          <a:prstGeom prst="rect">
            <a:avLst/>
          </a:prstGeom>
          <a:noFill/>
          <a:ln/>
        </p:spPr>
        <p:txBody>
          <a:bodyPr wrap="square" lIns="25400" tIns="25400" rIns="25400" bIns="25400" rtlCol="0" anchor="t">
            <a:normAutofit/>
          </a:bodyPr>
          <a:lstStyle/>
          <a:p>
            <a:pPr algn="l" indent="0" marL="0">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4887664"/>
            <a:ext cx="2856538"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3449092"/>
            <a:ext cx="4057204" cy="2845594"/>
          </a:xfrm>
          <a:prstGeom prst="roundRect">
            <a:avLst>
              <a:gd name="adj" fmla="val 3347"/>
            </a:avLst>
          </a:prstGeom>
          <a:solidFill>
            <a:srgbClr val="FFFFFF"/>
          </a:solidFill>
          <a:ln w="9525">
            <a:solidFill>
              <a:srgbClr val="D2E6DD"/>
            </a:solidFill>
            <a:prstDash val="solid"/>
          </a:ln>
        </p:spPr>
      </p:sp>
      <p:sp>
        <p:nvSpPr>
          <p:cNvPr id="10" name="Text 8"/>
          <p:cNvSpPr/>
          <p:nvPr/>
        </p:nvSpPr>
        <p:spPr>
          <a:xfrm>
            <a:off x="5316513" y="3744367"/>
            <a:ext cx="381331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153942"/>
            <a:ext cx="3570653" cy="1883569"/>
          </a:xfrm>
          <a:prstGeom prst="rect">
            <a:avLst/>
          </a:prstGeom>
          <a:noFill/>
          <a:ln/>
        </p:spPr>
        <p:txBody>
          <a:bodyPr wrap="square" lIns="25400" tIns="25400" rIns="25400" bIns="25400" rtlCol="0" anchor="t">
            <a:normAutofit/>
          </a:bodyPr>
          <a:lstStyle/>
          <a:p>
            <a:pPr algn="l" indent="0" marL="0">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3449092"/>
            <a:ext cx="3502521" cy="2845594"/>
          </a:xfrm>
          <a:prstGeom prst="roundRect">
            <a:avLst>
              <a:gd name="adj" fmla="val 3347"/>
            </a:avLst>
          </a:prstGeom>
          <a:solidFill>
            <a:srgbClr val="FFFFFF"/>
          </a:solidFill>
          <a:ln w="9525">
            <a:solidFill>
              <a:srgbClr val="E3B9AC"/>
            </a:solidFill>
            <a:prstDash val="solid"/>
          </a:ln>
        </p:spPr>
      </p:sp>
      <p:sp>
        <p:nvSpPr>
          <p:cNvPr id="14" name="Text 12"/>
          <p:cNvSpPr/>
          <p:nvPr/>
        </p:nvSpPr>
        <p:spPr>
          <a:xfrm>
            <a:off x="10078566" y="4059882"/>
            <a:ext cx="320316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4469457"/>
            <a:ext cx="2999330" cy="1252538"/>
          </a:xfrm>
          <a:prstGeom prst="rect">
            <a:avLst/>
          </a:prstGeom>
          <a:noFill/>
          <a:ln/>
        </p:spPr>
        <p:txBody>
          <a:bodyPr wrap="square" lIns="25400" tIns="25400" rIns="25400" bIns="25400" rtlCol="0" anchor="t">
            <a:normAutofit/>
          </a:bodyPr>
          <a:lstStyle/>
          <a:p>
            <a:pPr algn="l" indent="0" marL="0">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3449092"/>
            <a:ext cx="3344838" cy="2845594"/>
          </a:xfrm>
          <a:prstGeom prst="roundRect">
            <a:avLst>
              <a:gd name="adj" fmla="val 3347"/>
            </a:avLst>
          </a:prstGeom>
          <a:solidFill>
            <a:srgbClr val="1A7A57"/>
          </a:solidFill>
          <a:ln/>
        </p:spPr>
      </p:sp>
      <p:sp>
        <p:nvSpPr>
          <p:cNvPr id="18" name="Text 16"/>
          <p:cNvSpPr/>
          <p:nvPr/>
        </p:nvSpPr>
        <p:spPr>
          <a:xfrm>
            <a:off x="14276412" y="4187577"/>
            <a:ext cx="3050671" cy="661987"/>
          </a:xfrm>
          <a:prstGeom prst="rect">
            <a:avLst/>
          </a:prstGeom>
          <a:noFill/>
          <a:ln/>
        </p:spPr>
        <p:txBody>
          <a:bodyPr wrap="square" lIns="25400" tIns="25400" rIns="25400" bIns="25400" rtlCol="0" anchor="t">
            <a:normAutofit/>
          </a:bodyPr>
          <a:lstStyle/>
          <a:p>
            <a:pPr algn="l" indent="0" marL="0">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4887664"/>
            <a:ext cx="2856538"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6675686"/>
            <a:ext cx="13342620" cy="805755"/>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and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test data identically, and adds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missingness flags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ann_income_missing</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other_income_missing</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prev_default_missing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7576691"/>
            <a:ext cx="13342620"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pPr algn="l" indent="0" marL="0">
              <a:lnSpc>
                <a:spcPct val="140000"/>
              </a:lnSpc>
              <a:buNone/>
            </a:pPr>
            <a:r>
              <a:rPr lang="en-US" sz="1800" b="1" dirty="0">
                <a:solidFill>
                  <a:srgbClr val="244236"/>
                </a:solidFill>
                <a:latin typeface="Arial" pitchFamily="34" charset="0"/>
                <a:ea typeface="Arial" pitchFamily="34" charset="-122"/>
                <a:cs typeface="Arial" pitchFamily="34" charset="-120"/>
              </a:rPr>
              <a:t>train-only statistics </a:t>
            </a:r>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sp>
      <p:sp>
        <p:nvSpPr>
          <p:cNvPr id="23" name="Text 21"/>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a:bodyPr>
          <a:lstStyle/>
          <a:p>
            <a:pPr algn="l" indent="0" marL="0">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a:bodyPr>
          <a:lstStyle/>
          <a:p>
            <a:pPr algn="l" indent="0" marL="0">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sp>
      <p:sp>
        <p:nvSpPr>
          <p:cNvPr id="10" name="Text 8"/>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4132659"/>
            <a:ext cx="8463774"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a:bodyPr>
          <a:lstStyle/>
          <a:p>
            <a:pPr algn="l" indent="0" marL="0">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sp>
      <p:sp>
        <p:nvSpPr>
          <p:cNvPr id="8" name="Text 6"/>
          <p:cNvSpPr/>
          <p:nvPr/>
        </p:nvSpPr>
        <p:spPr>
          <a:xfrm>
            <a:off x="1717551" y="6875859"/>
            <a:ext cx="2088356" cy="657225"/>
          </a:xfrm>
          <a:prstGeom prst="rect">
            <a:avLst/>
          </a:prstGeom>
          <a:noFill/>
          <a:ln/>
        </p:spPr>
        <p:txBody>
          <a:bodyPr wrap="square" lIns="25400" tIns="25400" rIns="25400" bIns="25400" rtlCol="0" anchor="t">
            <a:normAutofit/>
          </a:bodyPr>
          <a:lstStyle/>
          <a:p>
            <a:pPr algn="ctr" indent="0" marL="0">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26746" y="4637484"/>
            <a:ext cx="1343739" cy="500063"/>
          </a:xfrm>
          <a:prstGeom prst="rect">
            <a:avLst/>
          </a:prstGeom>
          <a:noFill/>
          <a:ln/>
        </p:spPr>
        <p:txBody>
          <a:bodyPr wrap="square" lIns="25400" tIns="25400" rIns="25400" bIns="25400" rtlCol="0" anchor="t">
            <a:normAutofit/>
          </a:bodyPr>
          <a:lstStyle/>
          <a:p>
            <a:pPr algn="l" indent="0" marL="0">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5213747"/>
            <a:ext cx="3618607" cy="1509713"/>
          </a:xfrm>
          <a:prstGeom prst="roundRect">
            <a:avLst>
              <a:gd name="adj" fmla="val 5047"/>
            </a:avLst>
          </a:prstGeom>
          <a:solidFill>
            <a:srgbClr val="E3B9AC"/>
          </a:solidFill>
          <a:ln/>
        </p:spPr>
      </p:sp>
      <p:sp>
        <p:nvSpPr>
          <p:cNvPr id="11" name="Text 9"/>
          <p:cNvSpPr/>
          <p:nvPr/>
        </p:nvSpPr>
        <p:spPr>
          <a:xfrm>
            <a:off x="6038329" y="6875859"/>
            <a:ext cx="1598340" cy="657225"/>
          </a:xfrm>
          <a:prstGeom prst="rect">
            <a:avLst/>
          </a:prstGeom>
          <a:noFill/>
          <a:ln/>
        </p:spPr>
        <p:txBody>
          <a:bodyPr wrap="square" lIns="25400" tIns="25400" rIns="25400" bIns="25400" rtlCol="0" anchor="t">
            <a:normAutofit/>
          </a:bodyPr>
          <a:lstStyle/>
          <a:p>
            <a:pPr algn="ctr" indent="0" marL="0">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a:bodyPr>
          <a:lstStyle/>
          <a:p>
            <a:pPr algn="l" indent="0" marL="0">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no link to real credit risk </a:t>
            </a:r>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 yet they change who gets approved — e.g. </a:t>
            </a:r>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56% vs 45% </a:t>
            </a:r>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sp>
      <p:sp>
        <p:nvSpPr>
          <p:cNvPr id="17" name="Text 15"/>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judged every model on next-month accuracy, not the leaderboard</a:t>
            </a:r>
            <a:endParaRPr lang="en-US" sz="3600" dirty="0"/>
          </a:p>
        </p:txBody>
      </p:sp>
      <p:sp>
        <p:nvSpPr>
          <p:cNvPr id="5" name="Text 3"/>
          <p:cNvSpPr/>
          <p:nvPr/>
        </p:nvSpPr>
        <p:spPr>
          <a:xfrm>
            <a:off x="952500" y="2350368"/>
            <a:ext cx="962022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Model selection · 5-fold accuracy</a:t>
            </a:r>
            <a:endParaRPr lang="en-US" sz="1800" dirty="0"/>
          </a:p>
        </p:txBody>
      </p:sp>
      <p:sp>
        <p:nvSpPr>
          <p:cNvPr id="6" name="Text 4"/>
          <p:cNvSpPr/>
          <p:nvPr/>
        </p:nvSpPr>
        <p:spPr>
          <a:xfrm>
            <a:off x="952500" y="416703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Naive Bayes</a:t>
            </a:r>
            <a:endParaRPr lang="en-US" sz="1950" dirty="0"/>
          </a:p>
        </p:txBody>
      </p:sp>
      <p:sp>
        <p:nvSpPr>
          <p:cNvPr id="7" name="Shape 5"/>
          <p:cNvSpPr/>
          <p:nvPr/>
        </p:nvSpPr>
        <p:spPr>
          <a:xfrm>
            <a:off x="3219450" y="4128939"/>
            <a:ext cx="5392862" cy="361950"/>
          </a:xfrm>
          <a:prstGeom prst="roundRect">
            <a:avLst>
              <a:gd name="adj" fmla="val 15789"/>
            </a:avLst>
          </a:prstGeom>
          <a:solidFill>
            <a:srgbClr val="E6F5EF"/>
          </a:solidFill>
          <a:ln/>
        </p:spPr>
      </p:sp>
      <p:sp>
        <p:nvSpPr>
          <p:cNvPr id="8" name="Shape 6"/>
          <p:cNvSpPr/>
          <p:nvPr/>
        </p:nvSpPr>
        <p:spPr>
          <a:xfrm>
            <a:off x="3219450" y="4128939"/>
            <a:ext cx="2157115" cy="361950"/>
          </a:xfrm>
          <a:prstGeom prst="rect">
            <a:avLst/>
          </a:prstGeom>
          <a:solidFill>
            <a:srgbClr val="A7C8BC"/>
          </a:solidFill>
          <a:ln/>
        </p:spPr>
      </p:sp>
      <p:sp>
        <p:nvSpPr>
          <p:cNvPr id="9" name="Text 7"/>
          <p:cNvSpPr/>
          <p:nvPr/>
        </p:nvSpPr>
        <p:spPr>
          <a:xfrm>
            <a:off x="8707562" y="417418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0.760</a:t>
            </a:r>
            <a:endParaRPr lang="en-US" sz="1875" dirty="0"/>
          </a:p>
        </p:txBody>
      </p:sp>
      <p:sp>
        <p:nvSpPr>
          <p:cNvPr id="10" name="Text 8"/>
          <p:cNvSpPr/>
          <p:nvPr/>
        </p:nvSpPr>
        <p:spPr>
          <a:xfrm>
            <a:off x="952500" y="470043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LDA</a:t>
            </a:r>
            <a:endParaRPr lang="en-US" sz="1950" dirty="0"/>
          </a:p>
        </p:txBody>
      </p:sp>
      <p:sp>
        <p:nvSpPr>
          <p:cNvPr id="11" name="Shape 9"/>
          <p:cNvSpPr/>
          <p:nvPr/>
        </p:nvSpPr>
        <p:spPr>
          <a:xfrm>
            <a:off x="3219450" y="4662339"/>
            <a:ext cx="5392862" cy="361950"/>
          </a:xfrm>
          <a:prstGeom prst="roundRect">
            <a:avLst>
              <a:gd name="adj" fmla="val 15789"/>
            </a:avLst>
          </a:prstGeom>
          <a:solidFill>
            <a:srgbClr val="E6F5EF"/>
          </a:solidFill>
          <a:ln/>
        </p:spPr>
      </p:sp>
      <p:sp>
        <p:nvSpPr>
          <p:cNvPr id="12" name="Shape 10"/>
          <p:cNvSpPr/>
          <p:nvPr/>
        </p:nvSpPr>
        <p:spPr>
          <a:xfrm>
            <a:off x="3219450" y="4662339"/>
            <a:ext cx="2750344" cy="361950"/>
          </a:xfrm>
          <a:prstGeom prst="rect">
            <a:avLst/>
          </a:prstGeom>
          <a:solidFill>
            <a:srgbClr val="A7C8BC"/>
          </a:solidFill>
          <a:ln/>
        </p:spPr>
      </p:sp>
      <p:sp>
        <p:nvSpPr>
          <p:cNvPr id="13" name="Text 11"/>
          <p:cNvSpPr/>
          <p:nvPr/>
        </p:nvSpPr>
        <p:spPr>
          <a:xfrm>
            <a:off x="8707562" y="470758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0.777</a:t>
            </a:r>
            <a:endParaRPr lang="en-US" sz="1875" dirty="0"/>
          </a:p>
        </p:txBody>
      </p:sp>
      <p:sp>
        <p:nvSpPr>
          <p:cNvPr id="14" name="Text 12"/>
          <p:cNvSpPr/>
          <p:nvPr/>
        </p:nvSpPr>
        <p:spPr>
          <a:xfrm>
            <a:off x="952500" y="5195739"/>
            <a:ext cx="2171700" cy="60960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Logistic Regression</a:t>
            </a:r>
            <a:endParaRPr lang="en-US" sz="1950" dirty="0"/>
          </a:p>
        </p:txBody>
      </p:sp>
      <p:sp>
        <p:nvSpPr>
          <p:cNvPr id="15" name="Shape 13"/>
          <p:cNvSpPr/>
          <p:nvPr/>
        </p:nvSpPr>
        <p:spPr>
          <a:xfrm>
            <a:off x="3219450" y="5300514"/>
            <a:ext cx="5392862" cy="361950"/>
          </a:xfrm>
          <a:prstGeom prst="roundRect">
            <a:avLst>
              <a:gd name="adj" fmla="val 15789"/>
            </a:avLst>
          </a:prstGeom>
          <a:solidFill>
            <a:srgbClr val="E6F5EF"/>
          </a:solidFill>
          <a:ln/>
        </p:spPr>
      </p:sp>
      <p:sp>
        <p:nvSpPr>
          <p:cNvPr id="16" name="Shape 14"/>
          <p:cNvSpPr/>
          <p:nvPr/>
        </p:nvSpPr>
        <p:spPr>
          <a:xfrm>
            <a:off x="3219450" y="5300514"/>
            <a:ext cx="3019946" cy="361950"/>
          </a:xfrm>
          <a:prstGeom prst="rect">
            <a:avLst/>
          </a:prstGeom>
          <a:solidFill>
            <a:srgbClr val="A7C8BC"/>
          </a:solidFill>
          <a:ln/>
        </p:spPr>
      </p:sp>
      <p:sp>
        <p:nvSpPr>
          <p:cNvPr id="17" name="Text 15"/>
          <p:cNvSpPr/>
          <p:nvPr/>
        </p:nvSpPr>
        <p:spPr>
          <a:xfrm>
            <a:off x="8707562" y="5345757"/>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0.784</a:t>
            </a:r>
            <a:endParaRPr lang="en-US" sz="1875" dirty="0"/>
          </a:p>
        </p:txBody>
      </p:sp>
      <p:sp>
        <p:nvSpPr>
          <p:cNvPr id="18" name="Text 16"/>
          <p:cNvSpPr/>
          <p:nvPr/>
        </p:nvSpPr>
        <p:spPr>
          <a:xfrm>
            <a:off x="952500" y="597678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Random Forest</a:t>
            </a:r>
            <a:endParaRPr lang="en-US" sz="1950" dirty="0"/>
          </a:p>
        </p:txBody>
      </p:sp>
      <p:sp>
        <p:nvSpPr>
          <p:cNvPr id="19" name="Shape 17"/>
          <p:cNvSpPr/>
          <p:nvPr/>
        </p:nvSpPr>
        <p:spPr>
          <a:xfrm>
            <a:off x="3219450" y="5938689"/>
            <a:ext cx="5392862" cy="361950"/>
          </a:xfrm>
          <a:prstGeom prst="roundRect">
            <a:avLst>
              <a:gd name="adj" fmla="val 15789"/>
            </a:avLst>
          </a:prstGeom>
          <a:solidFill>
            <a:srgbClr val="E6F5EF"/>
          </a:solidFill>
          <a:ln/>
        </p:spPr>
      </p:sp>
      <p:sp>
        <p:nvSpPr>
          <p:cNvPr id="20" name="Shape 18"/>
          <p:cNvSpPr/>
          <p:nvPr/>
        </p:nvSpPr>
        <p:spPr>
          <a:xfrm>
            <a:off x="3219450" y="5938689"/>
            <a:ext cx="4799633" cy="361950"/>
          </a:xfrm>
          <a:prstGeom prst="rect">
            <a:avLst/>
          </a:prstGeom>
          <a:solidFill>
            <a:srgbClr val="66B3A1"/>
          </a:solidFill>
          <a:ln/>
        </p:spPr>
      </p:sp>
      <p:sp>
        <p:nvSpPr>
          <p:cNvPr id="21" name="Text 19"/>
          <p:cNvSpPr/>
          <p:nvPr/>
        </p:nvSpPr>
        <p:spPr>
          <a:xfrm>
            <a:off x="8707562" y="598393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0.833</a:t>
            </a:r>
            <a:endParaRPr lang="en-US" sz="1875" dirty="0"/>
          </a:p>
        </p:txBody>
      </p:sp>
      <p:sp>
        <p:nvSpPr>
          <p:cNvPr id="22" name="Text 20"/>
          <p:cNvSpPr/>
          <p:nvPr/>
        </p:nvSpPr>
        <p:spPr>
          <a:xfrm>
            <a:off x="952500" y="6503045"/>
            <a:ext cx="2305050"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063D22"/>
                </a:solidFill>
                <a:latin typeface="Arial" pitchFamily="34" charset="0"/>
                <a:ea typeface="Arial" pitchFamily="34" charset="-122"/>
                <a:cs typeface="Arial" pitchFamily="34" charset="-120"/>
              </a:rPr>
              <a:t>LightGBM</a:t>
            </a:r>
            <a:endParaRPr lang="en-US" sz="1950" dirty="0"/>
          </a:p>
        </p:txBody>
      </p:sp>
      <p:sp>
        <p:nvSpPr>
          <p:cNvPr id="23" name="Shape 21"/>
          <p:cNvSpPr/>
          <p:nvPr/>
        </p:nvSpPr>
        <p:spPr>
          <a:xfrm>
            <a:off x="3219450" y="6472089"/>
            <a:ext cx="5392862" cy="361950"/>
          </a:xfrm>
          <a:prstGeom prst="roundRect">
            <a:avLst>
              <a:gd name="adj" fmla="val 15789"/>
            </a:avLst>
          </a:prstGeom>
          <a:solidFill>
            <a:srgbClr val="E6F5EF"/>
          </a:solidFill>
          <a:ln/>
        </p:spPr>
      </p:sp>
      <p:sp>
        <p:nvSpPr>
          <p:cNvPr id="24" name="Shape 22"/>
          <p:cNvSpPr/>
          <p:nvPr/>
        </p:nvSpPr>
        <p:spPr>
          <a:xfrm>
            <a:off x="3219450" y="6472089"/>
            <a:ext cx="4907459" cy="361950"/>
          </a:xfrm>
          <a:prstGeom prst="rect">
            <a:avLst/>
          </a:prstGeom>
          <a:solidFill>
            <a:srgbClr val="1A7A57"/>
          </a:solidFill>
          <a:ln/>
        </p:spPr>
      </p:sp>
      <p:sp>
        <p:nvSpPr>
          <p:cNvPr id="25" name="Text 23"/>
          <p:cNvSpPr/>
          <p:nvPr/>
        </p:nvSpPr>
        <p:spPr>
          <a:xfrm>
            <a:off x="8707562" y="6498282"/>
            <a:ext cx="990600" cy="347663"/>
          </a:xfrm>
          <a:prstGeom prst="rect">
            <a:avLst/>
          </a:prstGeom>
          <a:noFill/>
          <a:ln/>
        </p:spPr>
        <p:txBody>
          <a:bodyPr wrap="square" lIns="25400" tIns="25400" rIns="25400" bIns="25400" rtlCol="0" anchor="t">
            <a:normAutofit/>
          </a:bodyPr>
          <a:lstStyle/>
          <a:p>
            <a:pPr algn="r" indent="0" marL="0">
              <a:buNone/>
            </a:pPr>
            <a:r>
              <a:rPr lang="en-US" sz="1875" b="1" dirty="0">
                <a:solidFill>
                  <a:srgbClr val="063D22"/>
                </a:solidFill>
                <a:latin typeface="Courier New" pitchFamily="34" charset="0"/>
                <a:ea typeface="Courier New" pitchFamily="34" charset="-122"/>
                <a:cs typeface="Courier New" pitchFamily="34" charset="-120"/>
              </a:rPr>
              <a:t>0.836</a:t>
            </a:r>
            <a:endParaRPr lang="en-US" sz="1875" dirty="0"/>
          </a:p>
        </p:txBody>
      </p:sp>
      <p:sp>
        <p:nvSpPr>
          <p:cNvPr id="26" name="Text 24"/>
          <p:cNvSpPr/>
          <p:nvPr/>
        </p:nvSpPr>
        <p:spPr>
          <a:xfrm>
            <a:off x="952500" y="8279309"/>
            <a:ext cx="9008031" cy="99804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Courier New" pitchFamily="34" charset="0"/>
                <a:ea typeface="Courier New" pitchFamily="34" charset="-122"/>
                <a:cs typeface="Courier New" pitchFamily="34" charset="-120"/>
              </a:rPr>
              <a:t>Bars scaled from 0.70 · final label uses a </a:t>
            </a:r>
            <a:pPr algn="l" indent="0" marL="0">
              <a:lnSpc>
                <a:spcPct val="140000"/>
              </a:lnSpc>
              <a:buNone/>
            </a:pPr>
            <a:r>
              <a:rPr lang="en-US" sz="1800" dirty="0">
                <a:solidFill>
                  <a:srgbClr val="063D22"/>
                </a:solidFill>
                <a:latin typeface="Courier New" pitchFamily="34" charset="0"/>
                <a:ea typeface="Courier New" pitchFamily="34" charset="-122"/>
                <a:cs typeface="Courier New" pitchFamily="34" charset="-120"/>
              </a:rPr>
              <a:t>smooth threshold </a:t>
            </a:r>
            <a:pPr algn="l" indent="0" marL="0">
              <a:lnSpc>
                <a:spcPct val="140000"/>
              </a:lnSpc>
              <a:buNone/>
            </a:pPr>
            <a:r>
              <a:rPr lang="en-US" sz="1800" dirty="0">
                <a:solidFill>
                  <a:srgbClr val="5C7268"/>
                </a:solidFill>
                <a:latin typeface="Courier New" pitchFamily="34" charset="0"/>
                <a:ea typeface="Courier New" pitchFamily="34" charset="-122"/>
                <a:cs typeface="Courier New" pitchFamily="34" charset="-120"/>
              </a:rPr>
              <a:t>= average of the top-1% of candidate cutoffs (more robust than a single argmax cutoff).</a:t>
            </a:r>
            <a:endParaRPr lang="en-US" sz="1800" dirty="0"/>
          </a:p>
        </p:txBody>
      </p:sp>
      <p:sp>
        <p:nvSpPr>
          <p:cNvPr id="27" name="Shape 25"/>
          <p:cNvSpPr/>
          <p:nvPr/>
        </p:nvSpPr>
        <p:spPr>
          <a:xfrm>
            <a:off x="10307762" y="2350368"/>
            <a:ext cx="7027738" cy="3468886"/>
          </a:xfrm>
          <a:prstGeom prst="roundRect">
            <a:avLst>
              <a:gd name="adj" fmla="val 3295"/>
            </a:avLst>
          </a:prstGeom>
          <a:solidFill>
            <a:srgbClr val="E6F5EF"/>
          </a:solidFill>
          <a:ln/>
        </p:spPr>
      </p:sp>
      <p:sp>
        <p:nvSpPr>
          <p:cNvPr id="28" name="Text 26"/>
          <p:cNvSpPr/>
          <p:nvPr/>
        </p:nvSpPr>
        <p:spPr>
          <a:xfrm>
            <a:off x="10593512" y="2617068"/>
            <a:ext cx="7101862"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063D22"/>
                </a:solidFill>
                <a:latin typeface="Arial" pitchFamily="34" charset="0"/>
                <a:ea typeface="Arial" pitchFamily="34" charset="-122"/>
                <a:cs typeface="Arial" pitchFamily="34" charset="-120"/>
              </a:rPr>
              <a:t>Adversarial validation</a:t>
            </a:r>
            <a:endParaRPr lang="en-US" sz="2100" dirty="0"/>
          </a:p>
        </p:txBody>
      </p:sp>
      <p:sp>
        <p:nvSpPr>
          <p:cNvPr id="29" name="Shape 27"/>
          <p:cNvSpPr/>
          <p:nvPr/>
        </p:nvSpPr>
        <p:spPr>
          <a:xfrm>
            <a:off x="10593512" y="3093318"/>
            <a:ext cx="3142357" cy="981075"/>
          </a:xfrm>
          <a:prstGeom prst="roundRect">
            <a:avLst>
              <a:gd name="adj" fmla="val 7767"/>
            </a:avLst>
          </a:prstGeom>
          <a:solidFill>
            <a:srgbClr val="FFFFFF"/>
          </a:solidFill>
          <a:ln w="9525">
            <a:solidFill>
              <a:srgbClr val="D2E6DD"/>
            </a:solidFill>
            <a:prstDash val="solid"/>
          </a:ln>
        </p:spPr>
      </p:sp>
      <p:sp>
        <p:nvSpPr>
          <p:cNvPr id="30" name="Text 28"/>
          <p:cNvSpPr/>
          <p:nvPr/>
        </p:nvSpPr>
        <p:spPr>
          <a:xfrm>
            <a:off x="10755437" y="3236193"/>
            <a:ext cx="310035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ALL FEATURES</a:t>
            </a:r>
            <a:endParaRPr lang="en-US" sz="1800" dirty="0"/>
          </a:p>
        </p:txBody>
      </p:sp>
      <p:sp>
        <p:nvSpPr>
          <p:cNvPr id="31" name="Text 29"/>
          <p:cNvSpPr/>
          <p:nvPr/>
        </p:nvSpPr>
        <p:spPr>
          <a:xfrm>
            <a:off x="10755437" y="3550518"/>
            <a:ext cx="3100358" cy="419100"/>
          </a:xfrm>
          <a:prstGeom prst="rect">
            <a:avLst/>
          </a:prstGeom>
          <a:noFill/>
          <a:ln/>
        </p:spPr>
        <p:txBody>
          <a:bodyPr wrap="square" lIns="25400" tIns="25400" rIns="25400" bIns="25400" rtlCol="0" anchor="t">
            <a:normAutofit/>
          </a:bodyPr>
          <a:lstStyle/>
          <a:p>
            <a:pPr algn="l" indent="0" marL="0">
              <a:buNone/>
            </a:pPr>
            <a:r>
              <a:rPr lang="en-US" sz="2475" b="1" dirty="0">
                <a:solidFill>
                  <a:srgbClr val="B3573F"/>
                </a:solidFill>
                <a:latin typeface="Arial" pitchFamily="34" charset="0"/>
                <a:ea typeface="Arial" pitchFamily="34" charset="-122"/>
                <a:cs typeface="Arial" pitchFamily="34" charset="-120"/>
              </a:rPr>
              <a:t>AUC 1.000</a:t>
            </a:r>
            <a:endParaRPr lang="en-US" sz="2475" dirty="0"/>
          </a:p>
        </p:txBody>
      </p:sp>
      <p:sp>
        <p:nvSpPr>
          <p:cNvPr id="32" name="Shape 30"/>
          <p:cNvSpPr/>
          <p:nvPr/>
        </p:nvSpPr>
        <p:spPr>
          <a:xfrm>
            <a:off x="13907319" y="3093318"/>
            <a:ext cx="3142431" cy="981075"/>
          </a:xfrm>
          <a:prstGeom prst="roundRect">
            <a:avLst>
              <a:gd name="adj" fmla="val 7767"/>
            </a:avLst>
          </a:prstGeom>
          <a:solidFill>
            <a:srgbClr val="FFFFFF"/>
          </a:solidFill>
          <a:ln w="9525">
            <a:solidFill>
              <a:srgbClr val="D2E6DD"/>
            </a:solidFill>
            <a:prstDash val="solid"/>
          </a:ln>
        </p:spPr>
      </p:sp>
      <p:sp>
        <p:nvSpPr>
          <p:cNvPr id="33" name="Text 31"/>
          <p:cNvSpPr/>
          <p:nvPr/>
        </p:nvSpPr>
        <p:spPr>
          <a:xfrm>
            <a:off x="14069244" y="3236193"/>
            <a:ext cx="310044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WITHOUT DATE</a:t>
            </a:r>
            <a:endParaRPr lang="en-US" sz="1800" dirty="0"/>
          </a:p>
        </p:txBody>
      </p:sp>
      <p:sp>
        <p:nvSpPr>
          <p:cNvPr id="34" name="Text 32"/>
          <p:cNvSpPr/>
          <p:nvPr/>
        </p:nvSpPr>
        <p:spPr>
          <a:xfrm>
            <a:off x="14069244" y="3550518"/>
            <a:ext cx="3100440" cy="419100"/>
          </a:xfrm>
          <a:prstGeom prst="rect">
            <a:avLst/>
          </a:prstGeom>
          <a:noFill/>
          <a:ln/>
        </p:spPr>
        <p:txBody>
          <a:bodyPr wrap="square" lIns="25400" tIns="25400" rIns="25400" bIns="25400" rtlCol="0" anchor="t">
            <a:normAutofit/>
          </a:bodyPr>
          <a:lstStyle/>
          <a:p>
            <a:pPr algn="l" indent="0" marL="0">
              <a:buNone/>
            </a:pPr>
            <a:r>
              <a:rPr lang="en-US" sz="2475" b="1" dirty="0">
                <a:solidFill>
                  <a:srgbClr val="1A7A57"/>
                </a:solidFill>
                <a:latin typeface="Arial" pitchFamily="34" charset="0"/>
                <a:ea typeface="Arial" pitchFamily="34" charset="-122"/>
                <a:cs typeface="Arial" pitchFamily="34" charset="-120"/>
              </a:rPr>
              <a:t>AUC 0.497</a:t>
            </a:r>
            <a:endParaRPr lang="en-US" sz="2475" dirty="0"/>
          </a:p>
        </p:txBody>
      </p:sp>
      <p:sp>
        <p:nvSpPr>
          <p:cNvPr id="35" name="Text 33"/>
          <p:cNvSpPr/>
          <p:nvPr/>
        </p:nvSpPr>
        <p:spPr>
          <a:xfrm>
            <a:off x="10593512" y="4226793"/>
            <a:ext cx="6649926" cy="1363861"/>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A classifier separates train from test perfectly — but only via the </a:t>
            </a:r>
            <a:pPr algn="l" indent="0" marL="0">
              <a:lnSpc>
                <a:spcPct val="145000"/>
              </a:lnSpc>
              <a:buNone/>
            </a:pPr>
            <a:r>
              <a:rPr lang="en-US" sz="1800" b="1" dirty="0">
                <a:solidFill>
                  <a:srgbClr val="063D22"/>
                </a:solidFill>
                <a:latin typeface="Arial" pitchFamily="34" charset="0"/>
                <a:ea typeface="Arial" pitchFamily="34" charset="-122"/>
                <a:cs typeface="Arial" pitchFamily="34" charset="-120"/>
              </a:rPr>
              <a:t>date </a:t>
            </a:r>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(test is all May 2026). Drop the date features and it’s no better than chance, so the sets are </a:t>
            </a:r>
            <a:pPr algn="l" indent="0" marL="0">
              <a:lnSpc>
                <a:spcPct val="145000"/>
              </a:lnSpc>
              <a:buNone/>
            </a:pPr>
            <a:r>
              <a:rPr lang="en-US" sz="1800" b="1" dirty="0">
                <a:solidFill>
                  <a:srgbClr val="063D22"/>
                </a:solidFill>
                <a:latin typeface="Arial" pitchFamily="34" charset="0"/>
                <a:ea typeface="Arial" pitchFamily="34" charset="-122"/>
                <a:cs typeface="Arial" pitchFamily="34" charset="-120"/>
              </a:rPr>
              <a:t>identically distributed apart from time </a:t>
            </a:r>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a:t>
            </a:r>
            <a:endParaRPr lang="en-US" sz="1800" dirty="0"/>
          </a:p>
        </p:txBody>
      </p:sp>
      <p:sp>
        <p:nvSpPr>
          <p:cNvPr id="36" name="Shape 34"/>
          <p:cNvSpPr/>
          <p:nvPr/>
        </p:nvSpPr>
        <p:spPr>
          <a:xfrm>
            <a:off x="10307762" y="6028804"/>
            <a:ext cx="7027738" cy="3210446"/>
          </a:xfrm>
          <a:prstGeom prst="roundRect">
            <a:avLst>
              <a:gd name="adj" fmla="val 3560"/>
            </a:avLst>
          </a:prstGeom>
          <a:solidFill>
            <a:srgbClr val="E6F5EF"/>
          </a:solidFill>
          <a:ln/>
        </p:spPr>
      </p:sp>
      <p:sp>
        <p:nvSpPr>
          <p:cNvPr id="37" name="Text 35"/>
          <p:cNvSpPr/>
          <p:nvPr/>
        </p:nvSpPr>
        <p:spPr>
          <a:xfrm>
            <a:off x="10574462" y="6257404"/>
            <a:ext cx="7143772"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063D22"/>
                </a:solidFill>
                <a:latin typeface="Arial" pitchFamily="34" charset="0"/>
                <a:ea typeface="Arial" pitchFamily="34" charset="-122"/>
                <a:cs typeface="Arial" pitchFamily="34" charset="-120"/>
              </a:rPr>
              <a:t>What drives the model</a:t>
            </a:r>
            <a:endParaRPr lang="en-US" sz="1950" dirty="0"/>
          </a:p>
        </p:txBody>
      </p:sp>
      <p:sp>
        <p:nvSpPr>
          <p:cNvPr id="38" name="Text 36"/>
          <p:cNvSpPr/>
          <p:nvPr/>
        </p:nvSpPr>
        <p:spPr>
          <a:xfrm>
            <a:off x="10574462" y="6595542"/>
            <a:ext cx="7143772" cy="335235"/>
          </a:xfrm>
          <a:prstGeom prst="rect">
            <a:avLst/>
          </a:prstGeom>
          <a:noFill/>
          <a:ln/>
        </p:spPr>
        <p:txBody>
          <a:bodyPr wrap="square" lIns="25400" tIns="25400" rIns="25400" bIns="25400" rtlCol="0" anchor="t">
            <a:normAutofit/>
          </a:bodyPr>
          <a:lstStyle/>
          <a:p>
            <a:pPr algn="l" indent="0" marL="0">
              <a:lnSpc>
                <a:spcPct val="130000"/>
              </a:lnSpc>
              <a:buNone/>
            </a:pPr>
            <a:r>
              <a:rPr lang="en-US" sz="1800" dirty="0">
                <a:solidFill>
                  <a:srgbClr val="5C7268"/>
                </a:solidFill>
                <a:latin typeface="Arial" pitchFamily="34" charset="0"/>
                <a:ea typeface="Arial" pitchFamily="34" charset="-122"/>
                <a:cs typeface="Arial" pitchFamily="34" charset="-120"/>
              </a:rPr>
              <a:t>Most important features, by gain.</a:t>
            </a:r>
            <a:endParaRPr lang="en-US" sz="1800" dirty="0"/>
          </a:p>
        </p:txBody>
      </p:sp>
      <p:sp>
        <p:nvSpPr>
          <p:cNvPr id="39" name="Shape 37"/>
          <p:cNvSpPr/>
          <p:nvPr/>
        </p:nvSpPr>
        <p:spPr>
          <a:xfrm>
            <a:off x="952500" y="9239250"/>
            <a:ext cx="16383000" cy="9525"/>
          </a:xfrm>
          <a:prstGeom prst="rect">
            <a:avLst/>
          </a:prstGeom>
          <a:solidFill>
            <a:srgbClr val="D2E6DD"/>
          </a:solidFill>
          <a:ln/>
        </p:spPr>
      </p:sp>
      <p:sp>
        <p:nvSpPr>
          <p:cNvPr id="40" name="Text 38"/>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validation · rolling next-month testing</a:t>
            </a:r>
            <a:endParaRPr lang="en-US" sz="1800" dirty="0"/>
          </a:p>
        </p:txBody>
      </p:sp>
      <p:pic>
        <p:nvPicPr>
          <p:cNvPr id="41" name="Picture 40" descr="deck_importance.png"/>
          <p:cNvPicPr>
            <a:picLocks noChangeAspect="1"/>
          </p:cNvPicPr>
          <p:nvPr/>
        </p:nvPicPr>
        <p:blipFill>
          <a:blip r:embed="rId3"/>
          <a:stretch>
            <a:fillRect/>
          </a:stretch>
        </p:blipFill>
        <p:spPr>
          <a:xfrm>
            <a:off x="10515600" y="6967728"/>
            <a:ext cx="6583680" cy="21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09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tied for first — and our own validation predicted it</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a:bodyPr>
          <a:lstStyle/>
          <a:p>
            <a:pPr algn="l" indent="0" marL="0">
              <a:buNone/>
            </a:pPr>
            <a:r>
              <a:rPr lang="en-US" sz="1800" spc="75" kern="0"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sp>
      <p:sp>
        <p:nvSpPr>
          <p:cNvPr id="7" name="Text 5"/>
          <p:cNvSpPr/>
          <p:nvPr/>
        </p:nvSpPr>
        <p:spPr>
          <a:xfrm>
            <a:off x="1066800" y="4222254"/>
            <a:ext cx="552227" cy="3143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sp>
      <p:sp>
        <p:nvSpPr>
          <p:cNvPr id="9" name="Text 7"/>
          <p:cNvSpPr/>
          <p:nvPr/>
        </p:nvSpPr>
        <p:spPr>
          <a:xfrm>
            <a:off x="1771427" y="4222254"/>
            <a:ext cx="5715258" cy="3143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a:bodyPr>
          <a:lstStyle/>
          <a:p>
            <a:pPr algn="l" indent="0" marL="0">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a:bodyPr>
          <a:lstStyle/>
          <a:p>
            <a:pPr algn="l" indent="0" marL="0">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sp>
      <p:sp>
        <p:nvSpPr>
          <p:cNvPr id="27" name="Shape 25"/>
          <p:cNvSpPr/>
          <p:nvPr/>
        </p:nvSpPr>
        <p:spPr>
          <a:xfrm>
            <a:off x="952500" y="5631954"/>
            <a:ext cx="704627" cy="9525"/>
          </a:xfrm>
          <a:prstGeom prst="rect">
            <a:avLst/>
          </a:prstGeom>
          <a:solidFill>
            <a:srgbClr val="D2E6DD"/>
          </a:solidFill>
          <a:ln/>
        </p:spPr>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algn="l" indent="0" marL="0">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algn="r" indent="0" marL="0">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algn="l" indent="0" marL="0">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algn="l" indent="0" marL="0">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algn="l" indent="0" marL="0">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pPr algn="l" indent="0" marL="0">
              <a:lnSpc>
                <a:spcPct val="140000"/>
              </a:lnSpc>
              <a:buNone/>
            </a:pPr>
            <a:r>
              <a:rPr lang="en-US" sz="1800" b="1" dirty="0">
                <a:solidFill>
                  <a:srgbClr val="244236"/>
                </a:solidFill>
                <a:latin typeface="Arial" pitchFamily="34" charset="0"/>
                <a:ea typeface="Arial" pitchFamily="34" charset="-122"/>
                <a:cs typeface="Arial" pitchFamily="34" charset="-120"/>
              </a:rPr>
              <a:t>by design </a:t>
            </a:r>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a:bodyPr>
          <a:lstStyle/>
          <a:p>
            <a:pPr algn="l" indent="0" marL="0">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Tied for #1 on the public leaderboard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pPr algn="l" indent="0" marL="0">
              <a:lnSpc>
                <a:spcPct val="150000"/>
              </a:lnSpc>
              <a:buNone/>
            </a:pPr>
            <a:r>
              <a:rPr lang="en-US" sz="2025" b="1" dirty="0">
                <a:solidFill>
                  <a:srgbClr val="063D22"/>
                </a:solidFill>
                <a:latin typeface="Arial" pitchFamily="34" charset="0"/>
                <a:ea typeface="Arial" pitchFamily="34" charset="-122"/>
                <a:cs typeface="Arial" pitchFamily="34" charset="-120"/>
              </a:rPr>
              <a:t>called the result in advance </a:t>
            </a:r>
            <a:pPr algn="l" indent="0" marL="0">
              <a:lnSpc>
                <a:spcPct val="150000"/>
              </a:lnSpc>
              <a:buNone/>
            </a:pP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pPr algn="l" indent="0" marL="0">
              <a:lnSpc>
                <a:spcPct val="150000"/>
              </a:lnSpc>
              <a:buNone/>
            </a:pPr>
            <a:r>
              <a:rPr lang="en-US" sz="2025" b="1" dirty="0">
                <a:solidFill>
                  <a:srgbClr val="244236"/>
                </a:solidFill>
                <a:latin typeface="Arial" pitchFamily="34" charset="0"/>
                <a:ea typeface="Arial" pitchFamily="34" charset="-122"/>
                <a:cs typeface="Arial" pitchFamily="34" charset="-120"/>
              </a:rPr>
              <a:t>distribution shift over time</a:t>
            </a:r>
            <a:pPr algn="l" indent="0" marL="0">
              <a:lnSpc>
                <a:spcPct val="150000"/>
              </a:lnSpc>
              <a:buNone/>
            </a:pP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sp>
      <p:sp>
        <p:nvSpPr>
          <p:cNvPr id="61" name="Text 5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10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sp>
      <p:sp>
        <p:nvSpPr>
          <p:cNvPr id="9" name="Text 7"/>
          <p:cNvSpPr/>
          <p:nvPr/>
        </p:nvSpPr>
        <p:spPr>
          <a:xfrm>
            <a:off x="5241131"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sp>
      <p:sp>
        <p:nvSpPr>
          <p:cNvPr id="13" name="Text 11"/>
          <p:cNvSpPr/>
          <p:nvPr/>
        </p:nvSpPr>
        <p:spPr>
          <a:xfrm>
            <a:off x="9529763"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11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sp>
      <p:sp>
        <p:nvSpPr>
          <p:cNvPr id="6" name="Text 4"/>
          <p:cNvSpPr/>
          <p:nvPr/>
        </p:nvSpPr>
        <p:spPr>
          <a:xfrm>
            <a:off x="1314450" y="2712318"/>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sp>
      <p:sp>
        <p:nvSpPr>
          <p:cNvPr id="10" name="Text 8"/>
          <p:cNvSpPr/>
          <p:nvPr/>
        </p:nvSpPr>
        <p:spPr>
          <a:xfrm>
            <a:off x="9639300" y="2712318"/>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sp>
      <p:sp>
        <p:nvSpPr>
          <p:cNvPr id="14" name="Text 12"/>
          <p:cNvSpPr/>
          <p:nvPr/>
        </p:nvSpPr>
        <p:spPr>
          <a:xfrm>
            <a:off x="1314450" y="6271022"/>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sp>
      <p:sp>
        <p:nvSpPr>
          <p:cNvPr id="18" name="Text 16"/>
          <p:cNvSpPr/>
          <p:nvPr/>
        </p:nvSpPr>
        <p:spPr>
          <a:xfrm>
            <a:off x="9639300" y="6271022"/>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sp>
      <p:sp>
        <p:nvSpPr>
          <p:cNvPr id="22" name="Text 20"/>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12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a:bodyPr>
          <a:lstStyle/>
          <a:p>
            <a:pPr algn="l" indent="0" marL="0">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a:bodyPr>
          <a:lstStyle/>
          <a:p>
            <a:pPr algn="l" indent="0" marL="0">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sp>
      <p:sp>
        <p:nvSpPr>
          <p:cNvPr id="6" name="Text 4"/>
          <p:cNvSpPr/>
          <p:nvPr/>
        </p:nvSpPr>
        <p:spPr>
          <a:xfrm>
            <a:off x="990600" y="5712619"/>
            <a:ext cx="4135093"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Tied for #1</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without the planted trap or any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sp>
      <p:sp>
        <p:nvSpPr>
          <p:cNvPr id="9" name="Text 7"/>
          <p:cNvSpPr/>
          <p:nvPr/>
        </p:nvSpPr>
        <p:spPr>
          <a:xfrm>
            <a:off x="5016475" y="5712619"/>
            <a:ext cx="4135175"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sp>
      <p:sp>
        <p:nvSpPr>
          <p:cNvPr id="12" name="Text 10"/>
          <p:cNvSpPr/>
          <p:nvPr/>
        </p:nvSpPr>
        <p:spPr>
          <a:xfrm>
            <a:off x="9042425" y="5712619"/>
            <a:ext cx="4135093"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sp>
      <p:sp>
        <p:nvSpPr>
          <p:cNvPr id="15" name="Text 13"/>
          <p:cNvSpPr/>
          <p:nvPr/>
        </p:nvSpPr>
        <p:spPr>
          <a:xfrm>
            <a:off x="990600" y="9277350"/>
            <a:ext cx="4676730" cy="361950"/>
          </a:xfrm>
          <a:prstGeom prst="rect">
            <a:avLst/>
          </a:prstGeom>
          <a:noFill/>
          <a:ln/>
        </p:spPr>
        <p:txBody>
          <a:bodyPr wrap="square" lIns="25400" tIns="25400" rIns="25400" bIns="25400" rtlCol="0" anchor="t">
            <a:normAutofit/>
          </a:bodyPr>
          <a:lstStyle/>
          <a:p>
            <a:pPr algn="l" indent="0" marL="0">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2026-06-16T18:58:41Z</dcterms:created>
  <dcterms:modified xsi:type="dcterms:W3CDTF">2026-06-16T18:58:41Z</dcterms:modified>
</cp:coreProperties>
</file>